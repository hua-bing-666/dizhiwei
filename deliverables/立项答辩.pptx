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本次采用老师提出的题目，研究对象保持在滴灌支管，但交付扩大为感知、有限诊断、可靠告警和管理确认的一套原型系统。周期为二〇二七年三月至二〇二八年二月。当前已有的是文献、模型与程序，没有实物和田间实验。场景图是目标部署概念，标出了两压力点、总流量、节点和接收端，并非现场或样机照片。</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系统面向支管巡检，应告诉管理者监测支管是否需要检查、依据是什么、何时发现。主研究下游等效泄漏和支管等效受限，正常供压与切换作为对照，信息不足时输出待检查。南疆是拟部署场景，现场需求和适用性仍待调查。</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已有研究包括滴灌间接检测、阀态模型、LoRa试验平台和农业事件通信。本项目不能以这些技术名称当作创新。拟通过实验研究增加参考测点和工况信息带来多大增益、早期可观察到什么程度，以及可靠上报的代价。这些是候选研究问题而非已证明的贡献。</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个工作包依次完成测量依据、诊断方法、可靠告警与系统验证。工作量涵盖模型、标定、嵌入式、协议、管理软件和独立实验，不只交付一个模块。每个任务都有对应证据，扩展节点和自动阀控不放进基础验收。</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P0位于监测区段入口，P1位于目标受限元件下游，Q包含下游负载和泄漏总流量。平方律假设下可以用归一化流量与压降流量比形成简单强基线，新增压力点有望改善供压与局部受限的歧义。差压偏置和未知正常负载仍会混淆，需要校准、状态记录和不确定输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图示两类从三百六十秒开始渐进的模拟故障，十五个百分点的流量偏离是为了说明评价定义而设定的演示失效判据，不是作物受损阈值。早期必须参照该判据，报告正确提前发现、前期误报和未成功试次。正式水路需要独立参考测量冻结程度与失效标准，还要测本地和远端两段时间。图中七十六秒和一百二十六秒是种子一〇三〇〇这一次模拟的提前量，分别对应四百零九到四百八十五秒、三百九十六到五百二十二秒；不是二十个种子的中位数。</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里保留此前一千九百二十次单压力模型的公平通信回放，四策略使用相同检测、载荷与确认。慢周期有竞争力，噪声可使原始事件大量发送。帧数不能代替能耗，误差相对本地模拟量。新双压力诊断与这套通信证据尚未合并，因此端到端实物验证仍是研究任务。</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双压力假设检验包含六个场景、四种压力噪声和二十个种子，共四百八十次。在低噪声理想条件下能提前发现，但噪声为十千帕时两类均只有十二次满足无前期误报且正确提前发现。漂移和未知正常负载即使低噪声仍能误报。重复主要改变噪声，不能报告为实物识别率，也不证明优于强基线。</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软件是系统工作的一部分，提供设备档案、支管示意、趋势、事件证据、处理确认和回放导出。信息无法辨因、测量无效和节点离线分别处理，防止把没有数据当作正常。当前展示网页没有连接真实硬件，最终还要实现接收日志和管理状态持久化。界面按当前离线网站功能重绘，数据卡来自四百五十秒合成记录，完整曲线和游标用于回放，不是实时设备数据。</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实验首先校核两传感器差压误差与故障信号的关系，再做两类型、三供压、三程度和三个独立操作的主要网格，预计五十四次，正常及切换另做。参数在预实验确定，按独立日或批次测试，保留强基线和消融。随后测真实无线与整机能量，并进行八小时连续台架和掉电恢复。这里的数量都是计划，提交前需要导师核对。主要故障组合每组至少三次，因此总量至少五十四次；正常和切换对照另做。</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三四月解决测量门槛，五六月完成主要水路实验，七八月实现无线和管理系统，九十月独立验证与论文稿，之后补实验并结项。两千元是启动额度估算，已调整为双压力配置，前提是已有电脑并可借参考仪器。没有资源证据时不保证该预算足够，论文费用另行核查。</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交付包括一个双压力流量节点、接收端、台架和管理软件，还包含标定标签、对照、提前量及失败案例等研究证据，以及报告、过程记录和论文稿。按争取较高级别立项组织完整任务，但级别由评审决定。论文录用与收录不作为保证，更不能把计划成果写成已有成果。田块图用于表达目标部署概念，基础结项范围仍是一节点、一接收端和双支路台架。</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旧单点模型给出供压下降与受限相同观测的反例，新增入口压力只能有条件改善这类歧义，定位仍只到布置的支管区段。未知正常负载增大与等效泄漏在当前模型中同形，无法只靠复杂算法辨因，因此输出需要保留待检查和数据无效，不能声称单滴头通用早期诊断。</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申报需要完整模板、任务、证据和资源计划；大创需要实物系统、独立实测和过程；论文只从项目提炼一个贡献。现在优先研究渐进故障辨识边界，如果没有增量，可靠通信可作为另一个候选方向。两条方向均需要真实数据与强基线，不保证发表或推免认定。</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学校实施细则作为流程参考，最新批次须再核对。技术依据是综述、HydroNeuro、灌溉台架及事件通信研究。双压力模型有新增程序、协议和结果文件。案例的立项级别是用户提供的信息，文中全部性能没有由我们独立核实，不将其用于证明本项目有效。</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rip-research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rip-research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700" kern="1200" lang="zh-CN">
          <a:solidFill>
            <a:schemeClr val="tx1"/>
          </a:solidFill>
          <a:latin typeface="+mn-lt"/>
          <a:ea typeface="+mn-ea"/>
          <a:cs typeface="+mn-cs"/>
        </a:defRPr>
      </a:lvl2pPr>
      <a:lvl3pPr marL="914400" algn="l" defTabSz="457200" rtl="0" eaLnBrk="1" latinLnBrk="0" hangingPunct="1">
        <a:defRPr sz="1600" kern="1200" lang="zh-CN">
          <a:solidFill>
            <a:schemeClr val="tx1"/>
          </a:solidFill>
          <a:latin typeface="+mn-lt"/>
          <a:ea typeface="+mn-ea"/>
          <a:cs typeface="+mn-cs"/>
        </a:defRPr>
      </a:lvl3pPr>
      <a:lvl4pPr marL="1371600" algn="l" defTabSz="457200" rtl="0" eaLnBrk="1" latinLnBrk="0" hangingPunct="1">
        <a:defRPr sz="1450" kern="1200" lang="zh-CN">
          <a:solidFill>
            <a:schemeClr val="tx1"/>
          </a:solidFill>
          <a:latin typeface="+mn-lt"/>
          <a:ea typeface="+mn-ea"/>
          <a:cs typeface="+mn-cs"/>
        </a:defRPr>
      </a:lvl4pPr>
      <a:lvl5pPr marL="1828800" algn="l" defTabSz="457200" rtl="0" eaLnBrk="1" latinLnBrk="0" hangingPunct="1">
        <a:defRPr sz="1350" kern="1200" lang="zh-CN">
          <a:solidFill>
            <a:schemeClr val="tx1"/>
          </a:solidFill>
          <a:latin typeface="+mn-lt"/>
          <a:ea typeface="+mn-ea"/>
          <a:cs typeface="+mn-cs"/>
        </a:defRPr>
      </a:lvl5pPr>
      <a:lvl6pPr marL="2286000" algn="l" defTabSz="457200" rtl="0" eaLnBrk="1" latinLnBrk="0" hangingPunct="1">
        <a:defRPr sz="1250" kern="1200" lang="zh-CN">
          <a:solidFill>
            <a:schemeClr val="tx1"/>
          </a:solidFill>
          <a:latin typeface="+mn-lt"/>
          <a:ea typeface="+mn-ea"/>
          <a:cs typeface="+mn-cs"/>
        </a:defRPr>
      </a:lvl6pPr>
      <a:lvl7pPr marL="2743200" algn="l" defTabSz="457200" rtl="0" eaLnBrk="1" latinLnBrk="0" hangingPunct="1">
        <a:defRPr sz="1100" kern="1200" lang="zh-CN">
          <a:solidFill>
            <a:schemeClr val="tx1"/>
          </a:solidFill>
          <a:latin typeface="+mn-lt"/>
          <a:ea typeface="+mn-ea"/>
          <a:cs typeface="+mn-cs"/>
        </a:defRPr>
      </a:lvl7pPr>
      <a:lvl8pPr marL="3200400" algn="l" defTabSz="457200" rtl="0" eaLnBrk="1" latinLnBrk="0" hangingPunct="1">
        <a:defRPr sz="1000" kern="1200" lang="zh-CN">
          <a:solidFill>
            <a:schemeClr val="tx1"/>
          </a:solidFill>
          <a:latin typeface="+mn-lt"/>
          <a:ea typeface="+mn-ea"/>
          <a:cs typeface="+mn-cs"/>
        </a:defRPr>
      </a:lvl8pPr>
      <a:lvl9pPr marL="3657600" algn="l" defTabSz="457200" rtl="0" eaLnBrk="1" latinLnBrk="0" hangingPunct="1">
        <a:defRPr sz="9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092E2B"/>
            </a:gs>
          </a:gsLst>
          <a:lin ang="2700000" scaled="1"/>
        </a:gra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rgbClr val="78DFC5"/>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滴智卫 / 创新训练申报</a:t>
            </a:r>
          </a:p>
        </p:txBody>
      </p:sp>
      <p:sp>
        <p:nvSpPr>
          <p:cNvPr id="4" name="route-highlight"/>
          <p:cNvSpPr/>
          <p:nvPr/>
        </p:nvSpPr>
        <p:spPr>
          <a:xfrm>
            <a:off x="8239125" y="257175"/>
            <a:ext cx="619125" cy="295275"/>
          </a:xfrm>
          <a:prstGeom prst="roundRect">
            <a:avLst>
              <a:gd name="adj" fmla="val 12903"/>
            </a:avLst>
          </a:prstGeom>
          <a:solidFill>
            <a:srgbClr val="23554E"/>
          </a:solidFill>
          <a:ln>
            <a:noFill/>
          </a:ln>
        </p:spPr>
      </p:sp>
      <p:sp>
        <p:nvSpPr>
          <p:cNvPr id="5"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rgbClr val="78DFC5"/>
                </a:solidFill>
                <a:latin typeface="+mn-lt"/>
                <a:ea typeface="+mn-ea"/>
                <a:cs typeface="+mn-cs"/>
              </a:rPr>
              <a:t>场景</a:t>
            </a:r>
          </a:p>
        </p:txBody>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实施</a:t>
            </a:r>
          </a:p>
        </p:txBody>
      </p:sp>
      <p:sp>
        <p:nvSpPr>
          <p:cNvPr id="9" name="source-footer"/>
          <p:cNvSpPr txBox="1"/>
          <p:nvPr/>
        </p:nvSpPr>
        <p:spPr>
          <a:xfrm>
            <a:off x="451104" y="6404610"/>
            <a:ext cx="4906975"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方案场景示意 · 文献、未标定模型与合成回放 · 暂无实物或田间数据</a:t>
            </a:r>
          </a:p>
        </p:txBody>
      </p:sp>
      <p:sp>
        <p:nvSpPr>
          <p:cNvPr id="10"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rgbClr val="B7CCC6"/>
                </a:solidFill>
                <a:latin typeface="+mn-lt"/>
                <a:ea typeface="+mn-ea"/>
                <a:cs typeface="+mn-cs"/>
              </a:rPr>
              <a:t>01/15</a:t>
            </a:r>
          </a:p>
        </p:txBody>
      </p:sp>
      <p:grpSp>
        <p:nvGrpSpPr>
          <p:cNvPr id="20" name="cover-message"/>
          <p:cNvGrpSpPr/>
          <p:nvPr/>
        </p:nvGrpSpPr>
        <p:grpSpPr>
          <a:xfrm>
            <a:off x="438150" y="1123950"/>
            <a:ext cx="4400550" cy="5014151"/>
            <a:chOff x="438150" y="1123950"/>
            <a:chExt cx="4400550" cy="5014151"/>
          </a:xfrm>
        </p:grpSpPr>
        <p:sp>
          <p:nvSpPr>
            <p:cNvPr id="11" name="Rectangle 11"/>
            <p:cNvSpPr/>
            <p:nvPr/>
          </p:nvSpPr>
          <p:spPr>
            <a:xfrm>
              <a:off x="457200" y="1123950"/>
              <a:ext cx="2276475" cy="295275"/>
            </a:xfrm>
            <a:prstGeom prst="roundRect">
              <a:avLst>
                <a:gd name="adj" fmla="val 12903"/>
              </a:avLst>
            </a:prstGeom>
            <a:solidFill>
              <a:srgbClr val="092E2B"/>
            </a:solidFill>
            <a:ln>
              <a:noFill/>
            </a:ln>
          </p:spPr>
        </p:sp>
        <p:sp>
          <p:nvSpPr>
            <p:cNvPr id="12" name="TextBox 12"/>
            <p:cNvSpPr txBox="1"/>
            <p:nvPr/>
          </p:nvSpPr>
          <p:spPr>
            <a:xfrm>
              <a:off x="574167" y="1187768"/>
              <a:ext cx="1676610" cy="264033"/>
            </a:xfrm>
            <a:prstGeom prst="rect">
              <a:avLst/>
            </a:prstGeom>
            <a:noFill/>
            <a:ln>
              <a:noFill/>
            </a:ln>
          </p:spPr>
          <p:txBody>
            <a:bodyPr wrap="none" lIns="0" tIns="0" rIns="0" bIns="0" anchor="t" anchorCtr="0">
              <a:spAutoFit/>
            </a:bodyPr>
            <a:lstStyle/>
            <a:p>
              <a:pPr algn="l"/>
              <a:r>
                <a:rPr lang="zh-CN" sz="1350" dirty="0">
                  <a:solidFill>
                    <a:srgbClr val="78DFC5"/>
                  </a:solidFill>
                  <a:latin typeface="+mn-lt"/>
                  <a:ea typeface="+mn-ea"/>
                  <a:cs typeface="+mn-cs"/>
                </a:rPr>
                <a:t>南疆滴灌 / 研究原型</a:t>
              </a:r>
            </a:p>
          </p:txBody>
        </p:sp>
        <p:sp>
          <p:nvSpPr>
            <p:cNvPr id="13" name="TextBox 13"/>
            <p:cNvSpPr txBox="1"/>
            <p:nvPr/>
          </p:nvSpPr>
          <p:spPr>
            <a:xfrm>
              <a:off x="438150" y="1664970"/>
              <a:ext cx="2218944" cy="1047750"/>
            </a:xfrm>
            <a:prstGeom prst="rect">
              <a:avLst/>
            </a:prstGeom>
            <a:noFill/>
            <a:ln>
              <a:noFill/>
            </a:ln>
          </p:spPr>
          <p:txBody>
            <a:bodyPr wrap="none" lIns="0" tIns="0" rIns="0" bIns="0" anchor="t" anchorCtr="0">
              <a:spAutoFit/>
            </a:bodyPr>
            <a:lstStyle/>
            <a:p>
              <a:pPr algn="l"/>
              <a:r>
                <a:rPr lang="zh-CN" sz="5400" b="1" dirty="0">
                  <a:solidFill>
                    <a:srgbClr val="FFFFFF"/>
                  </a:solidFill>
                  <a:latin typeface="+mn-lt"/>
                  <a:ea typeface="+mn-ea"/>
                  <a:cs typeface="+mn-cs"/>
                </a:rPr>
                <a:t>滴智卫</a:t>
              </a:r>
            </a:p>
          </p:txBody>
        </p:sp>
        <p:sp>
          <p:nvSpPr>
            <p:cNvPr id="14" name="TextBox 14"/>
            <p:cNvSpPr txBox="1"/>
            <p:nvPr/>
          </p:nvSpPr>
          <p:spPr>
            <a:xfrm>
              <a:off x="441198" y="2679382"/>
              <a:ext cx="2432304" cy="1197102"/>
            </a:xfrm>
            <a:prstGeom prst="rect">
              <a:avLst/>
            </a:prstGeom>
            <a:noFill/>
            <a:ln>
              <a:noFill/>
            </a:ln>
          </p:spPr>
          <p:txBody>
            <a:bodyPr wrap="none" lIns="0" tIns="0" rIns="0" bIns="0" anchor="t" anchorCtr="0">
              <a:spAutoFit/>
            </a:bodyPr>
            <a:lstStyle/>
            <a:p>
              <a:pPr algn="l">
                <a:lnSpc>
                  <a:spcPts val="4575"/>
                </a:lnSpc>
              </a:pPr>
              <a:r>
                <a:rPr lang="zh-CN" sz="3150" b="1" dirty="0">
                  <a:solidFill>
                    <a:srgbClr val="FFFFFF"/>
                  </a:solidFill>
                  <a:latin typeface="+mn-lt"/>
                  <a:ea typeface="+mn-ea"/>
                  <a:cs typeface="+mn-cs"/>
                </a:rPr>
                <a:t>南疆滴灌支管</a:t>
              </a:r>
              <a:br/>
              <a:r>
                <a:rPr lang="zh-CN" sz="3150" b="1" dirty="0">
                  <a:solidFill>
                    <a:srgbClr val="FFFFFF"/>
                  </a:solidFill>
                  <a:latin typeface="+mn-lt"/>
                  <a:ea typeface="+mn-ea"/>
                  <a:cs typeface="+mn-cs"/>
                </a:rPr>
                <a:t>早期故障诊断</a:t>
              </a:r>
            </a:p>
          </p:txBody>
        </p:sp>
        <p:sp>
          <p:nvSpPr>
            <p:cNvPr id="15" name="TextBox 15"/>
            <p:cNvSpPr txBox="1"/>
            <p:nvPr/>
          </p:nvSpPr>
          <p:spPr>
            <a:xfrm>
              <a:off x="448056" y="3939540"/>
              <a:ext cx="3139135" cy="352044"/>
            </a:xfrm>
            <a:prstGeom prst="rect">
              <a:avLst/>
            </a:prstGeom>
            <a:noFill/>
            <a:ln>
              <a:noFill/>
            </a:ln>
          </p:spPr>
          <p:txBody>
            <a:bodyPr wrap="none" lIns="0" tIns="0" rIns="0" bIns="0" anchor="t" anchorCtr="0">
              <a:spAutoFit/>
            </a:bodyPr>
            <a:lstStyle/>
            <a:p>
              <a:pPr algn="l"/>
              <a:r>
                <a:rPr lang="zh-CN" sz="1800" dirty="0">
                  <a:solidFill>
                    <a:srgbClr val="78DFC5"/>
                  </a:solidFill>
                  <a:latin typeface="+mn-lt"/>
                  <a:ea typeface="+mn-ea"/>
                  <a:cs typeface="+mn-cs"/>
                </a:rPr>
                <a:t>基于 LoRa 的物联网原型系统</a:t>
              </a:r>
            </a:p>
          </p:txBody>
        </p:sp>
        <p:sp>
          <p:nvSpPr>
            <p:cNvPr id="16" name="Line 16"/>
            <p:cNvSpPr/>
            <p:nvPr/>
          </p:nvSpPr>
          <p:spPr>
            <a:xfrm>
              <a:off x="457200" y="4476750"/>
              <a:ext cx="4381500" cy="9525"/>
            </a:xfrm>
            <a:custGeom>
              <a:avLst/>
              <a:gdLst/>
              <a:ahLst/>
              <a:cxnLst/>
              <a:rect l="l" t="t" r="r" b="b"/>
              <a:pathLst>
                <a:path w="4381500" h="9525">
                  <a:moveTo>
                    <a:pt x="0" y="0"/>
                  </a:moveTo>
                  <a:lnTo>
                    <a:pt x="4381500" y="0"/>
                  </a:lnTo>
                </a:path>
              </a:pathLst>
            </a:custGeom>
            <a:noFill/>
            <a:ln w="9525">
              <a:solidFill>
                <a:srgbClr val="40736A"/>
              </a:solidFill>
            </a:ln>
          </p:spPr>
        </p:sp>
        <p:sp>
          <p:nvSpPr>
            <p:cNvPr id="17" name="TextBox 17"/>
            <p:cNvSpPr txBox="1"/>
            <p:nvPr/>
          </p:nvSpPr>
          <p:spPr>
            <a:xfrm>
              <a:off x="446532" y="4697730"/>
              <a:ext cx="2470242" cy="410718"/>
            </a:xfrm>
            <a:prstGeom prst="rect">
              <a:avLst/>
            </a:prstGeom>
            <a:noFill/>
            <a:ln>
              <a:noFill/>
            </a:ln>
          </p:spPr>
          <p:txBody>
            <a:bodyPr wrap="none" lIns="0" tIns="0" rIns="0" bIns="0" anchor="t" anchorCtr="0">
              <a:spAutoFit/>
            </a:bodyPr>
            <a:lstStyle/>
            <a:p>
              <a:pPr algn="l"/>
              <a:r>
                <a:rPr lang="zh-CN" sz="2100" b="1" dirty="0">
                  <a:solidFill>
                    <a:srgbClr val="F3C77B"/>
                  </a:solidFill>
                  <a:latin typeface="+mn-lt"/>
                  <a:ea typeface="+mn-ea"/>
                  <a:cs typeface="+mn-cs"/>
                </a:rPr>
                <a:t>2027.03—2028.02</a:t>
              </a:r>
            </a:p>
          </p:txBody>
        </p:sp>
        <p:sp>
          <p:nvSpPr>
            <p:cNvPr id="18" name="TextBox 18"/>
            <p:cNvSpPr txBox="1"/>
            <p:nvPr/>
          </p:nvSpPr>
          <p:spPr>
            <a:xfrm>
              <a:off x="449580" y="5153025"/>
              <a:ext cx="3942779"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测量建模 / 有限诊断 / 可靠告警 / 管理确认</a:t>
              </a:r>
            </a:p>
          </p:txBody>
        </p:sp>
        <p:sp>
          <p:nvSpPr>
            <p:cNvPr id="19" name="TextBox 19"/>
            <p:cNvSpPr txBox="1"/>
            <p:nvPr/>
          </p:nvSpPr>
          <p:spPr>
            <a:xfrm>
              <a:off x="450342" y="5626418"/>
              <a:ext cx="3099816" cy="511683"/>
            </a:xfrm>
            <a:prstGeom prst="rect">
              <a:avLst/>
            </a:prstGeom>
            <a:noFill/>
            <a:ln>
              <a:noFill/>
            </a:ln>
          </p:spPr>
          <p:txBody>
            <a:bodyPr wrap="none" lIns="0" tIns="0" rIns="0" bIns="0" anchor="t" anchorCtr="0">
              <a:spAutoFit/>
            </a:bodyPr>
            <a:lstStyle/>
            <a:p>
              <a:pPr algn="l">
                <a:lnSpc>
                  <a:spcPts val="1950"/>
                </a:lnSpc>
              </a:pPr>
              <a:r>
                <a:rPr lang="zh-CN" sz="1350" dirty="0">
                  <a:solidFill>
                    <a:srgbClr val="B7CCC6"/>
                  </a:solidFill>
                  <a:latin typeface="+mn-lt"/>
                  <a:ea typeface="+mn-ea"/>
                  <a:cs typeface="+mn-cs"/>
                </a:rPr>
                <a:t>已有基础：文献、未标定模型与合成回放</a:t>
              </a:r>
              <a:br/>
              <a:r>
                <a:rPr lang="zh-CN" sz="1350" dirty="0">
                  <a:solidFill>
                    <a:srgbClr val="B7CCC6"/>
                  </a:solidFill>
                  <a:latin typeface="+mn-lt"/>
                  <a:ea typeface="+mn-ea"/>
                  <a:cs typeface="+mn-cs"/>
                </a:rPr>
                <a:t>实物、台架及田间实验尚未开展</a:t>
              </a:r>
            </a:p>
          </p:txBody>
        </p:sp>
      </p:grpSp>
      <p:grpSp>
        <p:nvGrpSpPr>
          <p:cNvPr id="116" name="cover-field"/>
          <p:cNvGrpSpPr/>
          <p:nvPr/>
        </p:nvGrpSpPr>
        <p:grpSpPr>
          <a:xfrm>
            <a:off x="5817870" y="1919478"/>
            <a:ext cx="5791200" cy="4075747"/>
            <a:chOff x="5817870" y="1919478"/>
            <a:chExt cx="5791200" cy="4075747"/>
          </a:xfrm>
        </p:grpSpPr>
        <p:sp>
          <p:nvSpPr>
            <p:cNvPr id="21" name="Polygon 21"/>
            <p:cNvSpPr/>
            <p:nvPr/>
          </p:nvSpPr>
          <p:spPr>
            <a:xfrm>
              <a:off x="5817870" y="2100453"/>
              <a:ext cx="5791200" cy="2920365"/>
            </a:xfrm>
            <a:custGeom>
              <a:avLst/>
              <a:gdLst/>
              <a:ahLst/>
              <a:cxnLst/>
              <a:rect l="l" t="t" r="r" b="b"/>
              <a:pathLst>
                <a:path w="5791200" h="2920365">
                  <a:moveTo>
                    <a:pt x="0" y="584073"/>
                  </a:moveTo>
                  <a:lnTo>
                    <a:pt x="4693920" y="0"/>
                  </a:lnTo>
                  <a:lnTo>
                    <a:pt x="5791200" y="2336292"/>
                  </a:lnTo>
                  <a:lnTo>
                    <a:pt x="1097280" y="2920365"/>
                  </a:lnTo>
                  <a:close/>
                </a:path>
              </a:pathLst>
            </a:custGeom>
            <a:solidFill>
              <a:srgbClr val="103B35"/>
            </a:solidFill>
            <a:ln>
              <a:noFill/>
            </a:ln>
          </p:spPr>
        </p:sp>
        <p:sp>
          <p:nvSpPr>
            <p:cNvPr id="22" name="Polygon 22"/>
            <p:cNvSpPr/>
            <p:nvPr/>
          </p:nvSpPr>
          <p:spPr>
            <a:xfrm>
              <a:off x="5817870" y="1919478"/>
              <a:ext cx="5791200" cy="2920365"/>
            </a:xfrm>
            <a:custGeom>
              <a:avLst/>
              <a:gdLst/>
              <a:ahLst/>
              <a:cxnLst/>
              <a:rect l="l" t="t" r="r" b="b"/>
              <a:pathLst>
                <a:path w="5791200" h="2920365">
                  <a:moveTo>
                    <a:pt x="0" y="584073"/>
                  </a:moveTo>
                  <a:lnTo>
                    <a:pt x="4693920" y="0"/>
                  </a:lnTo>
                  <a:lnTo>
                    <a:pt x="5791200" y="2336292"/>
                  </a:lnTo>
                  <a:lnTo>
                    <a:pt x="1097280" y="2920365"/>
                  </a:lnTo>
                  <a:close/>
                </a:path>
              </a:pathLst>
            </a:custGeom>
            <a:solidFill>
              <a:srgbClr val="215749"/>
            </a:solidFill>
            <a:ln w="19050">
              <a:solidFill>
                <a:srgbClr val="437966"/>
              </a:solidFill>
            </a:ln>
          </p:spPr>
        </p:sp>
        <p:sp>
          <p:nvSpPr>
            <p:cNvPr id="23" name="Line 23"/>
            <p:cNvSpPr/>
            <p:nvPr/>
          </p:nvSpPr>
          <p:spPr>
            <a:xfrm>
              <a:off x="6090361" y="2223196"/>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24" name="Ellipse 24"/>
            <p:cNvSpPr/>
            <p:nvPr/>
          </p:nvSpPr>
          <p:spPr>
            <a:xfrm>
              <a:off x="6386551" y="2655014"/>
              <a:ext cx="64770" cy="64770"/>
            </a:xfrm>
            <a:prstGeom prst="ellipse">
              <a:avLst/>
            </a:prstGeom>
            <a:solidFill>
              <a:srgbClr val="8EAF7A"/>
            </a:solidFill>
            <a:ln>
              <a:noFill/>
            </a:ln>
          </p:spPr>
        </p:sp>
        <p:sp>
          <p:nvSpPr>
            <p:cNvPr id="25" name="Ellipse 25"/>
            <p:cNvSpPr/>
            <p:nvPr/>
          </p:nvSpPr>
          <p:spPr>
            <a:xfrm>
              <a:off x="6949821" y="2584925"/>
              <a:ext cx="64770" cy="64770"/>
            </a:xfrm>
            <a:prstGeom prst="ellipse">
              <a:avLst/>
            </a:prstGeom>
            <a:solidFill>
              <a:srgbClr val="8EAF7A"/>
            </a:solidFill>
            <a:ln>
              <a:noFill/>
            </a:ln>
          </p:spPr>
        </p:sp>
        <p:sp>
          <p:nvSpPr>
            <p:cNvPr id="26" name="Ellipse 26"/>
            <p:cNvSpPr/>
            <p:nvPr/>
          </p:nvSpPr>
          <p:spPr>
            <a:xfrm>
              <a:off x="7513091" y="2514836"/>
              <a:ext cx="64770" cy="64770"/>
            </a:xfrm>
            <a:prstGeom prst="ellipse">
              <a:avLst/>
            </a:prstGeom>
            <a:solidFill>
              <a:srgbClr val="8EAF7A"/>
            </a:solidFill>
            <a:ln>
              <a:noFill/>
            </a:ln>
          </p:spPr>
        </p:sp>
        <p:sp>
          <p:nvSpPr>
            <p:cNvPr id="27" name="Ellipse 27"/>
            <p:cNvSpPr/>
            <p:nvPr/>
          </p:nvSpPr>
          <p:spPr>
            <a:xfrm>
              <a:off x="8076362" y="2444747"/>
              <a:ext cx="64770" cy="64770"/>
            </a:xfrm>
            <a:prstGeom prst="ellipse">
              <a:avLst/>
            </a:prstGeom>
            <a:solidFill>
              <a:srgbClr val="8EAF7A"/>
            </a:solidFill>
            <a:ln>
              <a:noFill/>
            </a:ln>
          </p:spPr>
        </p:sp>
        <p:sp>
          <p:nvSpPr>
            <p:cNvPr id="28" name="Ellipse 28"/>
            <p:cNvSpPr/>
            <p:nvPr/>
          </p:nvSpPr>
          <p:spPr>
            <a:xfrm>
              <a:off x="8639632" y="2374659"/>
              <a:ext cx="64770" cy="64770"/>
            </a:xfrm>
            <a:prstGeom prst="ellipse">
              <a:avLst/>
            </a:prstGeom>
            <a:solidFill>
              <a:srgbClr val="8EAF7A"/>
            </a:solidFill>
            <a:ln>
              <a:noFill/>
            </a:ln>
          </p:spPr>
        </p:sp>
        <p:sp>
          <p:nvSpPr>
            <p:cNvPr id="29" name="Ellipse 29"/>
            <p:cNvSpPr/>
            <p:nvPr/>
          </p:nvSpPr>
          <p:spPr>
            <a:xfrm>
              <a:off x="9202903" y="2304570"/>
              <a:ext cx="64770" cy="64770"/>
            </a:xfrm>
            <a:prstGeom prst="ellipse">
              <a:avLst/>
            </a:prstGeom>
            <a:solidFill>
              <a:srgbClr val="8EAF7A"/>
            </a:solidFill>
            <a:ln>
              <a:noFill/>
            </a:ln>
          </p:spPr>
        </p:sp>
        <p:sp>
          <p:nvSpPr>
            <p:cNvPr id="30" name="Ellipse 30"/>
            <p:cNvSpPr/>
            <p:nvPr/>
          </p:nvSpPr>
          <p:spPr>
            <a:xfrm>
              <a:off x="9766173" y="2234481"/>
              <a:ext cx="64770" cy="64770"/>
            </a:xfrm>
            <a:prstGeom prst="ellipse">
              <a:avLst/>
            </a:prstGeom>
            <a:solidFill>
              <a:srgbClr val="8EAF7A"/>
            </a:solidFill>
            <a:ln>
              <a:noFill/>
            </a:ln>
          </p:spPr>
        </p:sp>
        <p:sp>
          <p:nvSpPr>
            <p:cNvPr id="31" name="Ellipse 31"/>
            <p:cNvSpPr/>
            <p:nvPr/>
          </p:nvSpPr>
          <p:spPr>
            <a:xfrm>
              <a:off x="10329443" y="2164392"/>
              <a:ext cx="64770" cy="64770"/>
            </a:xfrm>
            <a:prstGeom prst="ellipse">
              <a:avLst/>
            </a:prstGeom>
            <a:solidFill>
              <a:srgbClr val="8EAF7A"/>
            </a:solidFill>
            <a:ln>
              <a:noFill/>
            </a:ln>
          </p:spPr>
        </p:sp>
        <p:sp>
          <p:nvSpPr>
            <p:cNvPr id="32" name="Line 32"/>
            <p:cNvSpPr/>
            <p:nvPr/>
          </p:nvSpPr>
          <p:spPr>
            <a:xfrm>
              <a:off x="6233008" y="2526914"/>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33" name="Ellipse 33"/>
            <p:cNvSpPr/>
            <p:nvPr/>
          </p:nvSpPr>
          <p:spPr>
            <a:xfrm>
              <a:off x="6529197" y="2958732"/>
              <a:ext cx="64770" cy="64770"/>
            </a:xfrm>
            <a:prstGeom prst="ellipse">
              <a:avLst/>
            </a:prstGeom>
            <a:solidFill>
              <a:srgbClr val="8EAF7A"/>
            </a:solidFill>
            <a:ln>
              <a:noFill/>
            </a:ln>
          </p:spPr>
        </p:sp>
        <p:sp>
          <p:nvSpPr>
            <p:cNvPr id="34" name="Ellipse 34"/>
            <p:cNvSpPr/>
            <p:nvPr/>
          </p:nvSpPr>
          <p:spPr>
            <a:xfrm>
              <a:off x="7092467" y="2888643"/>
              <a:ext cx="64770" cy="64770"/>
            </a:xfrm>
            <a:prstGeom prst="ellipse">
              <a:avLst/>
            </a:prstGeom>
            <a:solidFill>
              <a:srgbClr val="8EAF7A"/>
            </a:solidFill>
            <a:ln>
              <a:noFill/>
            </a:ln>
          </p:spPr>
        </p:sp>
        <p:sp>
          <p:nvSpPr>
            <p:cNvPr id="35" name="Ellipse 35"/>
            <p:cNvSpPr/>
            <p:nvPr/>
          </p:nvSpPr>
          <p:spPr>
            <a:xfrm>
              <a:off x="7655738" y="2818554"/>
              <a:ext cx="64770" cy="64770"/>
            </a:xfrm>
            <a:prstGeom prst="ellipse">
              <a:avLst/>
            </a:prstGeom>
            <a:solidFill>
              <a:srgbClr val="8EAF7A"/>
            </a:solidFill>
            <a:ln>
              <a:noFill/>
            </a:ln>
          </p:spPr>
        </p:sp>
        <p:sp>
          <p:nvSpPr>
            <p:cNvPr id="36" name="Ellipse 36"/>
            <p:cNvSpPr/>
            <p:nvPr/>
          </p:nvSpPr>
          <p:spPr>
            <a:xfrm>
              <a:off x="8219008" y="2748465"/>
              <a:ext cx="64770" cy="64770"/>
            </a:xfrm>
            <a:prstGeom prst="ellipse">
              <a:avLst/>
            </a:prstGeom>
            <a:solidFill>
              <a:srgbClr val="8EAF7A"/>
            </a:solidFill>
            <a:ln>
              <a:noFill/>
            </a:ln>
          </p:spPr>
        </p:sp>
        <p:sp>
          <p:nvSpPr>
            <p:cNvPr id="37" name="Ellipse 37"/>
            <p:cNvSpPr/>
            <p:nvPr/>
          </p:nvSpPr>
          <p:spPr>
            <a:xfrm>
              <a:off x="8782279" y="2678377"/>
              <a:ext cx="64770" cy="64770"/>
            </a:xfrm>
            <a:prstGeom prst="ellipse">
              <a:avLst/>
            </a:prstGeom>
            <a:solidFill>
              <a:srgbClr val="8EAF7A"/>
            </a:solidFill>
            <a:ln>
              <a:noFill/>
            </a:ln>
          </p:spPr>
        </p:sp>
        <p:sp>
          <p:nvSpPr>
            <p:cNvPr id="38" name="Ellipse 38"/>
            <p:cNvSpPr/>
            <p:nvPr/>
          </p:nvSpPr>
          <p:spPr>
            <a:xfrm>
              <a:off x="9345549" y="2608288"/>
              <a:ext cx="64770" cy="64770"/>
            </a:xfrm>
            <a:prstGeom prst="ellipse">
              <a:avLst/>
            </a:prstGeom>
            <a:solidFill>
              <a:srgbClr val="8EAF7A"/>
            </a:solidFill>
            <a:ln>
              <a:noFill/>
            </a:ln>
          </p:spPr>
        </p:sp>
        <p:sp>
          <p:nvSpPr>
            <p:cNvPr id="39" name="Ellipse 39"/>
            <p:cNvSpPr/>
            <p:nvPr/>
          </p:nvSpPr>
          <p:spPr>
            <a:xfrm>
              <a:off x="9908819" y="2538199"/>
              <a:ext cx="64770" cy="64770"/>
            </a:xfrm>
            <a:prstGeom prst="ellipse">
              <a:avLst/>
            </a:prstGeom>
            <a:solidFill>
              <a:srgbClr val="8EAF7A"/>
            </a:solidFill>
            <a:ln>
              <a:noFill/>
            </a:ln>
          </p:spPr>
        </p:sp>
        <p:sp>
          <p:nvSpPr>
            <p:cNvPr id="40" name="Ellipse 40"/>
            <p:cNvSpPr/>
            <p:nvPr/>
          </p:nvSpPr>
          <p:spPr>
            <a:xfrm>
              <a:off x="10472090" y="2468110"/>
              <a:ext cx="64770" cy="64770"/>
            </a:xfrm>
            <a:prstGeom prst="ellipse">
              <a:avLst/>
            </a:prstGeom>
            <a:solidFill>
              <a:srgbClr val="8EAF7A"/>
            </a:solidFill>
            <a:ln>
              <a:noFill/>
            </a:ln>
          </p:spPr>
        </p:sp>
        <p:sp>
          <p:nvSpPr>
            <p:cNvPr id="41" name="Line 41"/>
            <p:cNvSpPr/>
            <p:nvPr/>
          </p:nvSpPr>
          <p:spPr>
            <a:xfrm>
              <a:off x="6375654" y="2830632"/>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42" name="Ellipse 42"/>
            <p:cNvSpPr/>
            <p:nvPr/>
          </p:nvSpPr>
          <p:spPr>
            <a:xfrm>
              <a:off x="6671843" y="3262450"/>
              <a:ext cx="64770" cy="64770"/>
            </a:xfrm>
            <a:prstGeom prst="ellipse">
              <a:avLst/>
            </a:prstGeom>
            <a:solidFill>
              <a:srgbClr val="8EAF7A"/>
            </a:solidFill>
            <a:ln>
              <a:noFill/>
            </a:ln>
          </p:spPr>
        </p:sp>
        <p:sp>
          <p:nvSpPr>
            <p:cNvPr id="43" name="Ellipse 43"/>
            <p:cNvSpPr/>
            <p:nvPr/>
          </p:nvSpPr>
          <p:spPr>
            <a:xfrm>
              <a:off x="7235114" y="3192361"/>
              <a:ext cx="64770" cy="64770"/>
            </a:xfrm>
            <a:prstGeom prst="ellipse">
              <a:avLst/>
            </a:prstGeom>
            <a:solidFill>
              <a:srgbClr val="8EAF7A"/>
            </a:solidFill>
            <a:ln>
              <a:noFill/>
            </a:ln>
          </p:spPr>
        </p:sp>
        <p:sp>
          <p:nvSpPr>
            <p:cNvPr id="44" name="Ellipse 44"/>
            <p:cNvSpPr/>
            <p:nvPr/>
          </p:nvSpPr>
          <p:spPr>
            <a:xfrm>
              <a:off x="7798384" y="3122272"/>
              <a:ext cx="64770" cy="64770"/>
            </a:xfrm>
            <a:prstGeom prst="ellipse">
              <a:avLst/>
            </a:prstGeom>
            <a:solidFill>
              <a:srgbClr val="8EAF7A"/>
            </a:solidFill>
            <a:ln>
              <a:noFill/>
            </a:ln>
          </p:spPr>
        </p:sp>
        <p:sp>
          <p:nvSpPr>
            <p:cNvPr id="45" name="Ellipse 45"/>
            <p:cNvSpPr/>
            <p:nvPr/>
          </p:nvSpPr>
          <p:spPr>
            <a:xfrm>
              <a:off x="8361655" y="3052183"/>
              <a:ext cx="64770" cy="64770"/>
            </a:xfrm>
            <a:prstGeom prst="ellipse">
              <a:avLst/>
            </a:prstGeom>
            <a:solidFill>
              <a:srgbClr val="8EAF7A"/>
            </a:solidFill>
            <a:ln>
              <a:noFill/>
            </a:ln>
          </p:spPr>
        </p:sp>
        <p:sp>
          <p:nvSpPr>
            <p:cNvPr id="46" name="Ellipse 46"/>
            <p:cNvSpPr/>
            <p:nvPr/>
          </p:nvSpPr>
          <p:spPr>
            <a:xfrm>
              <a:off x="8924925" y="2982095"/>
              <a:ext cx="64770" cy="64770"/>
            </a:xfrm>
            <a:prstGeom prst="ellipse">
              <a:avLst/>
            </a:prstGeom>
            <a:solidFill>
              <a:srgbClr val="8EAF7A"/>
            </a:solidFill>
            <a:ln>
              <a:noFill/>
            </a:ln>
          </p:spPr>
        </p:sp>
        <p:sp>
          <p:nvSpPr>
            <p:cNvPr id="47" name="Ellipse 47"/>
            <p:cNvSpPr/>
            <p:nvPr/>
          </p:nvSpPr>
          <p:spPr>
            <a:xfrm>
              <a:off x="9488195" y="2912006"/>
              <a:ext cx="64770" cy="64770"/>
            </a:xfrm>
            <a:prstGeom prst="ellipse">
              <a:avLst/>
            </a:prstGeom>
            <a:solidFill>
              <a:srgbClr val="8EAF7A"/>
            </a:solidFill>
            <a:ln>
              <a:noFill/>
            </a:ln>
          </p:spPr>
        </p:sp>
        <p:sp>
          <p:nvSpPr>
            <p:cNvPr id="48" name="Ellipse 48"/>
            <p:cNvSpPr/>
            <p:nvPr/>
          </p:nvSpPr>
          <p:spPr>
            <a:xfrm>
              <a:off x="10051466" y="2841917"/>
              <a:ext cx="64770" cy="64770"/>
            </a:xfrm>
            <a:prstGeom prst="ellipse">
              <a:avLst/>
            </a:prstGeom>
            <a:solidFill>
              <a:srgbClr val="8EAF7A"/>
            </a:solidFill>
            <a:ln>
              <a:noFill/>
            </a:ln>
          </p:spPr>
        </p:sp>
        <p:sp>
          <p:nvSpPr>
            <p:cNvPr id="49" name="Ellipse 49"/>
            <p:cNvSpPr/>
            <p:nvPr/>
          </p:nvSpPr>
          <p:spPr>
            <a:xfrm>
              <a:off x="10614736" y="2771828"/>
              <a:ext cx="64770" cy="64770"/>
            </a:xfrm>
            <a:prstGeom prst="ellipse">
              <a:avLst/>
            </a:prstGeom>
            <a:solidFill>
              <a:srgbClr val="8EAF7A"/>
            </a:solidFill>
            <a:ln>
              <a:noFill/>
            </a:ln>
          </p:spPr>
        </p:sp>
        <p:sp>
          <p:nvSpPr>
            <p:cNvPr id="50" name="Line 50"/>
            <p:cNvSpPr/>
            <p:nvPr/>
          </p:nvSpPr>
          <p:spPr>
            <a:xfrm>
              <a:off x="6518300" y="3134350"/>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51" name="Ellipse 51"/>
            <p:cNvSpPr/>
            <p:nvPr/>
          </p:nvSpPr>
          <p:spPr>
            <a:xfrm>
              <a:off x="6814490" y="3566168"/>
              <a:ext cx="64770" cy="64770"/>
            </a:xfrm>
            <a:prstGeom prst="ellipse">
              <a:avLst/>
            </a:prstGeom>
            <a:solidFill>
              <a:srgbClr val="8EAF7A"/>
            </a:solidFill>
            <a:ln>
              <a:noFill/>
            </a:ln>
          </p:spPr>
        </p:sp>
        <p:sp>
          <p:nvSpPr>
            <p:cNvPr id="52" name="Ellipse 52"/>
            <p:cNvSpPr/>
            <p:nvPr/>
          </p:nvSpPr>
          <p:spPr>
            <a:xfrm>
              <a:off x="7377760" y="3496079"/>
              <a:ext cx="64770" cy="64770"/>
            </a:xfrm>
            <a:prstGeom prst="ellipse">
              <a:avLst/>
            </a:prstGeom>
            <a:solidFill>
              <a:srgbClr val="8EAF7A"/>
            </a:solidFill>
            <a:ln>
              <a:noFill/>
            </a:ln>
          </p:spPr>
        </p:sp>
        <p:sp>
          <p:nvSpPr>
            <p:cNvPr id="53" name="Ellipse 53"/>
            <p:cNvSpPr/>
            <p:nvPr/>
          </p:nvSpPr>
          <p:spPr>
            <a:xfrm>
              <a:off x="7941031" y="3425990"/>
              <a:ext cx="64770" cy="64770"/>
            </a:xfrm>
            <a:prstGeom prst="ellipse">
              <a:avLst/>
            </a:prstGeom>
            <a:solidFill>
              <a:srgbClr val="8EAF7A"/>
            </a:solidFill>
            <a:ln>
              <a:noFill/>
            </a:ln>
          </p:spPr>
        </p:sp>
        <p:sp>
          <p:nvSpPr>
            <p:cNvPr id="54" name="Ellipse 54"/>
            <p:cNvSpPr/>
            <p:nvPr/>
          </p:nvSpPr>
          <p:spPr>
            <a:xfrm>
              <a:off x="8504301" y="3355901"/>
              <a:ext cx="64770" cy="64770"/>
            </a:xfrm>
            <a:prstGeom prst="ellipse">
              <a:avLst/>
            </a:prstGeom>
            <a:solidFill>
              <a:srgbClr val="8EAF7A"/>
            </a:solidFill>
            <a:ln>
              <a:noFill/>
            </a:ln>
          </p:spPr>
        </p:sp>
        <p:sp>
          <p:nvSpPr>
            <p:cNvPr id="55" name="Ellipse 55"/>
            <p:cNvSpPr/>
            <p:nvPr/>
          </p:nvSpPr>
          <p:spPr>
            <a:xfrm>
              <a:off x="9067571" y="3285813"/>
              <a:ext cx="64770" cy="64770"/>
            </a:xfrm>
            <a:prstGeom prst="ellipse">
              <a:avLst/>
            </a:prstGeom>
            <a:solidFill>
              <a:srgbClr val="8EAF7A"/>
            </a:solidFill>
            <a:ln>
              <a:noFill/>
            </a:ln>
          </p:spPr>
        </p:sp>
        <p:sp>
          <p:nvSpPr>
            <p:cNvPr id="56" name="Ellipse 56"/>
            <p:cNvSpPr/>
            <p:nvPr/>
          </p:nvSpPr>
          <p:spPr>
            <a:xfrm>
              <a:off x="9630842" y="3215724"/>
              <a:ext cx="64770" cy="64770"/>
            </a:xfrm>
            <a:prstGeom prst="ellipse">
              <a:avLst/>
            </a:prstGeom>
            <a:solidFill>
              <a:srgbClr val="8EAF7A"/>
            </a:solidFill>
            <a:ln>
              <a:noFill/>
            </a:ln>
          </p:spPr>
        </p:sp>
        <p:sp>
          <p:nvSpPr>
            <p:cNvPr id="57" name="Ellipse 57"/>
            <p:cNvSpPr/>
            <p:nvPr/>
          </p:nvSpPr>
          <p:spPr>
            <a:xfrm>
              <a:off x="10194112" y="3145635"/>
              <a:ext cx="64770" cy="64770"/>
            </a:xfrm>
            <a:prstGeom prst="ellipse">
              <a:avLst/>
            </a:prstGeom>
            <a:solidFill>
              <a:srgbClr val="8EAF7A"/>
            </a:solidFill>
            <a:ln>
              <a:noFill/>
            </a:ln>
          </p:spPr>
        </p:sp>
        <p:sp>
          <p:nvSpPr>
            <p:cNvPr id="58" name="Ellipse 58"/>
            <p:cNvSpPr/>
            <p:nvPr/>
          </p:nvSpPr>
          <p:spPr>
            <a:xfrm>
              <a:off x="10757383" y="3075546"/>
              <a:ext cx="64770" cy="64770"/>
            </a:xfrm>
            <a:prstGeom prst="ellipse">
              <a:avLst/>
            </a:prstGeom>
            <a:solidFill>
              <a:srgbClr val="8EAF7A"/>
            </a:solidFill>
            <a:ln>
              <a:noFill/>
            </a:ln>
          </p:spPr>
        </p:sp>
        <p:sp>
          <p:nvSpPr>
            <p:cNvPr id="59" name="Line 59"/>
            <p:cNvSpPr/>
            <p:nvPr/>
          </p:nvSpPr>
          <p:spPr>
            <a:xfrm>
              <a:off x="6660947" y="3438068"/>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60" name="Ellipse 60"/>
            <p:cNvSpPr/>
            <p:nvPr/>
          </p:nvSpPr>
          <p:spPr>
            <a:xfrm>
              <a:off x="6957136" y="3869886"/>
              <a:ext cx="64770" cy="64770"/>
            </a:xfrm>
            <a:prstGeom prst="ellipse">
              <a:avLst/>
            </a:prstGeom>
            <a:solidFill>
              <a:srgbClr val="8EAF7A"/>
            </a:solidFill>
            <a:ln>
              <a:noFill/>
            </a:ln>
          </p:spPr>
        </p:sp>
        <p:sp>
          <p:nvSpPr>
            <p:cNvPr id="61" name="Ellipse 61"/>
            <p:cNvSpPr/>
            <p:nvPr/>
          </p:nvSpPr>
          <p:spPr>
            <a:xfrm>
              <a:off x="7520407" y="3799797"/>
              <a:ext cx="64770" cy="64770"/>
            </a:xfrm>
            <a:prstGeom prst="ellipse">
              <a:avLst/>
            </a:prstGeom>
            <a:solidFill>
              <a:srgbClr val="8EAF7A"/>
            </a:solidFill>
            <a:ln>
              <a:noFill/>
            </a:ln>
          </p:spPr>
        </p:sp>
        <p:sp>
          <p:nvSpPr>
            <p:cNvPr id="62" name="Ellipse 62"/>
            <p:cNvSpPr/>
            <p:nvPr/>
          </p:nvSpPr>
          <p:spPr>
            <a:xfrm>
              <a:off x="8083677" y="3729708"/>
              <a:ext cx="64770" cy="64770"/>
            </a:xfrm>
            <a:prstGeom prst="ellipse">
              <a:avLst/>
            </a:prstGeom>
            <a:solidFill>
              <a:srgbClr val="8EAF7A"/>
            </a:solidFill>
            <a:ln>
              <a:noFill/>
            </a:ln>
          </p:spPr>
        </p:sp>
        <p:sp>
          <p:nvSpPr>
            <p:cNvPr id="63" name="Ellipse 63"/>
            <p:cNvSpPr/>
            <p:nvPr/>
          </p:nvSpPr>
          <p:spPr>
            <a:xfrm>
              <a:off x="8646947" y="3659619"/>
              <a:ext cx="64770" cy="64770"/>
            </a:xfrm>
            <a:prstGeom prst="ellipse">
              <a:avLst/>
            </a:prstGeom>
            <a:solidFill>
              <a:srgbClr val="8EAF7A"/>
            </a:solidFill>
            <a:ln>
              <a:noFill/>
            </a:ln>
          </p:spPr>
        </p:sp>
        <p:sp>
          <p:nvSpPr>
            <p:cNvPr id="64" name="Ellipse 64"/>
            <p:cNvSpPr/>
            <p:nvPr/>
          </p:nvSpPr>
          <p:spPr>
            <a:xfrm>
              <a:off x="9210218" y="3589531"/>
              <a:ext cx="64770" cy="64770"/>
            </a:xfrm>
            <a:prstGeom prst="ellipse">
              <a:avLst/>
            </a:prstGeom>
            <a:solidFill>
              <a:srgbClr val="8EAF7A"/>
            </a:solidFill>
            <a:ln>
              <a:noFill/>
            </a:ln>
          </p:spPr>
        </p:sp>
        <p:sp>
          <p:nvSpPr>
            <p:cNvPr id="65" name="Ellipse 65"/>
            <p:cNvSpPr/>
            <p:nvPr/>
          </p:nvSpPr>
          <p:spPr>
            <a:xfrm>
              <a:off x="9773488" y="3519442"/>
              <a:ext cx="64770" cy="64770"/>
            </a:xfrm>
            <a:prstGeom prst="ellipse">
              <a:avLst/>
            </a:prstGeom>
            <a:solidFill>
              <a:srgbClr val="8EAF7A"/>
            </a:solidFill>
            <a:ln>
              <a:noFill/>
            </a:ln>
          </p:spPr>
        </p:sp>
        <p:sp>
          <p:nvSpPr>
            <p:cNvPr id="66" name="Ellipse 66"/>
            <p:cNvSpPr/>
            <p:nvPr/>
          </p:nvSpPr>
          <p:spPr>
            <a:xfrm>
              <a:off x="10336759" y="3449353"/>
              <a:ext cx="64770" cy="64770"/>
            </a:xfrm>
            <a:prstGeom prst="ellipse">
              <a:avLst/>
            </a:prstGeom>
            <a:solidFill>
              <a:srgbClr val="8EAF7A"/>
            </a:solidFill>
            <a:ln>
              <a:noFill/>
            </a:ln>
          </p:spPr>
        </p:sp>
        <p:sp>
          <p:nvSpPr>
            <p:cNvPr id="67" name="Ellipse 67"/>
            <p:cNvSpPr/>
            <p:nvPr/>
          </p:nvSpPr>
          <p:spPr>
            <a:xfrm>
              <a:off x="10900029" y="3379264"/>
              <a:ext cx="64770" cy="64770"/>
            </a:xfrm>
            <a:prstGeom prst="ellipse">
              <a:avLst/>
            </a:prstGeom>
            <a:solidFill>
              <a:srgbClr val="8EAF7A"/>
            </a:solidFill>
            <a:ln>
              <a:noFill/>
            </a:ln>
          </p:spPr>
        </p:sp>
        <p:sp>
          <p:nvSpPr>
            <p:cNvPr id="68" name="Line 68"/>
            <p:cNvSpPr/>
            <p:nvPr/>
          </p:nvSpPr>
          <p:spPr>
            <a:xfrm>
              <a:off x="6803593" y="3741786"/>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69" name="Ellipse 69"/>
            <p:cNvSpPr/>
            <p:nvPr/>
          </p:nvSpPr>
          <p:spPr>
            <a:xfrm>
              <a:off x="7099783" y="4173604"/>
              <a:ext cx="64770" cy="64770"/>
            </a:xfrm>
            <a:prstGeom prst="ellipse">
              <a:avLst/>
            </a:prstGeom>
            <a:solidFill>
              <a:srgbClr val="8EAF7A"/>
            </a:solidFill>
            <a:ln>
              <a:noFill/>
            </a:ln>
          </p:spPr>
        </p:sp>
        <p:sp>
          <p:nvSpPr>
            <p:cNvPr id="70" name="Ellipse 70"/>
            <p:cNvSpPr/>
            <p:nvPr/>
          </p:nvSpPr>
          <p:spPr>
            <a:xfrm>
              <a:off x="7663053" y="4103515"/>
              <a:ext cx="64770" cy="64770"/>
            </a:xfrm>
            <a:prstGeom prst="ellipse">
              <a:avLst/>
            </a:prstGeom>
            <a:solidFill>
              <a:srgbClr val="8EAF7A"/>
            </a:solidFill>
            <a:ln>
              <a:noFill/>
            </a:ln>
          </p:spPr>
        </p:sp>
        <p:sp>
          <p:nvSpPr>
            <p:cNvPr id="71" name="Ellipse 71"/>
            <p:cNvSpPr/>
            <p:nvPr/>
          </p:nvSpPr>
          <p:spPr>
            <a:xfrm>
              <a:off x="8226323" y="4033426"/>
              <a:ext cx="64770" cy="64770"/>
            </a:xfrm>
            <a:prstGeom prst="ellipse">
              <a:avLst/>
            </a:prstGeom>
            <a:solidFill>
              <a:srgbClr val="8EAF7A"/>
            </a:solidFill>
            <a:ln>
              <a:noFill/>
            </a:ln>
          </p:spPr>
        </p:sp>
        <p:sp>
          <p:nvSpPr>
            <p:cNvPr id="72" name="Ellipse 72"/>
            <p:cNvSpPr/>
            <p:nvPr/>
          </p:nvSpPr>
          <p:spPr>
            <a:xfrm>
              <a:off x="8789594" y="3963337"/>
              <a:ext cx="64770" cy="64770"/>
            </a:xfrm>
            <a:prstGeom prst="ellipse">
              <a:avLst/>
            </a:prstGeom>
            <a:solidFill>
              <a:srgbClr val="8EAF7A"/>
            </a:solidFill>
            <a:ln>
              <a:noFill/>
            </a:ln>
          </p:spPr>
        </p:sp>
        <p:sp>
          <p:nvSpPr>
            <p:cNvPr id="73" name="Ellipse 73"/>
            <p:cNvSpPr/>
            <p:nvPr/>
          </p:nvSpPr>
          <p:spPr>
            <a:xfrm>
              <a:off x="9352864" y="3893248"/>
              <a:ext cx="64770" cy="64770"/>
            </a:xfrm>
            <a:prstGeom prst="ellipse">
              <a:avLst/>
            </a:prstGeom>
            <a:solidFill>
              <a:srgbClr val="8EAF7A"/>
            </a:solidFill>
            <a:ln>
              <a:noFill/>
            </a:ln>
          </p:spPr>
        </p:sp>
        <p:sp>
          <p:nvSpPr>
            <p:cNvPr id="74" name="Ellipse 74"/>
            <p:cNvSpPr/>
            <p:nvPr/>
          </p:nvSpPr>
          <p:spPr>
            <a:xfrm>
              <a:off x="9916135" y="3823160"/>
              <a:ext cx="64770" cy="64770"/>
            </a:xfrm>
            <a:prstGeom prst="ellipse">
              <a:avLst/>
            </a:prstGeom>
            <a:solidFill>
              <a:srgbClr val="8EAF7A"/>
            </a:solidFill>
            <a:ln>
              <a:noFill/>
            </a:ln>
          </p:spPr>
        </p:sp>
        <p:sp>
          <p:nvSpPr>
            <p:cNvPr id="75" name="Ellipse 75"/>
            <p:cNvSpPr/>
            <p:nvPr/>
          </p:nvSpPr>
          <p:spPr>
            <a:xfrm>
              <a:off x="10479405" y="3753071"/>
              <a:ext cx="64770" cy="64770"/>
            </a:xfrm>
            <a:prstGeom prst="ellipse">
              <a:avLst/>
            </a:prstGeom>
            <a:solidFill>
              <a:srgbClr val="8EAF7A"/>
            </a:solidFill>
            <a:ln>
              <a:noFill/>
            </a:ln>
          </p:spPr>
        </p:sp>
        <p:sp>
          <p:nvSpPr>
            <p:cNvPr id="76" name="Ellipse 76"/>
            <p:cNvSpPr/>
            <p:nvPr/>
          </p:nvSpPr>
          <p:spPr>
            <a:xfrm>
              <a:off x="11042675" y="3682982"/>
              <a:ext cx="64770" cy="64770"/>
            </a:xfrm>
            <a:prstGeom prst="ellipse">
              <a:avLst/>
            </a:prstGeom>
            <a:solidFill>
              <a:srgbClr val="8EAF7A"/>
            </a:solidFill>
            <a:ln>
              <a:noFill/>
            </a:ln>
          </p:spPr>
        </p:sp>
        <p:sp>
          <p:nvSpPr>
            <p:cNvPr id="77" name="Line 77"/>
            <p:cNvSpPr/>
            <p:nvPr/>
          </p:nvSpPr>
          <p:spPr>
            <a:xfrm>
              <a:off x="6946240" y="4045504"/>
              <a:ext cx="4365346" cy="543188"/>
            </a:xfrm>
            <a:custGeom>
              <a:avLst/>
              <a:gdLst/>
              <a:ahLst/>
              <a:cxnLst/>
              <a:rect l="l" t="t" r="r" b="b"/>
              <a:pathLst>
                <a:path w="4365346" h="543188">
                  <a:moveTo>
                    <a:pt x="0" y="543188"/>
                  </a:moveTo>
                  <a:lnTo>
                    <a:pt x="4365346" y="0"/>
                  </a:lnTo>
                </a:path>
              </a:pathLst>
            </a:custGeom>
            <a:noFill/>
            <a:ln w="47625">
              <a:solidFill>
                <a:srgbClr val="4F8165"/>
              </a:solidFill>
            </a:ln>
          </p:spPr>
        </p:sp>
        <p:sp>
          <p:nvSpPr>
            <p:cNvPr id="78" name="Ellipse 78"/>
            <p:cNvSpPr/>
            <p:nvPr/>
          </p:nvSpPr>
          <p:spPr>
            <a:xfrm>
              <a:off x="7242429" y="4477322"/>
              <a:ext cx="64770" cy="64770"/>
            </a:xfrm>
            <a:prstGeom prst="ellipse">
              <a:avLst/>
            </a:prstGeom>
            <a:solidFill>
              <a:srgbClr val="8EAF7A"/>
            </a:solidFill>
            <a:ln>
              <a:noFill/>
            </a:ln>
          </p:spPr>
        </p:sp>
        <p:sp>
          <p:nvSpPr>
            <p:cNvPr id="79" name="Ellipse 79"/>
            <p:cNvSpPr/>
            <p:nvPr/>
          </p:nvSpPr>
          <p:spPr>
            <a:xfrm>
              <a:off x="7805699" y="4407233"/>
              <a:ext cx="64770" cy="64770"/>
            </a:xfrm>
            <a:prstGeom prst="ellipse">
              <a:avLst/>
            </a:prstGeom>
            <a:solidFill>
              <a:srgbClr val="8EAF7A"/>
            </a:solidFill>
            <a:ln>
              <a:noFill/>
            </a:ln>
          </p:spPr>
        </p:sp>
        <p:sp>
          <p:nvSpPr>
            <p:cNvPr id="80" name="Ellipse 80"/>
            <p:cNvSpPr/>
            <p:nvPr/>
          </p:nvSpPr>
          <p:spPr>
            <a:xfrm>
              <a:off x="8368970" y="4337144"/>
              <a:ext cx="64770" cy="64770"/>
            </a:xfrm>
            <a:prstGeom prst="ellipse">
              <a:avLst/>
            </a:prstGeom>
            <a:solidFill>
              <a:srgbClr val="8EAF7A"/>
            </a:solidFill>
            <a:ln>
              <a:noFill/>
            </a:ln>
          </p:spPr>
        </p:sp>
        <p:sp>
          <p:nvSpPr>
            <p:cNvPr id="81" name="Ellipse 81"/>
            <p:cNvSpPr/>
            <p:nvPr/>
          </p:nvSpPr>
          <p:spPr>
            <a:xfrm>
              <a:off x="8932240" y="4267055"/>
              <a:ext cx="64770" cy="64770"/>
            </a:xfrm>
            <a:prstGeom prst="ellipse">
              <a:avLst/>
            </a:prstGeom>
            <a:solidFill>
              <a:srgbClr val="8EAF7A"/>
            </a:solidFill>
            <a:ln>
              <a:noFill/>
            </a:ln>
          </p:spPr>
        </p:sp>
        <p:sp>
          <p:nvSpPr>
            <p:cNvPr id="82" name="Ellipse 82"/>
            <p:cNvSpPr/>
            <p:nvPr/>
          </p:nvSpPr>
          <p:spPr>
            <a:xfrm>
              <a:off x="9495511" y="4196966"/>
              <a:ext cx="64770" cy="64770"/>
            </a:xfrm>
            <a:prstGeom prst="ellipse">
              <a:avLst/>
            </a:prstGeom>
            <a:solidFill>
              <a:srgbClr val="8EAF7A"/>
            </a:solidFill>
            <a:ln>
              <a:noFill/>
            </a:ln>
          </p:spPr>
        </p:sp>
        <p:sp>
          <p:nvSpPr>
            <p:cNvPr id="83" name="Ellipse 83"/>
            <p:cNvSpPr/>
            <p:nvPr/>
          </p:nvSpPr>
          <p:spPr>
            <a:xfrm>
              <a:off x="10058781" y="4126878"/>
              <a:ext cx="64770" cy="64770"/>
            </a:xfrm>
            <a:prstGeom prst="ellipse">
              <a:avLst/>
            </a:prstGeom>
            <a:solidFill>
              <a:srgbClr val="8EAF7A"/>
            </a:solidFill>
            <a:ln>
              <a:noFill/>
            </a:ln>
          </p:spPr>
        </p:sp>
        <p:sp>
          <p:nvSpPr>
            <p:cNvPr id="84" name="Ellipse 84"/>
            <p:cNvSpPr/>
            <p:nvPr/>
          </p:nvSpPr>
          <p:spPr>
            <a:xfrm>
              <a:off x="10622051" y="4056789"/>
              <a:ext cx="64770" cy="64770"/>
            </a:xfrm>
            <a:prstGeom prst="ellipse">
              <a:avLst/>
            </a:prstGeom>
            <a:solidFill>
              <a:srgbClr val="8EAF7A"/>
            </a:solidFill>
            <a:ln>
              <a:noFill/>
            </a:ln>
          </p:spPr>
        </p:sp>
        <p:sp>
          <p:nvSpPr>
            <p:cNvPr id="85" name="Ellipse 85"/>
            <p:cNvSpPr/>
            <p:nvPr/>
          </p:nvSpPr>
          <p:spPr>
            <a:xfrm>
              <a:off x="11185322" y="3986700"/>
              <a:ext cx="64770" cy="64770"/>
            </a:xfrm>
            <a:prstGeom prst="ellipse">
              <a:avLst/>
            </a:prstGeom>
            <a:solidFill>
              <a:srgbClr val="8EAF7A"/>
            </a:solidFill>
            <a:ln>
              <a:noFill/>
            </a:ln>
          </p:spPr>
        </p:sp>
        <p:sp>
          <p:nvSpPr>
            <p:cNvPr id="86" name="Line 86"/>
            <p:cNvSpPr/>
            <p:nvPr/>
          </p:nvSpPr>
          <p:spPr>
            <a:xfrm>
              <a:off x="6093409" y="2667091"/>
              <a:ext cx="943661" cy="2009211"/>
            </a:xfrm>
            <a:custGeom>
              <a:avLst/>
              <a:gdLst/>
              <a:ahLst/>
              <a:cxnLst/>
              <a:rect l="l" t="t" r="r" b="b"/>
              <a:pathLst>
                <a:path w="943661" h="2009211">
                  <a:moveTo>
                    <a:pt x="0" y="0"/>
                  </a:moveTo>
                  <a:lnTo>
                    <a:pt x="943661" y="2009211"/>
                  </a:lnTo>
                </a:path>
              </a:pathLst>
            </a:custGeom>
            <a:noFill/>
            <a:ln w="66675">
              <a:solidFill>
                <a:srgbClr val="78DFC5"/>
              </a:solidFill>
            </a:ln>
          </p:spPr>
        </p:sp>
        <p:sp>
          <p:nvSpPr>
            <p:cNvPr id="87" name="Line 87"/>
            <p:cNvSpPr/>
            <p:nvPr/>
          </p:nvSpPr>
          <p:spPr>
            <a:xfrm>
              <a:off x="6279947" y="2526914"/>
              <a:ext cx="4318406" cy="537347"/>
            </a:xfrm>
            <a:custGeom>
              <a:avLst/>
              <a:gdLst/>
              <a:ahLst/>
              <a:cxnLst/>
              <a:rect l="l" t="t" r="r" b="b"/>
              <a:pathLst>
                <a:path w="4318406" h="537347">
                  <a:moveTo>
                    <a:pt x="0" y="537347"/>
                  </a:moveTo>
                  <a:lnTo>
                    <a:pt x="4318406" y="0"/>
                  </a:lnTo>
                </a:path>
              </a:pathLst>
            </a:custGeom>
            <a:noFill/>
            <a:ln w="28575">
              <a:solidFill>
                <a:srgbClr val="78DFC5"/>
              </a:solidFill>
            </a:ln>
          </p:spPr>
        </p:sp>
        <p:sp>
          <p:nvSpPr>
            <p:cNvPr id="88" name="Line 88"/>
            <p:cNvSpPr/>
            <p:nvPr/>
          </p:nvSpPr>
          <p:spPr>
            <a:xfrm>
              <a:off x="6565240" y="3134350"/>
              <a:ext cx="4318406" cy="537347"/>
            </a:xfrm>
            <a:custGeom>
              <a:avLst/>
              <a:gdLst/>
              <a:ahLst/>
              <a:cxnLst/>
              <a:rect l="l" t="t" r="r" b="b"/>
              <a:pathLst>
                <a:path w="4318406" h="537347">
                  <a:moveTo>
                    <a:pt x="0" y="537347"/>
                  </a:moveTo>
                  <a:lnTo>
                    <a:pt x="4318406" y="0"/>
                  </a:lnTo>
                </a:path>
              </a:pathLst>
            </a:custGeom>
            <a:noFill/>
            <a:ln w="28575">
              <a:solidFill>
                <a:srgbClr val="78DFC5"/>
              </a:solidFill>
            </a:ln>
          </p:spPr>
        </p:sp>
        <p:sp>
          <p:nvSpPr>
            <p:cNvPr id="89" name="Line 89"/>
            <p:cNvSpPr/>
            <p:nvPr/>
          </p:nvSpPr>
          <p:spPr>
            <a:xfrm>
              <a:off x="6850532" y="3741786"/>
              <a:ext cx="4318406" cy="537347"/>
            </a:xfrm>
            <a:custGeom>
              <a:avLst/>
              <a:gdLst/>
              <a:ahLst/>
              <a:cxnLst/>
              <a:rect l="l" t="t" r="r" b="b"/>
              <a:pathLst>
                <a:path w="4318406" h="537347">
                  <a:moveTo>
                    <a:pt x="0" y="537347"/>
                  </a:moveTo>
                  <a:lnTo>
                    <a:pt x="4318406" y="0"/>
                  </a:lnTo>
                </a:path>
              </a:pathLst>
            </a:custGeom>
            <a:noFill/>
            <a:ln w="28575">
              <a:solidFill>
                <a:srgbClr val="78DFC5"/>
              </a:solidFill>
            </a:ln>
          </p:spPr>
        </p:sp>
        <p:sp>
          <p:nvSpPr>
            <p:cNvPr id="90" name="Line 90"/>
            <p:cNvSpPr/>
            <p:nvPr/>
          </p:nvSpPr>
          <p:spPr>
            <a:xfrm>
              <a:off x="7222388" y="3227977"/>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91" name="Ellipse 91"/>
            <p:cNvSpPr/>
            <p:nvPr/>
          </p:nvSpPr>
          <p:spPr>
            <a:xfrm>
              <a:off x="7060463" y="2923177"/>
              <a:ext cx="323850" cy="323850"/>
            </a:xfrm>
            <a:prstGeom prst="ellipse">
              <a:avLst/>
            </a:prstGeom>
            <a:solidFill>
              <a:srgbClr val="092E2B"/>
            </a:solidFill>
            <a:ln w="19050">
              <a:solidFill>
                <a:srgbClr val="78DFC5"/>
              </a:solidFill>
            </a:ln>
          </p:spPr>
        </p:sp>
        <p:sp>
          <p:nvSpPr>
            <p:cNvPr id="92" name="TextBox 92"/>
            <p:cNvSpPr txBox="1"/>
            <p:nvPr/>
          </p:nvSpPr>
          <p:spPr>
            <a:xfrm>
              <a:off x="7109917" y="2996519"/>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P0</a:t>
              </a:r>
            </a:p>
          </p:txBody>
        </p:sp>
        <p:sp>
          <p:nvSpPr>
            <p:cNvPr id="93" name="Line 93"/>
            <p:cNvSpPr/>
            <p:nvPr/>
          </p:nvSpPr>
          <p:spPr>
            <a:xfrm>
              <a:off x="8395868" y="3081959"/>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94" name="Ellipse 94"/>
            <p:cNvSpPr/>
            <p:nvPr/>
          </p:nvSpPr>
          <p:spPr>
            <a:xfrm>
              <a:off x="8233943" y="2777159"/>
              <a:ext cx="323850" cy="323850"/>
            </a:xfrm>
            <a:prstGeom prst="ellipse">
              <a:avLst/>
            </a:prstGeom>
            <a:solidFill>
              <a:srgbClr val="092E2B"/>
            </a:solidFill>
            <a:ln w="19050">
              <a:solidFill>
                <a:srgbClr val="78DFC5"/>
              </a:solidFill>
            </a:ln>
          </p:spPr>
        </p:sp>
        <p:sp>
          <p:nvSpPr>
            <p:cNvPr id="95" name="TextBox 95"/>
            <p:cNvSpPr txBox="1"/>
            <p:nvPr/>
          </p:nvSpPr>
          <p:spPr>
            <a:xfrm>
              <a:off x="8283397" y="2850501"/>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P1</a:t>
              </a:r>
            </a:p>
          </p:txBody>
        </p:sp>
        <p:sp>
          <p:nvSpPr>
            <p:cNvPr id="96" name="Line 96"/>
            <p:cNvSpPr/>
            <p:nvPr/>
          </p:nvSpPr>
          <p:spPr>
            <a:xfrm>
              <a:off x="9381592" y="2959303"/>
              <a:ext cx="9525" cy="361950"/>
            </a:xfrm>
            <a:custGeom>
              <a:avLst/>
              <a:gdLst/>
              <a:ahLst/>
              <a:cxnLst/>
              <a:rect l="l" t="t" r="r" b="b"/>
              <a:pathLst>
                <a:path w="9525" h="361950">
                  <a:moveTo>
                    <a:pt x="0" y="361950"/>
                  </a:moveTo>
                  <a:lnTo>
                    <a:pt x="0" y="0"/>
                  </a:lnTo>
                </a:path>
              </a:pathLst>
            </a:custGeom>
            <a:noFill/>
            <a:ln w="19050">
              <a:solidFill>
                <a:srgbClr val="F3C77B"/>
              </a:solidFill>
            </a:ln>
          </p:spPr>
        </p:sp>
        <p:sp>
          <p:nvSpPr>
            <p:cNvPr id="97" name="Ellipse 97"/>
            <p:cNvSpPr/>
            <p:nvPr/>
          </p:nvSpPr>
          <p:spPr>
            <a:xfrm>
              <a:off x="9219667" y="2654503"/>
              <a:ext cx="323850" cy="323850"/>
            </a:xfrm>
            <a:prstGeom prst="ellipse">
              <a:avLst/>
            </a:prstGeom>
            <a:solidFill>
              <a:srgbClr val="092E2B"/>
            </a:solidFill>
            <a:ln w="19050">
              <a:solidFill>
                <a:srgbClr val="F3C77B"/>
              </a:solidFill>
            </a:ln>
          </p:spPr>
        </p:sp>
        <p:sp>
          <p:nvSpPr>
            <p:cNvPr id="98" name="TextBox 98"/>
            <p:cNvSpPr txBox="1"/>
            <p:nvPr/>
          </p:nvSpPr>
          <p:spPr>
            <a:xfrm>
              <a:off x="9302725" y="2727846"/>
              <a:ext cx="157734" cy="264033"/>
            </a:xfrm>
            <a:prstGeom prst="rect">
              <a:avLst/>
            </a:prstGeom>
            <a:noFill/>
            <a:ln>
              <a:noFill/>
            </a:ln>
          </p:spPr>
          <p:txBody>
            <a:bodyPr wrap="none" lIns="0" tIns="0" rIns="0" bIns="0" anchor="t" anchorCtr="0">
              <a:spAutoFit/>
            </a:bodyPr>
            <a:lstStyle/>
            <a:p>
              <a:pPr algn="ctr"/>
              <a:r>
                <a:rPr lang="en-US" sz="1350" dirty="0">
                  <a:solidFill>
                    <a:srgbClr val="F3C77B"/>
                  </a:solidFill>
                  <a:latin typeface="+mn-lt"/>
                  <a:ea typeface="+mn-ea"/>
                  <a:cs typeface="+mn-cs"/>
                </a:rPr>
                <a:t>Q</a:t>
              </a:r>
            </a:p>
          </p:txBody>
        </p:sp>
        <p:sp>
          <p:nvSpPr>
            <p:cNvPr id="99" name="Rectangle 99"/>
            <p:cNvSpPr/>
            <p:nvPr/>
          </p:nvSpPr>
          <p:spPr>
            <a:xfrm>
              <a:off x="7699934" y="3453163"/>
              <a:ext cx="171450" cy="133350"/>
            </a:xfrm>
            <a:prstGeom prst="rect">
              <a:avLst/>
            </a:prstGeom>
            <a:solidFill>
              <a:srgbClr val="F3C77B"/>
            </a:solidFill>
            <a:ln>
              <a:noFill/>
            </a:ln>
          </p:spPr>
        </p:sp>
        <p:sp>
          <p:nvSpPr>
            <p:cNvPr id="100" name="Line 100"/>
            <p:cNvSpPr/>
            <p:nvPr/>
          </p:nvSpPr>
          <p:spPr>
            <a:xfrm>
              <a:off x="10085680" y="3233642"/>
              <a:ext cx="95250" cy="447675"/>
            </a:xfrm>
            <a:custGeom>
              <a:avLst/>
              <a:gdLst/>
              <a:ahLst/>
              <a:cxnLst/>
              <a:rect l="l" t="t" r="r" b="b"/>
              <a:pathLst>
                <a:path w="95250" h="447675">
                  <a:moveTo>
                    <a:pt x="0" y="0"/>
                  </a:moveTo>
                  <a:lnTo>
                    <a:pt x="95250" y="447675"/>
                  </a:lnTo>
                </a:path>
              </a:pathLst>
            </a:custGeom>
            <a:noFill/>
            <a:ln w="28575">
              <a:solidFill>
                <a:srgbClr val="F3C77B"/>
              </a:solidFill>
            </a:ln>
          </p:spPr>
        </p:sp>
        <p:sp>
          <p:nvSpPr>
            <p:cNvPr id="101" name="Line 101"/>
            <p:cNvSpPr/>
            <p:nvPr/>
          </p:nvSpPr>
          <p:spPr>
            <a:xfrm>
              <a:off x="10180930" y="3681317"/>
              <a:ext cx="247650" cy="9525"/>
            </a:xfrm>
            <a:custGeom>
              <a:avLst/>
              <a:gdLst/>
              <a:ahLst/>
              <a:cxnLst/>
              <a:rect l="l" t="t" r="r" b="b"/>
              <a:pathLst>
                <a:path w="247650" h="9525">
                  <a:moveTo>
                    <a:pt x="0" y="0"/>
                  </a:moveTo>
                  <a:lnTo>
                    <a:pt x="247650" y="0"/>
                  </a:lnTo>
                </a:path>
              </a:pathLst>
            </a:custGeom>
            <a:noFill/>
            <a:ln w="28575">
              <a:solidFill>
                <a:srgbClr val="F3C77B"/>
              </a:solidFill>
            </a:ln>
          </p:spPr>
        </p:sp>
        <p:sp>
          <p:nvSpPr>
            <p:cNvPr id="102" name="Rectangle 102"/>
            <p:cNvSpPr/>
            <p:nvPr/>
          </p:nvSpPr>
          <p:spPr>
            <a:xfrm>
              <a:off x="9109710" y="5006721"/>
              <a:ext cx="1171575" cy="742950"/>
            </a:xfrm>
            <a:prstGeom prst="roundRect">
              <a:avLst>
                <a:gd name="adj" fmla="val 7692"/>
              </a:avLst>
            </a:prstGeom>
            <a:solidFill>
              <a:srgbClr val="E7F2EA"/>
            </a:solidFill>
            <a:ln>
              <a:noFill/>
            </a:ln>
          </p:spPr>
        </p:sp>
        <p:sp>
          <p:nvSpPr>
            <p:cNvPr id="103" name="Rectangle 103"/>
            <p:cNvSpPr/>
            <p:nvPr/>
          </p:nvSpPr>
          <p:spPr>
            <a:xfrm>
              <a:off x="9204960" y="5101971"/>
              <a:ext cx="666750" cy="342900"/>
            </a:xfrm>
            <a:prstGeom prst="roundRect">
              <a:avLst>
                <a:gd name="adj" fmla="val 8333"/>
              </a:avLst>
            </a:prstGeom>
            <a:solidFill>
              <a:schemeClr val="accent1"/>
            </a:solidFill>
            <a:ln>
              <a:noFill/>
            </a:ln>
          </p:spPr>
        </p:sp>
        <p:sp>
          <p:nvSpPr>
            <p:cNvPr id="104" name="Ellipse 104"/>
            <p:cNvSpPr/>
            <p:nvPr/>
          </p:nvSpPr>
          <p:spPr>
            <a:xfrm>
              <a:off x="10005060" y="5140071"/>
              <a:ext cx="95250" cy="95250"/>
            </a:xfrm>
            <a:prstGeom prst="ellipse">
              <a:avLst/>
            </a:prstGeom>
            <a:solidFill>
              <a:srgbClr val="78DFC5"/>
            </a:solidFill>
            <a:ln>
              <a:noFill/>
            </a:ln>
          </p:spPr>
        </p:sp>
        <p:sp>
          <p:nvSpPr>
            <p:cNvPr id="105" name="Line 105"/>
            <p:cNvSpPr/>
            <p:nvPr/>
          </p:nvSpPr>
          <p:spPr>
            <a:xfrm>
              <a:off x="9300210" y="4787646"/>
              <a:ext cx="9525" cy="219075"/>
            </a:xfrm>
            <a:custGeom>
              <a:avLst/>
              <a:gdLst/>
              <a:ahLst/>
              <a:cxnLst/>
              <a:rect l="l" t="t" r="r" b="b"/>
              <a:pathLst>
                <a:path w="9525" h="219075">
                  <a:moveTo>
                    <a:pt x="0" y="219075"/>
                  </a:moveTo>
                  <a:lnTo>
                    <a:pt x="0" y="0"/>
                  </a:lnTo>
                </a:path>
              </a:pathLst>
            </a:custGeom>
            <a:noFill/>
            <a:ln w="28575">
              <a:solidFill>
                <a:srgbClr val="78DFC5"/>
              </a:solidFill>
            </a:ln>
          </p:spPr>
        </p:sp>
        <p:sp>
          <p:nvSpPr>
            <p:cNvPr id="106" name="TextBox 106"/>
            <p:cNvSpPr txBox="1"/>
            <p:nvPr/>
          </p:nvSpPr>
          <p:spPr>
            <a:xfrm>
              <a:off x="9227439" y="5515356"/>
              <a:ext cx="658368"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感知节点</a:t>
              </a:r>
            </a:p>
          </p:txBody>
        </p:sp>
        <p:sp>
          <p:nvSpPr>
            <p:cNvPr id="107" name="Line 107"/>
            <p:cNvSpPr/>
            <p:nvPr/>
          </p:nvSpPr>
          <p:spPr>
            <a:xfrm>
              <a:off x="8395868" y="3510584"/>
              <a:ext cx="866242" cy="1496137"/>
            </a:xfrm>
            <a:custGeom>
              <a:avLst/>
              <a:gdLst/>
              <a:ahLst/>
              <a:cxnLst/>
              <a:rect l="l" t="t" r="r" b="b"/>
              <a:pathLst>
                <a:path w="866242" h="1496137">
                  <a:moveTo>
                    <a:pt x="0" y="0"/>
                  </a:moveTo>
                  <a:lnTo>
                    <a:pt x="866242" y="1496137"/>
                  </a:lnTo>
                </a:path>
              </a:pathLst>
            </a:custGeom>
            <a:noFill/>
            <a:ln w="19050">
              <a:solidFill>
                <a:srgbClr val="78DFC5"/>
              </a:solidFill>
              <a:custDash>
                <a:ds d="300000" sp="250000"/>
              </a:custDash>
            </a:ln>
          </p:spPr>
        </p:sp>
        <p:sp>
          <p:nvSpPr>
            <p:cNvPr id="108" name="Rectangle 108"/>
            <p:cNvSpPr/>
            <p:nvPr/>
          </p:nvSpPr>
          <p:spPr>
            <a:xfrm>
              <a:off x="10450830" y="2503551"/>
              <a:ext cx="790575" cy="914400"/>
            </a:xfrm>
            <a:prstGeom prst="roundRect">
              <a:avLst>
                <a:gd name="adj" fmla="val 7229"/>
              </a:avLst>
            </a:prstGeom>
            <a:solidFill>
              <a:srgbClr val="CFDED7"/>
            </a:solidFill>
            <a:ln>
              <a:noFill/>
            </a:ln>
          </p:spPr>
        </p:sp>
        <p:sp>
          <p:nvSpPr>
            <p:cNvPr id="109" name="Rectangle 109"/>
            <p:cNvSpPr/>
            <p:nvPr/>
          </p:nvSpPr>
          <p:spPr>
            <a:xfrm>
              <a:off x="10593705" y="2694051"/>
              <a:ext cx="504825" cy="342900"/>
            </a:xfrm>
            <a:prstGeom prst="roundRect">
              <a:avLst>
                <a:gd name="adj" fmla="val 8333"/>
              </a:avLst>
            </a:prstGeom>
            <a:solidFill>
              <a:schemeClr val="accent1"/>
            </a:solidFill>
            <a:ln>
              <a:noFill/>
            </a:ln>
          </p:spPr>
        </p:sp>
        <p:sp>
          <p:nvSpPr>
            <p:cNvPr id="110" name="Line 110"/>
            <p:cNvSpPr/>
            <p:nvPr/>
          </p:nvSpPr>
          <p:spPr>
            <a:xfrm>
              <a:off x="10660380" y="2208276"/>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11" name="Line 111"/>
            <p:cNvSpPr/>
            <p:nvPr/>
          </p:nvSpPr>
          <p:spPr>
            <a:xfrm>
              <a:off x="11050905" y="2208276"/>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12" name="Ellipse 112"/>
            <p:cNvSpPr/>
            <p:nvPr/>
          </p:nvSpPr>
          <p:spPr>
            <a:xfrm>
              <a:off x="10793730" y="3151251"/>
              <a:ext cx="95250" cy="95250"/>
            </a:xfrm>
            <a:prstGeom prst="ellipse">
              <a:avLst/>
            </a:prstGeom>
            <a:solidFill>
              <a:schemeClr val="accent1"/>
            </a:solidFill>
            <a:ln>
              <a:noFill/>
            </a:ln>
          </p:spPr>
        </p:sp>
        <p:sp>
          <p:nvSpPr>
            <p:cNvPr id="113" name="TextBox 113"/>
            <p:cNvSpPr txBox="1"/>
            <p:nvPr/>
          </p:nvSpPr>
          <p:spPr>
            <a:xfrm>
              <a:off x="10447191" y="3567494"/>
              <a:ext cx="788327" cy="264033"/>
            </a:xfrm>
            <a:prstGeom prst="rect">
              <a:avLst/>
            </a:prstGeom>
            <a:noFill/>
            <a:ln>
              <a:noFill/>
            </a:ln>
          </p:spPr>
          <p:txBody>
            <a:bodyPr wrap="none" lIns="0" tIns="0" rIns="0" bIns="0" anchor="t" anchorCtr="0">
              <a:spAutoFit/>
            </a:bodyPr>
            <a:lstStyle/>
            <a:p>
              <a:pPr algn="ctr"/>
              <a:r>
                <a:rPr lang="zh-CN" sz="1350" dirty="0">
                  <a:solidFill>
                    <a:srgbClr val="E7F2EA"/>
                  </a:solidFill>
                  <a:latin typeface="+mn-lt"/>
                  <a:ea typeface="+mn-ea"/>
                  <a:cs typeface="+mn-cs"/>
                </a:rPr>
                <a:t>LoRa接收</a:t>
              </a:r>
            </a:p>
          </p:txBody>
        </p:sp>
        <p:sp>
          <p:nvSpPr>
            <p:cNvPr id="114" name="Line 114"/>
            <p:cNvSpPr/>
            <p:nvPr/>
          </p:nvSpPr>
          <p:spPr>
            <a:xfrm>
              <a:off x="10233660" y="3408426"/>
              <a:ext cx="550545" cy="1636395"/>
            </a:xfrm>
            <a:custGeom>
              <a:avLst/>
              <a:gdLst/>
              <a:ahLst/>
              <a:cxnLst/>
              <a:rect l="l" t="t" r="r" b="b"/>
              <a:pathLst>
                <a:path w="550545" h="1636395">
                  <a:moveTo>
                    <a:pt x="0" y="1636395"/>
                  </a:moveTo>
                  <a:lnTo>
                    <a:pt x="550545" y="0"/>
                  </a:lnTo>
                </a:path>
              </a:pathLst>
            </a:custGeom>
            <a:noFill/>
            <a:ln w="19050">
              <a:solidFill>
                <a:srgbClr val="78DFC5"/>
              </a:solidFill>
              <a:custDash>
                <a:ds d="350000" sp="300000"/>
              </a:custDash>
            </a:ln>
          </p:spPr>
        </p:sp>
        <p:sp>
          <p:nvSpPr>
            <p:cNvPr id="115" name="TextBox 115"/>
            <p:cNvSpPr txBox="1"/>
            <p:nvPr/>
          </p:nvSpPr>
          <p:spPr>
            <a:xfrm>
              <a:off x="7204415" y="5731192"/>
              <a:ext cx="2221821" cy="264033"/>
            </a:xfrm>
            <a:prstGeom prst="rect">
              <a:avLst/>
            </a:prstGeom>
            <a:noFill/>
            <a:ln>
              <a:noFill/>
            </a:ln>
          </p:spPr>
          <p:txBody>
            <a:bodyPr wrap="none" lIns="0" tIns="0" rIns="0" bIns="0" anchor="t" anchorCtr="0">
              <a:spAutoFit/>
            </a:bodyPr>
            <a:lstStyle/>
            <a:p>
              <a:pPr algn="ctr"/>
              <a:r>
                <a:rPr lang="zh-CN" sz="1350" dirty="0">
                  <a:solidFill>
                    <a:srgbClr val="78DFC5"/>
                  </a:solidFill>
                  <a:latin typeface="+mn-lt"/>
                  <a:ea typeface="+mn-ea"/>
                  <a:cs typeface="+mn-cs"/>
                </a:rPr>
                <a:t>方案概念模型 · 非现场照片</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092E2B"/>
            </a:gs>
          </a:gsLst>
          <a:lin ang="2700000" scaled="1"/>
        </a:gra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rgbClr val="78DFC5"/>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滴智卫 / 创新训练申报</a:t>
            </a:r>
          </a:p>
        </p:txBody>
      </p:sp>
      <p:sp>
        <p:nvSpPr>
          <p:cNvPr id="4" name="route-highlight"/>
          <p:cNvSpPr/>
          <p:nvPr/>
        </p:nvSpPr>
        <p:spPr>
          <a:xfrm>
            <a:off x="8239125" y="257175"/>
            <a:ext cx="619125" cy="295275"/>
          </a:xfrm>
          <a:prstGeom prst="roundRect">
            <a:avLst>
              <a:gd name="adj" fmla="val 12903"/>
            </a:avLst>
          </a:prstGeom>
          <a:solidFill>
            <a:srgbClr val="23554E"/>
          </a:solidFill>
          <a:ln>
            <a:noFill/>
          </a:ln>
        </p:spPr>
      </p:sp>
      <p:sp>
        <p:nvSpPr>
          <p:cNvPr id="5"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rgbClr val="78DFC5"/>
                </a:solidFill>
                <a:latin typeface="+mn-lt"/>
                <a:ea typeface="+mn-ea"/>
                <a:cs typeface="+mn-cs"/>
              </a:rPr>
              <a:t>场景</a:t>
            </a:r>
          </a:p>
        </p:txBody>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实施</a:t>
            </a:r>
          </a:p>
        </p:txBody>
      </p:sp>
      <p:grpSp>
        <p:nvGrpSpPr>
          <p:cNvPr id="10" name="page-title"/>
          <p:cNvGrpSpPr/>
          <p:nvPr/>
        </p:nvGrpSpPr>
        <p:grpSpPr>
          <a:xfrm>
            <a:off x="441198" y="860108"/>
            <a:ext cx="4696587" cy="616077"/>
            <a:chOff x="441198" y="860108"/>
            <a:chExt cx="4696587" cy="616077"/>
          </a:xfrm>
        </p:grpSpPr>
        <p:sp>
          <p:nvSpPr>
            <p:cNvPr id="9" name="TextBox 9"/>
            <p:cNvSpPr txBox="1"/>
            <p:nvPr/>
          </p:nvSpPr>
          <p:spPr>
            <a:xfrm>
              <a:off x="441198" y="860108"/>
              <a:ext cx="4696587"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看见变化，才能判断故障</a:t>
              </a:r>
            </a:p>
          </p:txBody>
        </p:sp>
      </p:grpSp>
      <p:sp>
        <p:nvSpPr>
          <p:cNvPr id="11" name="source-footer"/>
          <p:cNvSpPr txBox="1"/>
          <p:nvPr/>
        </p:nvSpPr>
        <p:spPr>
          <a:xfrm>
            <a:off x="451104" y="6404610"/>
            <a:ext cx="4696968"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研究对象：下游等效泄漏、支管等效受限；正常供压及切换为对照</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rgbClr val="B7CCC6"/>
                </a:solidFill>
                <a:latin typeface="+mn-lt"/>
                <a:ea typeface="+mn-ea"/>
                <a:cs typeface="+mn-cs"/>
              </a:rPr>
              <a:t>02/15</a:t>
            </a:r>
          </a:p>
        </p:txBody>
      </p:sp>
      <p:grpSp>
        <p:nvGrpSpPr>
          <p:cNvPr id="110" name="field-problem"/>
          <p:cNvGrpSpPr/>
          <p:nvPr/>
        </p:nvGrpSpPr>
        <p:grpSpPr>
          <a:xfrm>
            <a:off x="448056" y="1647825"/>
            <a:ext cx="6780848" cy="4558284"/>
            <a:chOff x="448056" y="1647825"/>
            <a:chExt cx="6780848" cy="4558284"/>
          </a:xfrm>
        </p:grpSpPr>
        <p:sp>
          <p:nvSpPr>
            <p:cNvPr id="13" name="Polygon 13"/>
            <p:cNvSpPr/>
            <p:nvPr/>
          </p:nvSpPr>
          <p:spPr>
            <a:xfrm>
              <a:off x="921925" y="2589276"/>
              <a:ext cx="6306979" cy="2473642"/>
            </a:xfrm>
            <a:custGeom>
              <a:avLst/>
              <a:gdLst/>
              <a:ahLst/>
              <a:cxnLst/>
              <a:rect l="l" t="t" r="r" b="b"/>
              <a:pathLst>
                <a:path w="6306979" h="2473642">
                  <a:moveTo>
                    <a:pt x="0" y="494728"/>
                  </a:moveTo>
                  <a:lnTo>
                    <a:pt x="5111972" y="0"/>
                  </a:lnTo>
                  <a:lnTo>
                    <a:pt x="6306979" y="1978914"/>
                  </a:lnTo>
                  <a:lnTo>
                    <a:pt x="1195006" y="2473642"/>
                  </a:lnTo>
                  <a:close/>
                </a:path>
              </a:pathLst>
            </a:custGeom>
            <a:solidFill>
              <a:srgbClr val="103B35"/>
            </a:solidFill>
            <a:ln>
              <a:noFill/>
            </a:ln>
          </p:spPr>
        </p:sp>
        <p:sp>
          <p:nvSpPr>
            <p:cNvPr id="14" name="Polygon 14"/>
            <p:cNvSpPr/>
            <p:nvPr/>
          </p:nvSpPr>
          <p:spPr>
            <a:xfrm>
              <a:off x="921925" y="2408301"/>
              <a:ext cx="6306979" cy="2473642"/>
            </a:xfrm>
            <a:custGeom>
              <a:avLst/>
              <a:gdLst/>
              <a:ahLst/>
              <a:cxnLst/>
              <a:rect l="l" t="t" r="r" b="b"/>
              <a:pathLst>
                <a:path w="6306979" h="2473642">
                  <a:moveTo>
                    <a:pt x="0" y="494728"/>
                  </a:moveTo>
                  <a:lnTo>
                    <a:pt x="5111972" y="0"/>
                  </a:lnTo>
                  <a:lnTo>
                    <a:pt x="6306979" y="1978914"/>
                  </a:lnTo>
                  <a:lnTo>
                    <a:pt x="1195006" y="2473642"/>
                  </a:lnTo>
                  <a:close/>
                </a:path>
              </a:pathLst>
            </a:custGeom>
            <a:solidFill>
              <a:srgbClr val="215749"/>
            </a:solidFill>
            <a:ln w="19050">
              <a:solidFill>
                <a:srgbClr val="437966"/>
              </a:solidFill>
            </a:ln>
          </p:spPr>
        </p:sp>
        <p:sp>
          <p:nvSpPr>
            <p:cNvPr id="15" name="Line 15"/>
            <p:cNvSpPr/>
            <p:nvPr/>
          </p:nvSpPr>
          <p:spPr>
            <a:xfrm>
              <a:off x="1218685" y="2665560"/>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16" name="Ellipse 16"/>
            <p:cNvSpPr/>
            <p:nvPr/>
          </p:nvSpPr>
          <p:spPr>
            <a:xfrm>
              <a:off x="1544138" y="3020541"/>
              <a:ext cx="64770" cy="64770"/>
            </a:xfrm>
            <a:prstGeom prst="ellipse">
              <a:avLst/>
            </a:prstGeom>
            <a:solidFill>
              <a:srgbClr val="8EAF7A"/>
            </a:solidFill>
            <a:ln>
              <a:noFill/>
            </a:ln>
          </p:spPr>
        </p:sp>
        <p:sp>
          <p:nvSpPr>
            <p:cNvPr id="17" name="Ellipse 17"/>
            <p:cNvSpPr/>
            <p:nvPr/>
          </p:nvSpPr>
          <p:spPr>
            <a:xfrm>
              <a:off x="2157574" y="2961174"/>
              <a:ext cx="64770" cy="64770"/>
            </a:xfrm>
            <a:prstGeom prst="ellipse">
              <a:avLst/>
            </a:prstGeom>
            <a:solidFill>
              <a:srgbClr val="8EAF7A"/>
            </a:solidFill>
            <a:ln>
              <a:noFill/>
            </a:ln>
          </p:spPr>
        </p:sp>
        <p:sp>
          <p:nvSpPr>
            <p:cNvPr id="18" name="Ellipse 18"/>
            <p:cNvSpPr/>
            <p:nvPr/>
          </p:nvSpPr>
          <p:spPr>
            <a:xfrm>
              <a:off x="2771011" y="2901806"/>
              <a:ext cx="64770" cy="64770"/>
            </a:xfrm>
            <a:prstGeom prst="ellipse">
              <a:avLst/>
            </a:prstGeom>
            <a:solidFill>
              <a:srgbClr val="8EAF7A"/>
            </a:solidFill>
            <a:ln>
              <a:noFill/>
            </a:ln>
          </p:spPr>
        </p:sp>
        <p:sp>
          <p:nvSpPr>
            <p:cNvPr id="19" name="Ellipse 19"/>
            <p:cNvSpPr/>
            <p:nvPr/>
          </p:nvSpPr>
          <p:spPr>
            <a:xfrm>
              <a:off x="3384448" y="2842439"/>
              <a:ext cx="64770" cy="64770"/>
            </a:xfrm>
            <a:prstGeom prst="ellipse">
              <a:avLst/>
            </a:prstGeom>
            <a:solidFill>
              <a:srgbClr val="8EAF7A"/>
            </a:solidFill>
            <a:ln>
              <a:noFill/>
            </a:ln>
          </p:spPr>
        </p:sp>
        <p:sp>
          <p:nvSpPr>
            <p:cNvPr id="20" name="Ellipse 20"/>
            <p:cNvSpPr/>
            <p:nvPr/>
          </p:nvSpPr>
          <p:spPr>
            <a:xfrm>
              <a:off x="3997884" y="2783072"/>
              <a:ext cx="64770" cy="64770"/>
            </a:xfrm>
            <a:prstGeom prst="ellipse">
              <a:avLst/>
            </a:prstGeom>
            <a:solidFill>
              <a:srgbClr val="8EAF7A"/>
            </a:solidFill>
            <a:ln>
              <a:noFill/>
            </a:ln>
          </p:spPr>
        </p:sp>
        <p:sp>
          <p:nvSpPr>
            <p:cNvPr id="21" name="Ellipse 21"/>
            <p:cNvSpPr/>
            <p:nvPr/>
          </p:nvSpPr>
          <p:spPr>
            <a:xfrm>
              <a:off x="4611321" y="2723704"/>
              <a:ext cx="64770" cy="64770"/>
            </a:xfrm>
            <a:prstGeom prst="ellipse">
              <a:avLst/>
            </a:prstGeom>
            <a:solidFill>
              <a:srgbClr val="8EAF7A"/>
            </a:solidFill>
            <a:ln>
              <a:noFill/>
            </a:ln>
          </p:spPr>
        </p:sp>
        <p:sp>
          <p:nvSpPr>
            <p:cNvPr id="22" name="Ellipse 22"/>
            <p:cNvSpPr/>
            <p:nvPr/>
          </p:nvSpPr>
          <p:spPr>
            <a:xfrm>
              <a:off x="5224758" y="2664337"/>
              <a:ext cx="64770" cy="64770"/>
            </a:xfrm>
            <a:prstGeom prst="ellipse">
              <a:avLst/>
            </a:prstGeom>
            <a:solidFill>
              <a:srgbClr val="8EAF7A"/>
            </a:solidFill>
            <a:ln>
              <a:noFill/>
            </a:ln>
          </p:spPr>
        </p:sp>
        <p:sp>
          <p:nvSpPr>
            <p:cNvPr id="23" name="Ellipse 23"/>
            <p:cNvSpPr/>
            <p:nvPr/>
          </p:nvSpPr>
          <p:spPr>
            <a:xfrm>
              <a:off x="5838194" y="2604969"/>
              <a:ext cx="64770" cy="64770"/>
            </a:xfrm>
            <a:prstGeom prst="ellipse">
              <a:avLst/>
            </a:prstGeom>
            <a:solidFill>
              <a:srgbClr val="8EAF7A"/>
            </a:solidFill>
            <a:ln>
              <a:noFill/>
            </a:ln>
          </p:spPr>
        </p:sp>
        <p:sp>
          <p:nvSpPr>
            <p:cNvPr id="24" name="Line 24"/>
            <p:cNvSpPr/>
            <p:nvPr/>
          </p:nvSpPr>
          <p:spPr>
            <a:xfrm>
              <a:off x="1374036" y="2922819"/>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25" name="Ellipse 25"/>
            <p:cNvSpPr/>
            <p:nvPr/>
          </p:nvSpPr>
          <p:spPr>
            <a:xfrm>
              <a:off x="1699489" y="3277800"/>
              <a:ext cx="64770" cy="64770"/>
            </a:xfrm>
            <a:prstGeom prst="ellipse">
              <a:avLst/>
            </a:prstGeom>
            <a:solidFill>
              <a:srgbClr val="8EAF7A"/>
            </a:solidFill>
            <a:ln>
              <a:noFill/>
            </a:ln>
          </p:spPr>
        </p:sp>
        <p:sp>
          <p:nvSpPr>
            <p:cNvPr id="26" name="Ellipse 26"/>
            <p:cNvSpPr/>
            <p:nvPr/>
          </p:nvSpPr>
          <p:spPr>
            <a:xfrm>
              <a:off x="2312925" y="3218433"/>
              <a:ext cx="64770" cy="64770"/>
            </a:xfrm>
            <a:prstGeom prst="ellipse">
              <a:avLst/>
            </a:prstGeom>
            <a:solidFill>
              <a:srgbClr val="8EAF7A"/>
            </a:solidFill>
            <a:ln>
              <a:noFill/>
            </a:ln>
          </p:spPr>
        </p:sp>
        <p:sp>
          <p:nvSpPr>
            <p:cNvPr id="27" name="Ellipse 27"/>
            <p:cNvSpPr/>
            <p:nvPr/>
          </p:nvSpPr>
          <p:spPr>
            <a:xfrm>
              <a:off x="2926362" y="3159065"/>
              <a:ext cx="64770" cy="64770"/>
            </a:xfrm>
            <a:prstGeom prst="ellipse">
              <a:avLst/>
            </a:prstGeom>
            <a:solidFill>
              <a:srgbClr val="8EAF7A"/>
            </a:solidFill>
            <a:ln>
              <a:noFill/>
            </a:ln>
          </p:spPr>
        </p:sp>
        <p:sp>
          <p:nvSpPr>
            <p:cNvPr id="28" name="Ellipse 28"/>
            <p:cNvSpPr/>
            <p:nvPr/>
          </p:nvSpPr>
          <p:spPr>
            <a:xfrm>
              <a:off x="3539799" y="3099698"/>
              <a:ext cx="64770" cy="64770"/>
            </a:xfrm>
            <a:prstGeom prst="ellipse">
              <a:avLst/>
            </a:prstGeom>
            <a:solidFill>
              <a:srgbClr val="8EAF7A"/>
            </a:solidFill>
            <a:ln>
              <a:noFill/>
            </a:ln>
          </p:spPr>
        </p:sp>
        <p:sp>
          <p:nvSpPr>
            <p:cNvPr id="29" name="Ellipse 29"/>
            <p:cNvSpPr/>
            <p:nvPr/>
          </p:nvSpPr>
          <p:spPr>
            <a:xfrm>
              <a:off x="4153235" y="3040330"/>
              <a:ext cx="64770" cy="64770"/>
            </a:xfrm>
            <a:prstGeom prst="ellipse">
              <a:avLst/>
            </a:prstGeom>
            <a:solidFill>
              <a:srgbClr val="8EAF7A"/>
            </a:solidFill>
            <a:ln>
              <a:noFill/>
            </a:ln>
          </p:spPr>
        </p:sp>
        <p:sp>
          <p:nvSpPr>
            <p:cNvPr id="30" name="Ellipse 30"/>
            <p:cNvSpPr/>
            <p:nvPr/>
          </p:nvSpPr>
          <p:spPr>
            <a:xfrm>
              <a:off x="4766672" y="2980963"/>
              <a:ext cx="64770" cy="64770"/>
            </a:xfrm>
            <a:prstGeom prst="ellipse">
              <a:avLst/>
            </a:prstGeom>
            <a:solidFill>
              <a:srgbClr val="8EAF7A"/>
            </a:solidFill>
            <a:ln>
              <a:noFill/>
            </a:ln>
          </p:spPr>
        </p:sp>
        <p:sp>
          <p:nvSpPr>
            <p:cNvPr id="31" name="Ellipse 31"/>
            <p:cNvSpPr/>
            <p:nvPr/>
          </p:nvSpPr>
          <p:spPr>
            <a:xfrm>
              <a:off x="5380109" y="2921596"/>
              <a:ext cx="64770" cy="64770"/>
            </a:xfrm>
            <a:prstGeom prst="ellipse">
              <a:avLst/>
            </a:prstGeom>
            <a:solidFill>
              <a:srgbClr val="8EAF7A"/>
            </a:solidFill>
            <a:ln>
              <a:noFill/>
            </a:ln>
          </p:spPr>
        </p:sp>
        <p:sp>
          <p:nvSpPr>
            <p:cNvPr id="32" name="Ellipse 32"/>
            <p:cNvSpPr/>
            <p:nvPr/>
          </p:nvSpPr>
          <p:spPr>
            <a:xfrm>
              <a:off x="5993545" y="2862228"/>
              <a:ext cx="64770" cy="64770"/>
            </a:xfrm>
            <a:prstGeom prst="ellipse">
              <a:avLst/>
            </a:prstGeom>
            <a:solidFill>
              <a:srgbClr val="8EAF7A"/>
            </a:solidFill>
            <a:ln>
              <a:noFill/>
            </a:ln>
          </p:spPr>
        </p:sp>
        <p:sp>
          <p:nvSpPr>
            <p:cNvPr id="33" name="Line 33"/>
            <p:cNvSpPr/>
            <p:nvPr/>
          </p:nvSpPr>
          <p:spPr>
            <a:xfrm>
              <a:off x="1529386" y="3180077"/>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34" name="Ellipse 34"/>
            <p:cNvSpPr/>
            <p:nvPr/>
          </p:nvSpPr>
          <p:spPr>
            <a:xfrm>
              <a:off x="1854839" y="3535059"/>
              <a:ext cx="64770" cy="64770"/>
            </a:xfrm>
            <a:prstGeom prst="ellipse">
              <a:avLst/>
            </a:prstGeom>
            <a:solidFill>
              <a:srgbClr val="8EAF7A"/>
            </a:solidFill>
            <a:ln>
              <a:noFill/>
            </a:ln>
          </p:spPr>
        </p:sp>
        <p:sp>
          <p:nvSpPr>
            <p:cNvPr id="35" name="Ellipse 35"/>
            <p:cNvSpPr/>
            <p:nvPr/>
          </p:nvSpPr>
          <p:spPr>
            <a:xfrm>
              <a:off x="2468276" y="3475692"/>
              <a:ext cx="64770" cy="64770"/>
            </a:xfrm>
            <a:prstGeom prst="ellipse">
              <a:avLst/>
            </a:prstGeom>
            <a:solidFill>
              <a:srgbClr val="8EAF7A"/>
            </a:solidFill>
            <a:ln>
              <a:noFill/>
            </a:ln>
          </p:spPr>
        </p:sp>
        <p:sp>
          <p:nvSpPr>
            <p:cNvPr id="36" name="Ellipse 36"/>
            <p:cNvSpPr/>
            <p:nvPr/>
          </p:nvSpPr>
          <p:spPr>
            <a:xfrm>
              <a:off x="3081713" y="3416324"/>
              <a:ext cx="64770" cy="64770"/>
            </a:xfrm>
            <a:prstGeom prst="ellipse">
              <a:avLst/>
            </a:prstGeom>
            <a:solidFill>
              <a:srgbClr val="8EAF7A"/>
            </a:solidFill>
            <a:ln>
              <a:noFill/>
            </a:ln>
          </p:spPr>
        </p:sp>
        <p:sp>
          <p:nvSpPr>
            <p:cNvPr id="37" name="Ellipse 37"/>
            <p:cNvSpPr/>
            <p:nvPr/>
          </p:nvSpPr>
          <p:spPr>
            <a:xfrm>
              <a:off x="3695149" y="3356957"/>
              <a:ext cx="64770" cy="64770"/>
            </a:xfrm>
            <a:prstGeom prst="ellipse">
              <a:avLst/>
            </a:prstGeom>
            <a:solidFill>
              <a:srgbClr val="8EAF7A"/>
            </a:solidFill>
            <a:ln>
              <a:noFill/>
            </a:ln>
          </p:spPr>
        </p:sp>
        <p:sp>
          <p:nvSpPr>
            <p:cNvPr id="38" name="Ellipse 38"/>
            <p:cNvSpPr/>
            <p:nvPr/>
          </p:nvSpPr>
          <p:spPr>
            <a:xfrm>
              <a:off x="4308586" y="3297589"/>
              <a:ext cx="64770" cy="64770"/>
            </a:xfrm>
            <a:prstGeom prst="ellipse">
              <a:avLst/>
            </a:prstGeom>
            <a:solidFill>
              <a:srgbClr val="8EAF7A"/>
            </a:solidFill>
            <a:ln>
              <a:noFill/>
            </a:ln>
          </p:spPr>
        </p:sp>
        <p:sp>
          <p:nvSpPr>
            <p:cNvPr id="39" name="Ellipse 39"/>
            <p:cNvSpPr/>
            <p:nvPr/>
          </p:nvSpPr>
          <p:spPr>
            <a:xfrm>
              <a:off x="4922023" y="3238222"/>
              <a:ext cx="64770" cy="64770"/>
            </a:xfrm>
            <a:prstGeom prst="ellipse">
              <a:avLst/>
            </a:prstGeom>
            <a:solidFill>
              <a:srgbClr val="8EAF7A"/>
            </a:solidFill>
            <a:ln>
              <a:noFill/>
            </a:ln>
          </p:spPr>
        </p:sp>
        <p:sp>
          <p:nvSpPr>
            <p:cNvPr id="40" name="Ellipse 40"/>
            <p:cNvSpPr/>
            <p:nvPr/>
          </p:nvSpPr>
          <p:spPr>
            <a:xfrm>
              <a:off x="5535459" y="3178854"/>
              <a:ext cx="64770" cy="64770"/>
            </a:xfrm>
            <a:prstGeom prst="ellipse">
              <a:avLst/>
            </a:prstGeom>
            <a:solidFill>
              <a:srgbClr val="8EAF7A"/>
            </a:solidFill>
            <a:ln>
              <a:noFill/>
            </a:ln>
          </p:spPr>
        </p:sp>
        <p:sp>
          <p:nvSpPr>
            <p:cNvPr id="41" name="Ellipse 41"/>
            <p:cNvSpPr/>
            <p:nvPr/>
          </p:nvSpPr>
          <p:spPr>
            <a:xfrm>
              <a:off x="6148896" y="3119487"/>
              <a:ext cx="64770" cy="64770"/>
            </a:xfrm>
            <a:prstGeom prst="ellipse">
              <a:avLst/>
            </a:prstGeom>
            <a:solidFill>
              <a:srgbClr val="8EAF7A"/>
            </a:solidFill>
            <a:ln>
              <a:noFill/>
            </a:ln>
          </p:spPr>
        </p:sp>
        <p:sp>
          <p:nvSpPr>
            <p:cNvPr id="42" name="Line 42"/>
            <p:cNvSpPr/>
            <p:nvPr/>
          </p:nvSpPr>
          <p:spPr>
            <a:xfrm>
              <a:off x="1684737" y="3437336"/>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43" name="Ellipse 43"/>
            <p:cNvSpPr/>
            <p:nvPr/>
          </p:nvSpPr>
          <p:spPr>
            <a:xfrm>
              <a:off x="2010190" y="3792318"/>
              <a:ext cx="64770" cy="64770"/>
            </a:xfrm>
            <a:prstGeom prst="ellipse">
              <a:avLst/>
            </a:prstGeom>
            <a:solidFill>
              <a:srgbClr val="8EAF7A"/>
            </a:solidFill>
            <a:ln>
              <a:noFill/>
            </a:ln>
          </p:spPr>
        </p:sp>
        <p:sp>
          <p:nvSpPr>
            <p:cNvPr id="44" name="Ellipse 44"/>
            <p:cNvSpPr/>
            <p:nvPr/>
          </p:nvSpPr>
          <p:spPr>
            <a:xfrm>
              <a:off x="2623627" y="3732950"/>
              <a:ext cx="64770" cy="64770"/>
            </a:xfrm>
            <a:prstGeom prst="ellipse">
              <a:avLst/>
            </a:prstGeom>
            <a:solidFill>
              <a:srgbClr val="8EAF7A"/>
            </a:solidFill>
            <a:ln>
              <a:noFill/>
            </a:ln>
          </p:spPr>
        </p:sp>
        <p:sp>
          <p:nvSpPr>
            <p:cNvPr id="45" name="Ellipse 45"/>
            <p:cNvSpPr/>
            <p:nvPr/>
          </p:nvSpPr>
          <p:spPr>
            <a:xfrm>
              <a:off x="3237064" y="3673583"/>
              <a:ext cx="64770" cy="64770"/>
            </a:xfrm>
            <a:prstGeom prst="ellipse">
              <a:avLst/>
            </a:prstGeom>
            <a:solidFill>
              <a:srgbClr val="8EAF7A"/>
            </a:solidFill>
            <a:ln>
              <a:noFill/>
            </a:ln>
          </p:spPr>
        </p:sp>
        <p:sp>
          <p:nvSpPr>
            <p:cNvPr id="46" name="Ellipse 46"/>
            <p:cNvSpPr/>
            <p:nvPr/>
          </p:nvSpPr>
          <p:spPr>
            <a:xfrm>
              <a:off x="3850500" y="3614216"/>
              <a:ext cx="64770" cy="64770"/>
            </a:xfrm>
            <a:prstGeom prst="ellipse">
              <a:avLst/>
            </a:prstGeom>
            <a:solidFill>
              <a:srgbClr val="8EAF7A"/>
            </a:solidFill>
            <a:ln>
              <a:noFill/>
            </a:ln>
          </p:spPr>
        </p:sp>
        <p:sp>
          <p:nvSpPr>
            <p:cNvPr id="47" name="Ellipse 47"/>
            <p:cNvSpPr/>
            <p:nvPr/>
          </p:nvSpPr>
          <p:spPr>
            <a:xfrm>
              <a:off x="4463937" y="3554848"/>
              <a:ext cx="64770" cy="64770"/>
            </a:xfrm>
            <a:prstGeom prst="ellipse">
              <a:avLst/>
            </a:prstGeom>
            <a:solidFill>
              <a:srgbClr val="8EAF7A"/>
            </a:solidFill>
            <a:ln>
              <a:noFill/>
            </a:ln>
          </p:spPr>
        </p:sp>
        <p:sp>
          <p:nvSpPr>
            <p:cNvPr id="48" name="Ellipse 48"/>
            <p:cNvSpPr/>
            <p:nvPr/>
          </p:nvSpPr>
          <p:spPr>
            <a:xfrm>
              <a:off x="5077374" y="3495481"/>
              <a:ext cx="64770" cy="64770"/>
            </a:xfrm>
            <a:prstGeom prst="ellipse">
              <a:avLst/>
            </a:prstGeom>
            <a:solidFill>
              <a:srgbClr val="8EAF7A"/>
            </a:solidFill>
            <a:ln>
              <a:noFill/>
            </a:ln>
          </p:spPr>
        </p:sp>
        <p:sp>
          <p:nvSpPr>
            <p:cNvPr id="49" name="Ellipse 49"/>
            <p:cNvSpPr/>
            <p:nvPr/>
          </p:nvSpPr>
          <p:spPr>
            <a:xfrm>
              <a:off x="5690810" y="3436113"/>
              <a:ext cx="64770" cy="64770"/>
            </a:xfrm>
            <a:prstGeom prst="ellipse">
              <a:avLst/>
            </a:prstGeom>
            <a:solidFill>
              <a:srgbClr val="8EAF7A"/>
            </a:solidFill>
            <a:ln>
              <a:noFill/>
            </a:ln>
          </p:spPr>
        </p:sp>
        <p:sp>
          <p:nvSpPr>
            <p:cNvPr id="50" name="Ellipse 50"/>
            <p:cNvSpPr/>
            <p:nvPr/>
          </p:nvSpPr>
          <p:spPr>
            <a:xfrm>
              <a:off x="6304247" y="3376746"/>
              <a:ext cx="64770" cy="64770"/>
            </a:xfrm>
            <a:prstGeom prst="ellipse">
              <a:avLst/>
            </a:prstGeom>
            <a:solidFill>
              <a:srgbClr val="8EAF7A"/>
            </a:solidFill>
            <a:ln>
              <a:noFill/>
            </a:ln>
          </p:spPr>
        </p:sp>
        <p:sp>
          <p:nvSpPr>
            <p:cNvPr id="51" name="Line 51"/>
            <p:cNvSpPr/>
            <p:nvPr/>
          </p:nvSpPr>
          <p:spPr>
            <a:xfrm>
              <a:off x="1840088" y="3694595"/>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52" name="Ellipse 52"/>
            <p:cNvSpPr/>
            <p:nvPr/>
          </p:nvSpPr>
          <p:spPr>
            <a:xfrm>
              <a:off x="2165541" y="4049577"/>
              <a:ext cx="64770" cy="64770"/>
            </a:xfrm>
            <a:prstGeom prst="ellipse">
              <a:avLst/>
            </a:prstGeom>
            <a:solidFill>
              <a:srgbClr val="8EAF7A"/>
            </a:solidFill>
            <a:ln>
              <a:noFill/>
            </a:ln>
          </p:spPr>
        </p:sp>
        <p:sp>
          <p:nvSpPr>
            <p:cNvPr id="53" name="Ellipse 53"/>
            <p:cNvSpPr/>
            <p:nvPr/>
          </p:nvSpPr>
          <p:spPr>
            <a:xfrm>
              <a:off x="2778978" y="3990209"/>
              <a:ext cx="64770" cy="64770"/>
            </a:xfrm>
            <a:prstGeom prst="ellipse">
              <a:avLst/>
            </a:prstGeom>
            <a:solidFill>
              <a:srgbClr val="8EAF7A"/>
            </a:solidFill>
            <a:ln>
              <a:noFill/>
            </a:ln>
          </p:spPr>
        </p:sp>
        <p:sp>
          <p:nvSpPr>
            <p:cNvPr id="54" name="Ellipse 54"/>
            <p:cNvSpPr/>
            <p:nvPr/>
          </p:nvSpPr>
          <p:spPr>
            <a:xfrm>
              <a:off x="3392414" y="3930842"/>
              <a:ext cx="64770" cy="64770"/>
            </a:xfrm>
            <a:prstGeom prst="ellipse">
              <a:avLst/>
            </a:prstGeom>
            <a:solidFill>
              <a:srgbClr val="8EAF7A"/>
            </a:solidFill>
            <a:ln>
              <a:noFill/>
            </a:ln>
          </p:spPr>
        </p:sp>
        <p:sp>
          <p:nvSpPr>
            <p:cNvPr id="55" name="Ellipse 55"/>
            <p:cNvSpPr/>
            <p:nvPr/>
          </p:nvSpPr>
          <p:spPr>
            <a:xfrm>
              <a:off x="4005851" y="3871474"/>
              <a:ext cx="64770" cy="64770"/>
            </a:xfrm>
            <a:prstGeom prst="ellipse">
              <a:avLst/>
            </a:prstGeom>
            <a:solidFill>
              <a:srgbClr val="8EAF7A"/>
            </a:solidFill>
            <a:ln>
              <a:noFill/>
            </a:ln>
          </p:spPr>
        </p:sp>
        <p:sp>
          <p:nvSpPr>
            <p:cNvPr id="56" name="Ellipse 56"/>
            <p:cNvSpPr/>
            <p:nvPr/>
          </p:nvSpPr>
          <p:spPr>
            <a:xfrm>
              <a:off x="4619288" y="3812107"/>
              <a:ext cx="64770" cy="64770"/>
            </a:xfrm>
            <a:prstGeom prst="ellipse">
              <a:avLst/>
            </a:prstGeom>
            <a:solidFill>
              <a:srgbClr val="8EAF7A"/>
            </a:solidFill>
            <a:ln>
              <a:noFill/>
            </a:ln>
          </p:spPr>
        </p:sp>
        <p:sp>
          <p:nvSpPr>
            <p:cNvPr id="57" name="Ellipse 57"/>
            <p:cNvSpPr/>
            <p:nvPr/>
          </p:nvSpPr>
          <p:spPr>
            <a:xfrm>
              <a:off x="5232724" y="3752740"/>
              <a:ext cx="64770" cy="64770"/>
            </a:xfrm>
            <a:prstGeom prst="ellipse">
              <a:avLst/>
            </a:prstGeom>
            <a:solidFill>
              <a:srgbClr val="8EAF7A"/>
            </a:solidFill>
            <a:ln>
              <a:noFill/>
            </a:ln>
          </p:spPr>
        </p:sp>
        <p:sp>
          <p:nvSpPr>
            <p:cNvPr id="58" name="Ellipse 58"/>
            <p:cNvSpPr/>
            <p:nvPr/>
          </p:nvSpPr>
          <p:spPr>
            <a:xfrm>
              <a:off x="5846161" y="3693372"/>
              <a:ext cx="64770" cy="64770"/>
            </a:xfrm>
            <a:prstGeom prst="ellipse">
              <a:avLst/>
            </a:prstGeom>
            <a:solidFill>
              <a:srgbClr val="8EAF7A"/>
            </a:solidFill>
            <a:ln>
              <a:noFill/>
            </a:ln>
          </p:spPr>
        </p:sp>
        <p:sp>
          <p:nvSpPr>
            <p:cNvPr id="59" name="Ellipse 59"/>
            <p:cNvSpPr/>
            <p:nvPr/>
          </p:nvSpPr>
          <p:spPr>
            <a:xfrm>
              <a:off x="6459598" y="3634005"/>
              <a:ext cx="64770" cy="64770"/>
            </a:xfrm>
            <a:prstGeom prst="ellipse">
              <a:avLst/>
            </a:prstGeom>
            <a:solidFill>
              <a:srgbClr val="8EAF7A"/>
            </a:solidFill>
            <a:ln>
              <a:noFill/>
            </a:ln>
          </p:spPr>
        </p:sp>
        <p:sp>
          <p:nvSpPr>
            <p:cNvPr id="60" name="Line 60"/>
            <p:cNvSpPr/>
            <p:nvPr/>
          </p:nvSpPr>
          <p:spPr>
            <a:xfrm>
              <a:off x="1995439" y="3951854"/>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61" name="Ellipse 61"/>
            <p:cNvSpPr/>
            <p:nvPr/>
          </p:nvSpPr>
          <p:spPr>
            <a:xfrm>
              <a:off x="2320892" y="4306835"/>
              <a:ext cx="64770" cy="64770"/>
            </a:xfrm>
            <a:prstGeom prst="ellipse">
              <a:avLst/>
            </a:prstGeom>
            <a:solidFill>
              <a:srgbClr val="8EAF7A"/>
            </a:solidFill>
            <a:ln>
              <a:noFill/>
            </a:ln>
          </p:spPr>
        </p:sp>
        <p:sp>
          <p:nvSpPr>
            <p:cNvPr id="62" name="Ellipse 62"/>
            <p:cNvSpPr/>
            <p:nvPr/>
          </p:nvSpPr>
          <p:spPr>
            <a:xfrm>
              <a:off x="2934329" y="4247468"/>
              <a:ext cx="64770" cy="64770"/>
            </a:xfrm>
            <a:prstGeom prst="ellipse">
              <a:avLst/>
            </a:prstGeom>
            <a:solidFill>
              <a:srgbClr val="8EAF7A"/>
            </a:solidFill>
            <a:ln>
              <a:noFill/>
            </a:ln>
          </p:spPr>
        </p:sp>
        <p:sp>
          <p:nvSpPr>
            <p:cNvPr id="63" name="Ellipse 63"/>
            <p:cNvSpPr/>
            <p:nvPr/>
          </p:nvSpPr>
          <p:spPr>
            <a:xfrm>
              <a:off x="3547765" y="4188101"/>
              <a:ext cx="64770" cy="64770"/>
            </a:xfrm>
            <a:prstGeom prst="ellipse">
              <a:avLst/>
            </a:prstGeom>
            <a:solidFill>
              <a:srgbClr val="8EAF7A"/>
            </a:solidFill>
            <a:ln>
              <a:noFill/>
            </a:ln>
          </p:spPr>
        </p:sp>
        <p:sp>
          <p:nvSpPr>
            <p:cNvPr id="64" name="Ellipse 64"/>
            <p:cNvSpPr/>
            <p:nvPr/>
          </p:nvSpPr>
          <p:spPr>
            <a:xfrm>
              <a:off x="4161202" y="4128733"/>
              <a:ext cx="64770" cy="64770"/>
            </a:xfrm>
            <a:prstGeom prst="ellipse">
              <a:avLst/>
            </a:prstGeom>
            <a:solidFill>
              <a:srgbClr val="8EAF7A"/>
            </a:solidFill>
            <a:ln>
              <a:noFill/>
            </a:ln>
          </p:spPr>
        </p:sp>
        <p:sp>
          <p:nvSpPr>
            <p:cNvPr id="65" name="Ellipse 65"/>
            <p:cNvSpPr/>
            <p:nvPr/>
          </p:nvSpPr>
          <p:spPr>
            <a:xfrm>
              <a:off x="4774639" y="4069366"/>
              <a:ext cx="64770" cy="64770"/>
            </a:xfrm>
            <a:prstGeom prst="ellipse">
              <a:avLst/>
            </a:prstGeom>
            <a:solidFill>
              <a:srgbClr val="8EAF7A"/>
            </a:solidFill>
            <a:ln>
              <a:noFill/>
            </a:ln>
          </p:spPr>
        </p:sp>
        <p:sp>
          <p:nvSpPr>
            <p:cNvPr id="66" name="Ellipse 66"/>
            <p:cNvSpPr/>
            <p:nvPr/>
          </p:nvSpPr>
          <p:spPr>
            <a:xfrm>
              <a:off x="5388075" y="4009998"/>
              <a:ext cx="64770" cy="64770"/>
            </a:xfrm>
            <a:prstGeom prst="ellipse">
              <a:avLst/>
            </a:prstGeom>
            <a:solidFill>
              <a:srgbClr val="8EAF7A"/>
            </a:solidFill>
            <a:ln>
              <a:noFill/>
            </a:ln>
          </p:spPr>
        </p:sp>
        <p:sp>
          <p:nvSpPr>
            <p:cNvPr id="67" name="Ellipse 67"/>
            <p:cNvSpPr/>
            <p:nvPr/>
          </p:nvSpPr>
          <p:spPr>
            <a:xfrm>
              <a:off x="6001512" y="3950631"/>
              <a:ext cx="64770" cy="64770"/>
            </a:xfrm>
            <a:prstGeom prst="ellipse">
              <a:avLst/>
            </a:prstGeom>
            <a:solidFill>
              <a:srgbClr val="8EAF7A"/>
            </a:solidFill>
            <a:ln>
              <a:noFill/>
            </a:ln>
          </p:spPr>
        </p:sp>
        <p:sp>
          <p:nvSpPr>
            <p:cNvPr id="68" name="Ellipse 68"/>
            <p:cNvSpPr/>
            <p:nvPr/>
          </p:nvSpPr>
          <p:spPr>
            <a:xfrm>
              <a:off x="6614949" y="3891263"/>
              <a:ext cx="64770" cy="64770"/>
            </a:xfrm>
            <a:prstGeom prst="ellipse">
              <a:avLst/>
            </a:prstGeom>
            <a:solidFill>
              <a:srgbClr val="8EAF7A"/>
            </a:solidFill>
            <a:ln>
              <a:noFill/>
            </a:ln>
          </p:spPr>
        </p:sp>
        <p:sp>
          <p:nvSpPr>
            <p:cNvPr id="69" name="Line 69"/>
            <p:cNvSpPr/>
            <p:nvPr/>
          </p:nvSpPr>
          <p:spPr>
            <a:xfrm>
              <a:off x="2150790" y="4209113"/>
              <a:ext cx="4754134" cy="460098"/>
            </a:xfrm>
            <a:custGeom>
              <a:avLst/>
              <a:gdLst/>
              <a:ahLst/>
              <a:cxnLst/>
              <a:rect l="l" t="t" r="r" b="b"/>
              <a:pathLst>
                <a:path w="4754134" h="460098">
                  <a:moveTo>
                    <a:pt x="0" y="460098"/>
                  </a:moveTo>
                  <a:lnTo>
                    <a:pt x="4754134" y="0"/>
                  </a:lnTo>
                </a:path>
              </a:pathLst>
            </a:custGeom>
            <a:noFill/>
            <a:ln w="47625">
              <a:solidFill>
                <a:srgbClr val="4F8165"/>
              </a:solidFill>
            </a:ln>
          </p:spPr>
        </p:sp>
        <p:sp>
          <p:nvSpPr>
            <p:cNvPr id="70" name="Ellipse 70"/>
            <p:cNvSpPr/>
            <p:nvPr/>
          </p:nvSpPr>
          <p:spPr>
            <a:xfrm>
              <a:off x="2476243" y="4564094"/>
              <a:ext cx="64770" cy="64770"/>
            </a:xfrm>
            <a:prstGeom prst="ellipse">
              <a:avLst/>
            </a:prstGeom>
            <a:solidFill>
              <a:srgbClr val="8EAF7A"/>
            </a:solidFill>
            <a:ln>
              <a:noFill/>
            </a:ln>
          </p:spPr>
        </p:sp>
        <p:sp>
          <p:nvSpPr>
            <p:cNvPr id="71" name="Ellipse 71"/>
            <p:cNvSpPr/>
            <p:nvPr/>
          </p:nvSpPr>
          <p:spPr>
            <a:xfrm>
              <a:off x="3089679" y="4504727"/>
              <a:ext cx="64770" cy="64770"/>
            </a:xfrm>
            <a:prstGeom prst="ellipse">
              <a:avLst/>
            </a:prstGeom>
            <a:solidFill>
              <a:srgbClr val="8EAF7A"/>
            </a:solidFill>
            <a:ln>
              <a:noFill/>
            </a:ln>
          </p:spPr>
        </p:sp>
        <p:sp>
          <p:nvSpPr>
            <p:cNvPr id="72" name="Ellipse 72"/>
            <p:cNvSpPr/>
            <p:nvPr/>
          </p:nvSpPr>
          <p:spPr>
            <a:xfrm>
              <a:off x="3703116" y="4445359"/>
              <a:ext cx="64770" cy="64770"/>
            </a:xfrm>
            <a:prstGeom prst="ellipse">
              <a:avLst/>
            </a:prstGeom>
            <a:solidFill>
              <a:srgbClr val="8EAF7A"/>
            </a:solidFill>
            <a:ln>
              <a:noFill/>
            </a:ln>
          </p:spPr>
        </p:sp>
        <p:sp>
          <p:nvSpPr>
            <p:cNvPr id="73" name="Ellipse 73"/>
            <p:cNvSpPr/>
            <p:nvPr/>
          </p:nvSpPr>
          <p:spPr>
            <a:xfrm>
              <a:off x="4316553" y="4385992"/>
              <a:ext cx="64770" cy="64770"/>
            </a:xfrm>
            <a:prstGeom prst="ellipse">
              <a:avLst/>
            </a:prstGeom>
            <a:solidFill>
              <a:srgbClr val="8EAF7A"/>
            </a:solidFill>
            <a:ln>
              <a:noFill/>
            </a:ln>
          </p:spPr>
        </p:sp>
        <p:sp>
          <p:nvSpPr>
            <p:cNvPr id="74" name="Ellipse 74"/>
            <p:cNvSpPr/>
            <p:nvPr/>
          </p:nvSpPr>
          <p:spPr>
            <a:xfrm>
              <a:off x="4929990" y="4326625"/>
              <a:ext cx="64770" cy="64770"/>
            </a:xfrm>
            <a:prstGeom prst="ellipse">
              <a:avLst/>
            </a:prstGeom>
            <a:solidFill>
              <a:srgbClr val="8EAF7A"/>
            </a:solidFill>
            <a:ln>
              <a:noFill/>
            </a:ln>
          </p:spPr>
        </p:sp>
        <p:sp>
          <p:nvSpPr>
            <p:cNvPr id="75" name="Ellipse 75"/>
            <p:cNvSpPr/>
            <p:nvPr/>
          </p:nvSpPr>
          <p:spPr>
            <a:xfrm>
              <a:off x="5543426" y="4267257"/>
              <a:ext cx="64770" cy="64770"/>
            </a:xfrm>
            <a:prstGeom prst="ellipse">
              <a:avLst/>
            </a:prstGeom>
            <a:solidFill>
              <a:srgbClr val="8EAF7A"/>
            </a:solidFill>
            <a:ln>
              <a:noFill/>
            </a:ln>
          </p:spPr>
        </p:sp>
        <p:sp>
          <p:nvSpPr>
            <p:cNvPr id="76" name="Ellipse 76"/>
            <p:cNvSpPr/>
            <p:nvPr/>
          </p:nvSpPr>
          <p:spPr>
            <a:xfrm>
              <a:off x="6156863" y="4207890"/>
              <a:ext cx="64770" cy="64770"/>
            </a:xfrm>
            <a:prstGeom prst="ellipse">
              <a:avLst/>
            </a:prstGeom>
            <a:solidFill>
              <a:srgbClr val="8EAF7A"/>
            </a:solidFill>
            <a:ln>
              <a:noFill/>
            </a:ln>
          </p:spPr>
        </p:sp>
        <p:sp>
          <p:nvSpPr>
            <p:cNvPr id="77" name="Ellipse 77"/>
            <p:cNvSpPr/>
            <p:nvPr/>
          </p:nvSpPr>
          <p:spPr>
            <a:xfrm>
              <a:off x="6770300" y="4148522"/>
              <a:ext cx="64770" cy="64770"/>
            </a:xfrm>
            <a:prstGeom prst="ellipse">
              <a:avLst/>
            </a:prstGeom>
            <a:solidFill>
              <a:srgbClr val="8EAF7A"/>
            </a:solidFill>
            <a:ln>
              <a:noFill/>
            </a:ln>
          </p:spPr>
        </p:sp>
        <p:sp>
          <p:nvSpPr>
            <p:cNvPr id="78" name="Line 78"/>
            <p:cNvSpPr/>
            <p:nvPr/>
          </p:nvSpPr>
          <p:spPr>
            <a:xfrm>
              <a:off x="1222004" y="3041553"/>
              <a:ext cx="1027706" cy="1701866"/>
            </a:xfrm>
            <a:custGeom>
              <a:avLst/>
              <a:gdLst/>
              <a:ahLst/>
              <a:cxnLst/>
              <a:rect l="l" t="t" r="r" b="b"/>
              <a:pathLst>
                <a:path w="1027706" h="1701866">
                  <a:moveTo>
                    <a:pt x="0" y="0"/>
                  </a:moveTo>
                  <a:lnTo>
                    <a:pt x="1027706" y="1701866"/>
                  </a:lnTo>
                </a:path>
              </a:pathLst>
            </a:custGeom>
            <a:noFill/>
            <a:ln w="66675">
              <a:solidFill>
                <a:srgbClr val="78DFC5"/>
              </a:solidFill>
            </a:ln>
          </p:spPr>
        </p:sp>
        <p:sp>
          <p:nvSpPr>
            <p:cNvPr id="79" name="Line 79"/>
            <p:cNvSpPr/>
            <p:nvPr/>
          </p:nvSpPr>
          <p:spPr>
            <a:xfrm>
              <a:off x="1425155" y="2922819"/>
              <a:ext cx="4703014" cy="455150"/>
            </a:xfrm>
            <a:custGeom>
              <a:avLst/>
              <a:gdLst/>
              <a:ahLst/>
              <a:cxnLst/>
              <a:rect l="l" t="t" r="r" b="b"/>
              <a:pathLst>
                <a:path w="4703014" h="455150">
                  <a:moveTo>
                    <a:pt x="0" y="455150"/>
                  </a:moveTo>
                  <a:lnTo>
                    <a:pt x="4703014" y="0"/>
                  </a:lnTo>
                </a:path>
              </a:pathLst>
            </a:custGeom>
            <a:noFill/>
            <a:ln w="28575">
              <a:solidFill>
                <a:srgbClr val="78DFC5"/>
              </a:solidFill>
            </a:ln>
          </p:spPr>
        </p:sp>
        <p:sp>
          <p:nvSpPr>
            <p:cNvPr id="80" name="Line 80"/>
            <p:cNvSpPr/>
            <p:nvPr/>
          </p:nvSpPr>
          <p:spPr>
            <a:xfrm>
              <a:off x="1735857" y="3437336"/>
              <a:ext cx="4703014" cy="455150"/>
            </a:xfrm>
            <a:custGeom>
              <a:avLst/>
              <a:gdLst/>
              <a:ahLst/>
              <a:cxnLst/>
              <a:rect l="l" t="t" r="r" b="b"/>
              <a:pathLst>
                <a:path w="4703014" h="455150">
                  <a:moveTo>
                    <a:pt x="0" y="455150"/>
                  </a:moveTo>
                  <a:lnTo>
                    <a:pt x="4703014" y="0"/>
                  </a:lnTo>
                </a:path>
              </a:pathLst>
            </a:custGeom>
            <a:noFill/>
            <a:ln w="28575">
              <a:solidFill>
                <a:srgbClr val="78DFC5"/>
              </a:solidFill>
            </a:ln>
          </p:spPr>
        </p:sp>
        <p:sp>
          <p:nvSpPr>
            <p:cNvPr id="81" name="Line 81"/>
            <p:cNvSpPr/>
            <p:nvPr/>
          </p:nvSpPr>
          <p:spPr>
            <a:xfrm>
              <a:off x="2046559" y="3951854"/>
              <a:ext cx="4703014" cy="455150"/>
            </a:xfrm>
            <a:custGeom>
              <a:avLst/>
              <a:gdLst/>
              <a:ahLst/>
              <a:cxnLst/>
              <a:rect l="l" t="t" r="r" b="b"/>
              <a:pathLst>
                <a:path w="4703014" h="455150">
                  <a:moveTo>
                    <a:pt x="0" y="455150"/>
                  </a:moveTo>
                  <a:lnTo>
                    <a:pt x="4703014" y="0"/>
                  </a:lnTo>
                </a:path>
              </a:pathLst>
            </a:custGeom>
            <a:noFill/>
            <a:ln w="28575">
              <a:solidFill>
                <a:srgbClr val="78DFC5"/>
              </a:solidFill>
            </a:ln>
          </p:spPr>
        </p:sp>
        <p:sp>
          <p:nvSpPr>
            <p:cNvPr id="82" name="Line 82"/>
            <p:cNvSpPr/>
            <p:nvPr/>
          </p:nvSpPr>
          <p:spPr>
            <a:xfrm>
              <a:off x="2451533" y="3461275"/>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83" name="Ellipse 83"/>
            <p:cNvSpPr/>
            <p:nvPr/>
          </p:nvSpPr>
          <p:spPr>
            <a:xfrm>
              <a:off x="2289608" y="3156475"/>
              <a:ext cx="323850" cy="323850"/>
            </a:xfrm>
            <a:prstGeom prst="ellipse">
              <a:avLst/>
            </a:prstGeom>
            <a:solidFill>
              <a:srgbClr val="092E2B"/>
            </a:solidFill>
            <a:ln w="19050">
              <a:solidFill>
                <a:srgbClr val="78DFC5"/>
              </a:solidFill>
            </a:ln>
          </p:spPr>
        </p:sp>
        <p:sp>
          <p:nvSpPr>
            <p:cNvPr id="84" name="TextBox 84"/>
            <p:cNvSpPr txBox="1"/>
            <p:nvPr/>
          </p:nvSpPr>
          <p:spPr>
            <a:xfrm>
              <a:off x="2339062" y="3229817"/>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P0</a:t>
              </a:r>
            </a:p>
          </p:txBody>
        </p:sp>
        <p:sp>
          <p:nvSpPr>
            <p:cNvPr id="85" name="Line 85"/>
            <p:cNvSpPr/>
            <p:nvPr/>
          </p:nvSpPr>
          <p:spPr>
            <a:xfrm>
              <a:off x="3729526" y="3337592"/>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86" name="Ellipse 86"/>
            <p:cNvSpPr/>
            <p:nvPr/>
          </p:nvSpPr>
          <p:spPr>
            <a:xfrm>
              <a:off x="3567601" y="3032792"/>
              <a:ext cx="323850" cy="323850"/>
            </a:xfrm>
            <a:prstGeom prst="ellipse">
              <a:avLst/>
            </a:prstGeom>
            <a:solidFill>
              <a:srgbClr val="092E2B"/>
            </a:solidFill>
            <a:ln w="19050">
              <a:solidFill>
                <a:srgbClr val="78DFC5"/>
              </a:solidFill>
            </a:ln>
          </p:spPr>
        </p:sp>
        <p:sp>
          <p:nvSpPr>
            <p:cNvPr id="87" name="TextBox 87"/>
            <p:cNvSpPr txBox="1"/>
            <p:nvPr/>
          </p:nvSpPr>
          <p:spPr>
            <a:xfrm>
              <a:off x="3617055" y="3106135"/>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P1</a:t>
              </a:r>
            </a:p>
          </p:txBody>
        </p:sp>
        <p:sp>
          <p:nvSpPr>
            <p:cNvPr id="88" name="Line 88"/>
            <p:cNvSpPr/>
            <p:nvPr/>
          </p:nvSpPr>
          <p:spPr>
            <a:xfrm>
              <a:off x="4803040" y="3233699"/>
              <a:ext cx="9525" cy="361950"/>
            </a:xfrm>
            <a:custGeom>
              <a:avLst/>
              <a:gdLst/>
              <a:ahLst/>
              <a:cxnLst/>
              <a:rect l="l" t="t" r="r" b="b"/>
              <a:pathLst>
                <a:path w="9525" h="361950">
                  <a:moveTo>
                    <a:pt x="0" y="361950"/>
                  </a:moveTo>
                  <a:lnTo>
                    <a:pt x="0" y="0"/>
                  </a:lnTo>
                </a:path>
              </a:pathLst>
            </a:custGeom>
            <a:noFill/>
            <a:ln w="19050">
              <a:solidFill>
                <a:srgbClr val="F3C77B"/>
              </a:solidFill>
            </a:ln>
          </p:spPr>
        </p:sp>
        <p:sp>
          <p:nvSpPr>
            <p:cNvPr id="89" name="Ellipse 89"/>
            <p:cNvSpPr/>
            <p:nvPr/>
          </p:nvSpPr>
          <p:spPr>
            <a:xfrm>
              <a:off x="4641115" y="2928899"/>
              <a:ext cx="323850" cy="323850"/>
            </a:xfrm>
            <a:prstGeom prst="ellipse">
              <a:avLst/>
            </a:prstGeom>
            <a:solidFill>
              <a:srgbClr val="092E2B"/>
            </a:solidFill>
            <a:ln w="19050">
              <a:solidFill>
                <a:srgbClr val="F3C77B"/>
              </a:solidFill>
            </a:ln>
          </p:spPr>
        </p:sp>
        <p:sp>
          <p:nvSpPr>
            <p:cNvPr id="90" name="TextBox 90"/>
            <p:cNvSpPr txBox="1"/>
            <p:nvPr/>
          </p:nvSpPr>
          <p:spPr>
            <a:xfrm>
              <a:off x="4724173" y="3002242"/>
              <a:ext cx="157734" cy="264033"/>
            </a:xfrm>
            <a:prstGeom prst="rect">
              <a:avLst/>
            </a:prstGeom>
            <a:noFill/>
            <a:ln>
              <a:noFill/>
            </a:ln>
          </p:spPr>
          <p:txBody>
            <a:bodyPr wrap="none" lIns="0" tIns="0" rIns="0" bIns="0" anchor="t" anchorCtr="0">
              <a:spAutoFit/>
            </a:bodyPr>
            <a:lstStyle/>
            <a:p>
              <a:pPr algn="ctr"/>
              <a:r>
                <a:rPr lang="en-US" sz="1350" dirty="0">
                  <a:solidFill>
                    <a:srgbClr val="F3C77B"/>
                  </a:solidFill>
                  <a:latin typeface="+mn-lt"/>
                  <a:ea typeface="+mn-ea"/>
                  <a:cs typeface="+mn-cs"/>
                </a:rPr>
                <a:t>Q</a:t>
              </a:r>
            </a:p>
          </p:txBody>
        </p:sp>
        <p:sp>
          <p:nvSpPr>
            <p:cNvPr id="91" name="Rectangle 91"/>
            <p:cNvSpPr/>
            <p:nvPr/>
          </p:nvSpPr>
          <p:spPr>
            <a:xfrm>
              <a:off x="2979245" y="3697182"/>
              <a:ext cx="171450" cy="133350"/>
            </a:xfrm>
            <a:prstGeom prst="rect">
              <a:avLst/>
            </a:prstGeom>
            <a:solidFill>
              <a:srgbClr val="F3C77B"/>
            </a:solidFill>
            <a:ln>
              <a:noFill/>
            </a:ln>
          </p:spPr>
        </p:sp>
        <p:sp>
          <p:nvSpPr>
            <p:cNvPr id="92" name="Line 92"/>
            <p:cNvSpPr/>
            <p:nvPr/>
          </p:nvSpPr>
          <p:spPr>
            <a:xfrm>
              <a:off x="5569836" y="3521440"/>
              <a:ext cx="95250" cy="447675"/>
            </a:xfrm>
            <a:custGeom>
              <a:avLst/>
              <a:gdLst/>
              <a:ahLst/>
              <a:cxnLst/>
              <a:rect l="l" t="t" r="r" b="b"/>
              <a:pathLst>
                <a:path w="95250" h="447675">
                  <a:moveTo>
                    <a:pt x="0" y="0"/>
                  </a:moveTo>
                  <a:lnTo>
                    <a:pt x="95250" y="447675"/>
                  </a:lnTo>
                </a:path>
              </a:pathLst>
            </a:custGeom>
            <a:noFill/>
            <a:ln w="28575">
              <a:solidFill>
                <a:srgbClr val="F3C77B"/>
              </a:solidFill>
            </a:ln>
          </p:spPr>
        </p:sp>
        <p:sp>
          <p:nvSpPr>
            <p:cNvPr id="93" name="Line 93"/>
            <p:cNvSpPr/>
            <p:nvPr/>
          </p:nvSpPr>
          <p:spPr>
            <a:xfrm>
              <a:off x="5665086" y="3969115"/>
              <a:ext cx="247650" cy="9525"/>
            </a:xfrm>
            <a:custGeom>
              <a:avLst/>
              <a:gdLst/>
              <a:ahLst/>
              <a:cxnLst/>
              <a:rect l="l" t="t" r="r" b="b"/>
              <a:pathLst>
                <a:path w="247650" h="9525">
                  <a:moveTo>
                    <a:pt x="0" y="0"/>
                  </a:moveTo>
                  <a:lnTo>
                    <a:pt x="247650" y="0"/>
                  </a:lnTo>
                </a:path>
              </a:pathLst>
            </a:custGeom>
            <a:noFill/>
            <a:ln w="28575">
              <a:solidFill>
                <a:srgbClr val="F3C77B"/>
              </a:solidFill>
            </a:ln>
          </p:spPr>
        </p:sp>
        <p:sp>
          <p:nvSpPr>
            <p:cNvPr id="94" name="Rectangle 94"/>
            <p:cNvSpPr/>
            <p:nvPr/>
          </p:nvSpPr>
          <p:spPr>
            <a:xfrm>
              <a:off x="4506944" y="5023294"/>
              <a:ext cx="1171575" cy="742950"/>
            </a:xfrm>
            <a:prstGeom prst="roundRect">
              <a:avLst>
                <a:gd name="adj" fmla="val 7692"/>
              </a:avLst>
            </a:prstGeom>
            <a:solidFill>
              <a:srgbClr val="E7F2EA"/>
            </a:solidFill>
            <a:ln>
              <a:noFill/>
            </a:ln>
          </p:spPr>
        </p:sp>
        <p:sp>
          <p:nvSpPr>
            <p:cNvPr id="95" name="Rectangle 95"/>
            <p:cNvSpPr/>
            <p:nvPr/>
          </p:nvSpPr>
          <p:spPr>
            <a:xfrm>
              <a:off x="4602194" y="5118544"/>
              <a:ext cx="666750" cy="342900"/>
            </a:xfrm>
            <a:prstGeom prst="roundRect">
              <a:avLst>
                <a:gd name="adj" fmla="val 8333"/>
              </a:avLst>
            </a:prstGeom>
            <a:solidFill>
              <a:schemeClr val="accent1"/>
            </a:solidFill>
            <a:ln>
              <a:noFill/>
            </a:ln>
          </p:spPr>
        </p:sp>
        <p:sp>
          <p:nvSpPr>
            <p:cNvPr id="96" name="Ellipse 96"/>
            <p:cNvSpPr/>
            <p:nvPr/>
          </p:nvSpPr>
          <p:spPr>
            <a:xfrm>
              <a:off x="5402294" y="5156644"/>
              <a:ext cx="95250" cy="95250"/>
            </a:xfrm>
            <a:prstGeom prst="ellipse">
              <a:avLst/>
            </a:prstGeom>
            <a:solidFill>
              <a:srgbClr val="78DFC5"/>
            </a:solidFill>
            <a:ln>
              <a:noFill/>
            </a:ln>
          </p:spPr>
        </p:sp>
        <p:sp>
          <p:nvSpPr>
            <p:cNvPr id="97" name="Line 97"/>
            <p:cNvSpPr/>
            <p:nvPr/>
          </p:nvSpPr>
          <p:spPr>
            <a:xfrm>
              <a:off x="4697444" y="4804220"/>
              <a:ext cx="9525" cy="219075"/>
            </a:xfrm>
            <a:custGeom>
              <a:avLst/>
              <a:gdLst/>
              <a:ahLst/>
              <a:cxnLst/>
              <a:rect l="l" t="t" r="r" b="b"/>
              <a:pathLst>
                <a:path w="9525" h="219075">
                  <a:moveTo>
                    <a:pt x="0" y="219075"/>
                  </a:moveTo>
                  <a:lnTo>
                    <a:pt x="0" y="0"/>
                  </a:lnTo>
                </a:path>
              </a:pathLst>
            </a:custGeom>
            <a:noFill/>
            <a:ln w="28575">
              <a:solidFill>
                <a:srgbClr val="78DFC5"/>
              </a:solidFill>
            </a:ln>
          </p:spPr>
        </p:sp>
        <p:sp>
          <p:nvSpPr>
            <p:cNvPr id="98" name="TextBox 98"/>
            <p:cNvSpPr txBox="1"/>
            <p:nvPr/>
          </p:nvSpPr>
          <p:spPr>
            <a:xfrm>
              <a:off x="4624673" y="5531930"/>
              <a:ext cx="658368"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感知节点</a:t>
              </a:r>
            </a:p>
          </p:txBody>
        </p:sp>
        <p:sp>
          <p:nvSpPr>
            <p:cNvPr id="99" name="Line 99"/>
            <p:cNvSpPr/>
            <p:nvPr/>
          </p:nvSpPr>
          <p:spPr>
            <a:xfrm>
              <a:off x="3729526" y="3766217"/>
              <a:ext cx="929818" cy="1257077"/>
            </a:xfrm>
            <a:custGeom>
              <a:avLst/>
              <a:gdLst/>
              <a:ahLst/>
              <a:cxnLst/>
              <a:rect l="l" t="t" r="r" b="b"/>
              <a:pathLst>
                <a:path w="929818" h="1257077">
                  <a:moveTo>
                    <a:pt x="0" y="0"/>
                  </a:moveTo>
                  <a:lnTo>
                    <a:pt x="929818" y="1257077"/>
                  </a:lnTo>
                </a:path>
              </a:pathLst>
            </a:custGeom>
            <a:noFill/>
            <a:ln w="19050">
              <a:solidFill>
                <a:srgbClr val="78DFC5"/>
              </a:solidFill>
              <a:custDash>
                <a:ds d="300000" sp="250000"/>
              </a:custDash>
            </a:ln>
          </p:spPr>
        </p:sp>
        <p:sp>
          <p:nvSpPr>
            <p:cNvPr id="100" name="Rectangle 100"/>
            <p:cNvSpPr/>
            <p:nvPr/>
          </p:nvSpPr>
          <p:spPr>
            <a:xfrm>
              <a:off x="5967508" y="2903029"/>
              <a:ext cx="790575" cy="914400"/>
            </a:xfrm>
            <a:prstGeom prst="roundRect">
              <a:avLst>
                <a:gd name="adj" fmla="val 7229"/>
              </a:avLst>
            </a:prstGeom>
            <a:solidFill>
              <a:srgbClr val="CFDED7"/>
            </a:solidFill>
            <a:ln>
              <a:noFill/>
            </a:ln>
          </p:spPr>
        </p:sp>
        <p:sp>
          <p:nvSpPr>
            <p:cNvPr id="101" name="Rectangle 101"/>
            <p:cNvSpPr/>
            <p:nvPr/>
          </p:nvSpPr>
          <p:spPr>
            <a:xfrm>
              <a:off x="6110383" y="3093529"/>
              <a:ext cx="504825" cy="342900"/>
            </a:xfrm>
            <a:prstGeom prst="roundRect">
              <a:avLst>
                <a:gd name="adj" fmla="val 8333"/>
              </a:avLst>
            </a:prstGeom>
            <a:solidFill>
              <a:schemeClr val="accent1"/>
            </a:solidFill>
            <a:ln>
              <a:noFill/>
            </a:ln>
          </p:spPr>
        </p:sp>
        <p:sp>
          <p:nvSpPr>
            <p:cNvPr id="102" name="Line 102"/>
            <p:cNvSpPr/>
            <p:nvPr/>
          </p:nvSpPr>
          <p:spPr>
            <a:xfrm>
              <a:off x="6177058" y="2607754"/>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03" name="Line 103"/>
            <p:cNvSpPr/>
            <p:nvPr/>
          </p:nvSpPr>
          <p:spPr>
            <a:xfrm>
              <a:off x="6567583" y="2607754"/>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04" name="Ellipse 104"/>
            <p:cNvSpPr/>
            <p:nvPr/>
          </p:nvSpPr>
          <p:spPr>
            <a:xfrm>
              <a:off x="6310408" y="3550729"/>
              <a:ext cx="95250" cy="95250"/>
            </a:xfrm>
            <a:prstGeom prst="ellipse">
              <a:avLst/>
            </a:prstGeom>
            <a:solidFill>
              <a:schemeClr val="accent1"/>
            </a:solidFill>
            <a:ln>
              <a:noFill/>
            </a:ln>
          </p:spPr>
        </p:sp>
        <p:sp>
          <p:nvSpPr>
            <p:cNvPr id="105" name="TextBox 105"/>
            <p:cNvSpPr txBox="1"/>
            <p:nvPr/>
          </p:nvSpPr>
          <p:spPr>
            <a:xfrm>
              <a:off x="5963869" y="3966972"/>
              <a:ext cx="788327" cy="264033"/>
            </a:xfrm>
            <a:prstGeom prst="rect">
              <a:avLst/>
            </a:prstGeom>
            <a:noFill/>
            <a:ln>
              <a:noFill/>
            </a:ln>
          </p:spPr>
          <p:txBody>
            <a:bodyPr wrap="none" lIns="0" tIns="0" rIns="0" bIns="0" anchor="t" anchorCtr="0">
              <a:spAutoFit/>
            </a:bodyPr>
            <a:lstStyle/>
            <a:p>
              <a:pPr algn="ctr"/>
              <a:r>
                <a:rPr lang="zh-CN" sz="1350" dirty="0">
                  <a:solidFill>
                    <a:srgbClr val="E7F2EA"/>
                  </a:solidFill>
                  <a:latin typeface="+mn-lt"/>
                  <a:ea typeface="+mn-ea"/>
                  <a:cs typeface="+mn-cs"/>
                </a:rPr>
                <a:t>LoRa接收</a:t>
              </a:r>
            </a:p>
          </p:txBody>
        </p:sp>
        <p:sp>
          <p:nvSpPr>
            <p:cNvPr id="106" name="Line 106"/>
            <p:cNvSpPr/>
            <p:nvPr/>
          </p:nvSpPr>
          <p:spPr>
            <a:xfrm>
              <a:off x="5630894" y="3807904"/>
              <a:ext cx="669988" cy="1253490"/>
            </a:xfrm>
            <a:custGeom>
              <a:avLst/>
              <a:gdLst/>
              <a:ahLst/>
              <a:cxnLst/>
              <a:rect l="l" t="t" r="r" b="b"/>
              <a:pathLst>
                <a:path w="669988" h="1253490">
                  <a:moveTo>
                    <a:pt x="0" y="1253490"/>
                  </a:moveTo>
                  <a:lnTo>
                    <a:pt x="669988" y="0"/>
                  </a:lnTo>
                </a:path>
              </a:pathLst>
            </a:custGeom>
            <a:noFill/>
            <a:ln w="19050">
              <a:solidFill>
                <a:srgbClr val="78DFC5"/>
              </a:solidFill>
              <a:custDash>
                <a:ds d="350000" sp="300000"/>
              </a:custDash>
            </a:ln>
          </p:spPr>
        </p:sp>
        <p:sp>
          <p:nvSpPr>
            <p:cNvPr id="107" name="Rectangle 107"/>
            <p:cNvSpPr/>
            <p:nvPr/>
          </p:nvSpPr>
          <p:spPr>
            <a:xfrm>
              <a:off x="457200" y="1647825"/>
              <a:ext cx="3581400" cy="295275"/>
            </a:xfrm>
            <a:prstGeom prst="roundRect">
              <a:avLst>
                <a:gd name="adj" fmla="val 12903"/>
              </a:avLst>
            </a:prstGeom>
            <a:solidFill>
              <a:srgbClr val="092E2B"/>
            </a:solidFill>
            <a:ln>
              <a:noFill/>
            </a:ln>
          </p:spPr>
        </p:sp>
        <p:sp>
          <p:nvSpPr>
            <p:cNvPr id="108" name="TextBox 108"/>
            <p:cNvSpPr txBox="1"/>
            <p:nvPr/>
          </p:nvSpPr>
          <p:spPr>
            <a:xfrm>
              <a:off x="574167" y="1711642"/>
              <a:ext cx="2612555" cy="264033"/>
            </a:xfrm>
            <a:prstGeom prst="rect">
              <a:avLst/>
            </a:prstGeom>
            <a:noFill/>
            <a:ln>
              <a:noFill/>
            </a:ln>
          </p:spPr>
          <p:txBody>
            <a:bodyPr wrap="none" lIns="0" tIns="0" rIns="0" bIns="0" anchor="t" anchorCtr="0">
              <a:spAutoFit/>
            </a:bodyPr>
            <a:lstStyle/>
            <a:p>
              <a:pPr algn="l"/>
              <a:r>
                <a:rPr lang="zh-CN" sz="1350" dirty="0">
                  <a:solidFill>
                    <a:srgbClr val="78DFC5"/>
                  </a:solidFill>
                  <a:latin typeface="+mn-lt"/>
                  <a:ea typeface="+mn-ea"/>
                  <a:cs typeface="+mn-cs"/>
                </a:rPr>
                <a:t>管理需求：哪里 / 为什么 / 何时</a:t>
              </a:r>
            </a:p>
          </p:txBody>
        </p:sp>
        <p:sp>
          <p:nvSpPr>
            <p:cNvPr id="109" name="TextBox 109"/>
            <p:cNvSpPr txBox="1"/>
            <p:nvPr/>
          </p:nvSpPr>
          <p:spPr>
            <a:xfrm>
              <a:off x="448056" y="5854065"/>
              <a:ext cx="4864608"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定位到监测支管或区段，保留可检查的证据。</a:t>
              </a:r>
            </a:p>
          </p:txBody>
        </p:sp>
      </p:grpSp>
      <p:grpSp>
        <p:nvGrpSpPr>
          <p:cNvPr id="124" name="normal-fault-states"/>
          <p:cNvGrpSpPr/>
          <p:nvPr/>
        </p:nvGrpSpPr>
        <p:grpSpPr>
          <a:xfrm>
            <a:off x="7546467" y="1783080"/>
            <a:ext cx="2585466" cy="4402645"/>
            <a:chOff x="7546467" y="1783080"/>
            <a:chExt cx="2585466" cy="4402645"/>
          </a:xfrm>
        </p:grpSpPr>
        <p:sp>
          <p:nvSpPr>
            <p:cNvPr id="111" name="Line 111"/>
            <p:cNvSpPr/>
            <p:nvPr/>
          </p:nvSpPr>
          <p:spPr>
            <a:xfrm>
              <a:off x="7553325" y="1800225"/>
              <a:ext cx="9525" cy="809625"/>
            </a:xfrm>
            <a:custGeom>
              <a:avLst/>
              <a:gdLst/>
              <a:ahLst/>
              <a:cxnLst/>
              <a:rect l="l" t="t" r="r" b="b"/>
              <a:pathLst>
                <a:path w="9525" h="809625">
                  <a:moveTo>
                    <a:pt x="0" y="0"/>
                  </a:moveTo>
                  <a:lnTo>
                    <a:pt x="0" y="809625"/>
                  </a:lnTo>
                </a:path>
              </a:pathLst>
            </a:custGeom>
            <a:noFill/>
            <a:ln w="38100">
              <a:solidFill>
                <a:srgbClr val="78DFC5"/>
              </a:solidFill>
            </a:ln>
          </p:spPr>
        </p:sp>
        <p:sp>
          <p:nvSpPr>
            <p:cNvPr id="112" name="TextBox 112"/>
            <p:cNvSpPr txBox="1"/>
            <p:nvPr/>
          </p:nvSpPr>
          <p:spPr>
            <a:xfrm>
              <a:off x="7736205" y="1800225"/>
              <a:ext cx="237363" cy="293370"/>
            </a:xfrm>
            <a:prstGeom prst="rect">
              <a:avLst/>
            </a:prstGeom>
            <a:noFill/>
            <a:ln>
              <a:noFill/>
            </a:ln>
          </p:spPr>
          <p:txBody>
            <a:bodyPr wrap="none" lIns="0" tIns="0" rIns="0" bIns="0" anchor="t" anchorCtr="0">
              <a:spAutoFit/>
            </a:bodyPr>
            <a:lstStyle/>
            <a:p>
              <a:pPr algn="l"/>
              <a:r>
                <a:rPr lang="zh-CN" sz="1500" dirty="0">
                  <a:solidFill>
                    <a:srgbClr val="78DFC5"/>
                  </a:solidFill>
                  <a:latin typeface="+mn-lt"/>
                  <a:ea typeface="+mn-ea"/>
                  <a:cs typeface="+mn-cs"/>
                </a:rPr>
                <a:t>01</a:t>
              </a:r>
            </a:p>
          </p:txBody>
        </p:sp>
        <p:sp>
          <p:nvSpPr>
            <p:cNvPr id="113" name="TextBox 113"/>
            <p:cNvSpPr txBox="1"/>
            <p:nvPr/>
          </p:nvSpPr>
          <p:spPr>
            <a:xfrm>
              <a:off x="8161782" y="1783080"/>
              <a:ext cx="1152144" cy="410718"/>
            </a:xfrm>
            <a:prstGeom prst="rect">
              <a:avLst/>
            </a:prstGeom>
            <a:noFill/>
            <a:ln>
              <a:noFill/>
            </a:ln>
          </p:spPr>
          <p:txBody>
            <a:bodyPr wrap="none" lIns="0" tIns="0" rIns="0" bIns="0" anchor="t" anchorCtr="0">
              <a:spAutoFit/>
            </a:bodyPr>
            <a:lstStyle/>
            <a:p>
              <a:pPr algn="l"/>
              <a:r>
                <a:rPr lang="zh-CN" sz="2100" b="1" dirty="0">
                  <a:solidFill>
                    <a:srgbClr val="FFFFFF"/>
                  </a:solidFill>
                  <a:latin typeface="+mn-lt"/>
                  <a:ea typeface="+mn-ea"/>
                  <a:cs typeface="+mn-cs"/>
                </a:rPr>
                <a:t>正常变化</a:t>
              </a:r>
            </a:p>
          </p:txBody>
        </p:sp>
        <p:sp>
          <p:nvSpPr>
            <p:cNvPr id="114" name="TextBox 114"/>
            <p:cNvSpPr txBox="1"/>
            <p:nvPr/>
          </p:nvSpPr>
          <p:spPr>
            <a:xfrm>
              <a:off x="7736205" y="2257425"/>
              <a:ext cx="186290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供压调整 / 支路切换</a:t>
              </a:r>
            </a:p>
          </p:txBody>
        </p:sp>
        <p:sp>
          <p:nvSpPr>
            <p:cNvPr id="115" name="Line 115"/>
            <p:cNvSpPr/>
            <p:nvPr/>
          </p:nvSpPr>
          <p:spPr>
            <a:xfrm>
              <a:off x="7553325" y="3105150"/>
              <a:ext cx="9525" cy="809625"/>
            </a:xfrm>
            <a:custGeom>
              <a:avLst/>
              <a:gdLst/>
              <a:ahLst/>
              <a:cxnLst/>
              <a:rect l="l" t="t" r="r" b="b"/>
              <a:pathLst>
                <a:path w="9525" h="809625">
                  <a:moveTo>
                    <a:pt x="0" y="0"/>
                  </a:moveTo>
                  <a:lnTo>
                    <a:pt x="0" y="809625"/>
                  </a:lnTo>
                </a:path>
              </a:pathLst>
            </a:custGeom>
            <a:noFill/>
            <a:ln w="38100">
              <a:solidFill>
                <a:srgbClr val="F3C77B"/>
              </a:solidFill>
            </a:ln>
          </p:spPr>
        </p:sp>
        <p:sp>
          <p:nvSpPr>
            <p:cNvPr id="116" name="TextBox 116"/>
            <p:cNvSpPr txBox="1"/>
            <p:nvPr/>
          </p:nvSpPr>
          <p:spPr>
            <a:xfrm>
              <a:off x="7736205" y="3105150"/>
              <a:ext cx="237363" cy="293370"/>
            </a:xfrm>
            <a:prstGeom prst="rect">
              <a:avLst/>
            </a:prstGeom>
            <a:noFill/>
            <a:ln>
              <a:noFill/>
            </a:ln>
          </p:spPr>
          <p:txBody>
            <a:bodyPr wrap="none" lIns="0" tIns="0" rIns="0" bIns="0" anchor="t" anchorCtr="0">
              <a:spAutoFit/>
            </a:bodyPr>
            <a:lstStyle/>
            <a:p>
              <a:pPr algn="l"/>
              <a:r>
                <a:rPr lang="zh-CN" sz="1500" dirty="0">
                  <a:solidFill>
                    <a:srgbClr val="F3C77B"/>
                  </a:solidFill>
                  <a:latin typeface="+mn-lt"/>
                  <a:ea typeface="+mn-ea"/>
                  <a:cs typeface="+mn-cs"/>
                </a:rPr>
                <a:t>02</a:t>
              </a:r>
            </a:p>
          </p:txBody>
        </p:sp>
        <p:sp>
          <p:nvSpPr>
            <p:cNvPr id="117" name="TextBox 117"/>
            <p:cNvSpPr txBox="1"/>
            <p:nvPr/>
          </p:nvSpPr>
          <p:spPr>
            <a:xfrm>
              <a:off x="8161782" y="3088005"/>
              <a:ext cx="1152144" cy="410718"/>
            </a:xfrm>
            <a:prstGeom prst="rect">
              <a:avLst/>
            </a:prstGeom>
            <a:noFill/>
            <a:ln>
              <a:noFill/>
            </a:ln>
          </p:spPr>
          <p:txBody>
            <a:bodyPr wrap="none" lIns="0" tIns="0" rIns="0" bIns="0" anchor="t" anchorCtr="0">
              <a:spAutoFit/>
            </a:bodyPr>
            <a:lstStyle/>
            <a:p>
              <a:pPr algn="l"/>
              <a:r>
                <a:rPr lang="zh-CN" sz="2100" b="1" dirty="0">
                  <a:solidFill>
                    <a:srgbClr val="FFFFFF"/>
                  </a:solidFill>
                  <a:latin typeface="+mn-lt"/>
                  <a:ea typeface="+mn-ea"/>
                  <a:cs typeface="+mn-cs"/>
                </a:rPr>
                <a:t>等效泄漏</a:t>
              </a:r>
            </a:p>
          </p:txBody>
        </p:sp>
        <p:sp>
          <p:nvSpPr>
            <p:cNvPr id="118" name="TextBox 118"/>
            <p:cNvSpPr txBox="1"/>
            <p:nvPr/>
          </p:nvSpPr>
          <p:spPr>
            <a:xfrm>
              <a:off x="7736205" y="3562350"/>
              <a:ext cx="183261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下游负载或旁路增加</a:t>
              </a:r>
            </a:p>
          </p:txBody>
        </p:sp>
        <p:sp>
          <p:nvSpPr>
            <p:cNvPr id="119" name="Line 119"/>
            <p:cNvSpPr/>
            <p:nvPr/>
          </p:nvSpPr>
          <p:spPr>
            <a:xfrm>
              <a:off x="7553325" y="4410075"/>
              <a:ext cx="9525" cy="809625"/>
            </a:xfrm>
            <a:custGeom>
              <a:avLst/>
              <a:gdLst/>
              <a:ahLst/>
              <a:cxnLst/>
              <a:rect l="l" t="t" r="r" b="b"/>
              <a:pathLst>
                <a:path w="9525" h="809625">
                  <a:moveTo>
                    <a:pt x="0" y="0"/>
                  </a:moveTo>
                  <a:lnTo>
                    <a:pt x="0" y="809625"/>
                  </a:lnTo>
                </a:path>
              </a:pathLst>
            </a:custGeom>
            <a:noFill/>
            <a:ln w="38100">
              <a:solidFill>
                <a:srgbClr val="F3C77B"/>
              </a:solidFill>
            </a:ln>
          </p:spPr>
        </p:sp>
        <p:sp>
          <p:nvSpPr>
            <p:cNvPr id="120" name="TextBox 120"/>
            <p:cNvSpPr txBox="1"/>
            <p:nvPr/>
          </p:nvSpPr>
          <p:spPr>
            <a:xfrm>
              <a:off x="7736205" y="4410075"/>
              <a:ext cx="237363" cy="293370"/>
            </a:xfrm>
            <a:prstGeom prst="rect">
              <a:avLst/>
            </a:prstGeom>
            <a:noFill/>
            <a:ln>
              <a:noFill/>
            </a:ln>
          </p:spPr>
          <p:txBody>
            <a:bodyPr wrap="none" lIns="0" tIns="0" rIns="0" bIns="0" anchor="t" anchorCtr="0">
              <a:spAutoFit/>
            </a:bodyPr>
            <a:lstStyle/>
            <a:p>
              <a:pPr algn="l"/>
              <a:r>
                <a:rPr lang="zh-CN" sz="1500" dirty="0">
                  <a:solidFill>
                    <a:srgbClr val="F3C77B"/>
                  </a:solidFill>
                  <a:latin typeface="+mn-lt"/>
                  <a:ea typeface="+mn-ea"/>
                  <a:cs typeface="+mn-cs"/>
                </a:rPr>
                <a:t>03</a:t>
              </a:r>
            </a:p>
          </p:txBody>
        </p:sp>
        <p:sp>
          <p:nvSpPr>
            <p:cNvPr id="121" name="TextBox 121"/>
            <p:cNvSpPr txBox="1"/>
            <p:nvPr/>
          </p:nvSpPr>
          <p:spPr>
            <a:xfrm>
              <a:off x="8161782" y="4392930"/>
              <a:ext cx="1152144" cy="410718"/>
            </a:xfrm>
            <a:prstGeom prst="rect">
              <a:avLst/>
            </a:prstGeom>
            <a:noFill/>
            <a:ln>
              <a:noFill/>
            </a:ln>
          </p:spPr>
          <p:txBody>
            <a:bodyPr wrap="none" lIns="0" tIns="0" rIns="0" bIns="0" anchor="t" anchorCtr="0">
              <a:spAutoFit/>
            </a:bodyPr>
            <a:lstStyle/>
            <a:p>
              <a:pPr algn="l"/>
              <a:r>
                <a:rPr lang="zh-CN" sz="2100" b="1" dirty="0">
                  <a:solidFill>
                    <a:srgbClr val="FFFFFF"/>
                  </a:solidFill>
                  <a:latin typeface="+mn-lt"/>
                  <a:ea typeface="+mn-ea"/>
                  <a:cs typeface="+mn-cs"/>
                </a:rPr>
                <a:t>等效受限</a:t>
              </a:r>
            </a:p>
          </p:txBody>
        </p:sp>
        <p:sp>
          <p:nvSpPr>
            <p:cNvPr id="122" name="TextBox 122"/>
            <p:cNvSpPr txBox="1"/>
            <p:nvPr/>
          </p:nvSpPr>
          <p:spPr>
            <a:xfrm>
              <a:off x="7736205" y="4867275"/>
              <a:ext cx="203454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监测区段水力阻力增加</a:t>
              </a:r>
            </a:p>
          </p:txBody>
        </p:sp>
        <p:sp>
          <p:nvSpPr>
            <p:cNvPr id="123" name="TextBox 123"/>
            <p:cNvSpPr txBox="1"/>
            <p:nvPr/>
          </p:nvSpPr>
          <p:spPr>
            <a:xfrm>
              <a:off x="7546467" y="5674042"/>
              <a:ext cx="2585466" cy="511683"/>
            </a:xfrm>
            <a:prstGeom prst="rect">
              <a:avLst/>
            </a:prstGeom>
            <a:noFill/>
            <a:ln>
              <a:noFill/>
            </a:ln>
          </p:spPr>
          <p:txBody>
            <a:bodyPr wrap="none" lIns="0" tIns="0" rIns="0" bIns="0" anchor="t" anchorCtr="0">
              <a:spAutoFit/>
            </a:bodyPr>
            <a:lstStyle/>
            <a:p>
              <a:pPr algn="l">
                <a:lnSpc>
                  <a:spcPts val="1950"/>
                </a:lnSpc>
              </a:pPr>
              <a:r>
                <a:rPr lang="zh-CN" sz="1350" dirty="0">
                  <a:solidFill>
                    <a:srgbClr val="B7CCC6"/>
                  </a:solidFill>
                  <a:latin typeface="+mn-lt"/>
                  <a:ea typeface="+mn-ea"/>
                  <a:cs typeface="+mn-cs"/>
                </a:rPr>
                <a:t>漂移、未知操作与切换期短时异常</a:t>
              </a:r>
              <a:br/>
              <a:r>
                <a:rPr lang="zh-CN" sz="1350" dirty="0">
                  <a:solidFill>
                    <a:srgbClr val="B7CCC6"/>
                  </a:solidFill>
                  <a:latin typeface="+mn-lt"/>
                  <a:ea typeface="+mn-ea"/>
                  <a:cs typeface="+mn-cs"/>
                </a:rPr>
                <a:t>检验误报及原因混淆</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route-highlight"/>
          <p:cNvSpPr/>
          <p:nvPr/>
        </p:nvSpPr>
        <p:spPr>
          <a:xfrm>
            <a:off x="8239125" y="257175"/>
            <a:ext cx="619125" cy="295275"/>
          </a:xfrm>
          <a:prstGeom prst="roundRect">
            <a:avLst>
              <a:gd name="adj" fmla="val 12903"/>
            </a:avLst>
          </a:prstGeom>
          <a:solidFill>
            <a:schemeClr val="lt2"/>
          </a:solidFill>
          <a:ln>
            <a:noFill/>
          </a:ln>
        </p:spPr>
      </p:sp>
      <p:sp>
        <p:nvSpPr>
          <p:cNvPr id="5"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场景</a:t>
            </a:r>
          </a:p>
        </p:txBody>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研究增量，落在实验里</a:t>
              </a:r>
            </a:p>
          </p:txBody>
        </p:sp>
      </p:grpSp>
      <p:sp>
        <p:nvSpPr>
          <p:cNvPr id="11" name="source-footer"/>
          <p:cNvSpPr txBox="1"/>
          <p:nvPr/>
        </p:nvSpPr>
        <p:spPr>
          <a:xfrm>
            <a:off x="451104" y="6404610"/>
            <a:ext cx="588852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文献：AWM 2022 / HydroNeuro 2026 / Land 2026 / Sensors 2021 / IFAC 2025</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03/15</a:t>
            </a:r>
          </a:p>
        </p:txBody>
      </p:sp>
      <p:grpSp>
        <p:nvGrpSpPr>
          <p:cNvPr id="41" name="prior-work-increment"/>
          <p:cNvGrpSpPr/>
          <p:nvPr/>
        </p:nvGrpSpPr>
        <p:grpSpPr>
          <a:xfrm>
            <a:off x="449580" y="1685925"/>
            <a:ext cx="11285220" cy="4551045"/>
            <a:chOff x="449580" y="1685925"/>
            <a:chExt cx="11285220" cy="4551045"/>
          </a:xfrm>
        </p:grpSpPr>
        <p:sp>
          <p:nvSpPr>
            <p:cNvPr id="13" name="TextBox 13"/>
            <p:cNvSpPr txBox="1"/>
            <p:nvPr/>
          </p:nvSpPr>
          <p:spPr>
            <a:xfrm>
              <a:off x="449580" y="1685925"/>
              <a:ext cx="82296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已有工作</a:t>
              </a:r>
            </a:p>
          </p:txBody>
        </p:sp>
        <p:sp>
          <p:nvSpPr>
            <p:cNvPr id="14" name="TextBox 14"/>
            <p:cNvSpPr txBox="1"/>
            <p:nvPr/>
          </p:nvSpPr>
          <p:spPr>
            <a:xfrm>
              <a:off x="7012305" y="1685925"/>
              <a:ext cx="28422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拟研究增量（须独立实验验证）</a:t>
              </a:r>
            </a:p>
          </p:txBody>
        </p:sp>
        <p:sp>
          <p:nvSpPr>
            <p:cNvPr id="15" name="Rectangle 15"/>
            <p:cNvSpPr/>
            <p:nvPr/>
          </p:nvSpPr>
          <p:spPr>
            <a:xfrm>
              <a:off x="457200" y="2066925"/>
              <a:ext cx="6257925" cy="1000125"/>
            </a:xfrm>
            <a:prstGeom prst="roundRect">
              <a:avLst>
                <a:gd name="adj" fmla="val 5714"/>
              </a:avLst>
            </a:prstGeom>
            <a:solidFill>
              <a:schemeClr val="lt2"/>
            </a:solidFill>
            <a:ln>
              <a:noFill/>
            </a:ln>
          </p:spPr>
        </p:sp>
        <p:sp>
          <p:nvSpPr>
            <p:cNvPr id="16" name="TextBox 16"/>
            <p:cNvSpPr txBox="1"/>
            <p:nvPr/>
          </p:nvSpPr>
          <p:spPr>
            <a:xfrm>
              <a:off x="656082" y="216408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间接检测</a:t>
              </a:r>
            </a:p>
          </p:txBody>
        </p:sp>
        <p:sp>
          <p:nvSpPr>
            <p:cNvPr id="17" name="TextBox 17"/>
            <p:cNvSpPr txBox="1"/>
            <p:nvPr/>
          </p:nvSpPr>
          <p:spPr>
            <a:xfrm>
              <a:off x="660654" y="2680335"/>
              <a:ext cx="163129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堵塞综述 / AWM 2022</a:t>
              </a:r>
            </a:p>
          </p:txBody>
        </p:sp>
        <p:sp>
          <p:nvSpPr>
            <p:cNvPr id="18" name="TextBox 18"/>
            <p:cNvSpPr txBox="1"/>
            <p:nvPr/>
          </p:nvSpPr>
          <p:spPr>
            <a:xfrm>
              <a:off x="3049905" y="2305050"/>
              <a:ext cx="2549462"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压力/流量未必反映最初堵塞</a:t>
              </a:r>
            </a:p>
          </p:txBody>
        </p:sp>
        <p:sp>
          <p:nvSpPr>
            <p:cNvPr id="19" name="Line 19"/>
            <p:cNvSpPr/>
            <p:nvPr/>
          </p:nvSpPr>
          <p:spPr>
            <a:xfrm>
              <a:off x="6743700" y="2552700"/>
              <a:ext cx="238125" cy="9525"/>
            </a:xfrm>
            <a:custGeom>
              <a:avLst/>
              <a:gdLst/>
              <a:ahLst/>
              <a:cxnLst/>
              <a:rect l="l" t="t" r="r" b="b"/>
              <a:pathLst>
                <a:path w="238125" h="9525">
                  <a:moveTo>
                    <a:pt x="0" y="0"/>
                  </a:moveTo>
                  <a:lnTo>
                    <a:pt x="238125" y="0"/>
                  </a:lnTo>
                </a:path>
              </a:pathLst>
            </a:custGeom>
            <a:noFill/>
            <a:ln w="19050">
              <a:solidFill>
                <a:schemeClr val="accent1"/>
              </a:solidFill>
            </a:ln>
          </p:spPr>
        </p:sp>
        <p:sp>
          <p:nvSpPr>
            <p:cNvPr id="20" name="Polygon 20"/>
            <p:cNvSpPr/>
            <p:nvPr/>
          </p:nvSpPr>
          <p:spPr>
            <a:xfrm>
              <a:off x="6887481" y="250712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21" name="TextBox 21"/>
            <p:cNvSpPr txBox="1"/>
            <p:nvPr/>
          </p:nvSpPr>
          <p:spPr>
            <a:xfrm>
              <a:off x="7144131" y="2244090"/>
              <a:ext cx="292608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检验低成本测点的早期边界</a:t>
              </a:r>
            </a:p>
          </p:txBody>
        </p:sp>
        <p:sp>
          <p:nvSpPr>
            <p:cNvPr id="22" name="TextBox 22"/>
            <p:cNvSpPr txBox="1"/>
            <p:nvPr/>
          </p:nvSpPr>
          <p:spPr>
            <a:xfrm>
              <a:off x="7145655" y="2647950"/>
              <a:ext cx="2700909"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真实程度标签 / 提前量 / 误报</a:t>
              </a:r>
            </a:p>
          </p:txBody>
        </p:sp>
        <p:sp>
          <p:nvSpPr>
            <p:cNvPr id="23" name="Rectangle 23"/>
            <p:cNvSpPr/>
            <p:nvPr/>
          </p:nvSpPr>
          <p:spPr>
            <a:xfrm>
              <a:off x="457200" y="3267075"/>
              <a:ext cx="6257925" cy="1000125"/>
            </a:xfrm>
            <a:prstGeom prst="roundRect">
              <a:avLst>
                <a:gd name="adj" fmla="val 5714"/>
              </a:avLst>
            </a:prstGeom>
            <a:solidFill>
              <a:schemeClr val="lt2"/>
            </a:solidFill>
            <a:ln>
              <a:noFill/>
            </a:ln>
          </p:spPr>
        </p:sp>
        <p:sp>
          <p:nvSpPr>
            <p:cNvPr id="24" name="TextBox 24"/>
            <p:cNvSpPr txBox="1"/>
            <p:nvPr/>
          </p:nvSpPr>
          <p:spPr>
            <a:xfrm>
              <a:off x="656082" y="336423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状态建模</a:t>
              </a:r>
            </a:p>
          </p:txBody>
        </p:sp>
        <p:sp>
          <p:nvSpPr>
            <p:cNvPr id="25" name="TextBox 25"/>
            <p:cNvSpPr txBox="1"/>
            <p:nvPr/>
          </p:nvSpPr>
          <p:spPr>
            <a:xfrm>
              <a:off x="660654" y="3880485"/>
              <a:ext cx="2133241"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mn-lt"/>
                  <a:ea typeface="+mn-ea"/>
                  <a:cs typeface="+mn-cs"/>
                </a:rPr>
                <a:t>HydroNeuro / Sensors 2026</a:t>
              </a:r>
            </a:p>
          </p:txBody>
        </p:sp>
        <p:sp>
          <p:nvSpPr>
            <p:cNvPr id="26" name="TextBox 26"/>
            <p:cNvSpPr txBox="1"/>
            <p:nvPr/>
          </p:nvSpPr>
          <p:spPr>
            <a:xfrm>
              <a:off x="3049905" y="3505200"/>
              <a:ext cx="284226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阀态建模与嵌入式感知已有先例</a:t>
              </a:r>
            </a:p>
          </p:txBody>
        </p:sp>
        <p:sp>
          <p:nvSpPr>
            <p:cNvPr id="27" name="Line 27"/>
            <p:cNvSpPr/>
            <p:nvPr/>
          </p:nvSpPr>
          <p:spPr>
            <a:xfrm>
              <a:off x="6743700" y="3752850"/>
              <a:ext cx="238125" cy="9525"/>
            </a:xfrm>
            <a:custGeom>
              <a:avLst/>
              <a:gdLst/>
              <a:ahLst/>
              <a:cxnLst/>
              <a:rect l="l" t="t" r="r" b="b"/>
              <a:pathLst>
                <a:path w="238125" h="9525">
                  <a:moveTo>
                    <a:pt x="0" y="0"/>
                  </a:moveTo>
                  <a:lnTo>
                    <a:pt x="238125" y="0"/>
                  </a:lnTo>
                </a:path>
              </a:pathLst>
            </a:custGeom>
            <a:noFill/>
            <a:ln w="19050">
              <a:solidFill>
                <a:schemeClr val="accent1"/>
              </a:solidFill>
            </a:ln>
          </p:spPr>
        </p:sp>
        <p:sp>
          <p:nvSpPr>
            <p:cNvPr id="28" name="Polygon 28"/>
            <p:cNvSpPr/>
            <p:nvPr/>
          </p:nvSpPr>
          <p:spPr>
            <a:xfrm>
              <a:off x="6887481" y="370727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29" name="TextBox 29"/>
            <p:cNvSpPr txBox="1"/>
            <p:nvPr/>
          </p:nvSpPr>
          <p:spPr>
            <a:xfrm>
              <a:off x="7144131" y="3444240"/>
              <a:ext cx="306601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比较单/双点及工况信息作用</a:t>
              </a:r>
            </a:p>
          </p:txBody>
        </p:sp>
        <p:sp>
          <p:nvSpPr>
            <p:cNvPr id="30" name="TextBox 30"/>
            <p:cNvSpPr txBox="1"/>
            <p:nvPr/>
          </p:nvSpPr>
          <p:spPr>
            <a:xfrm>
              <a:off x="7145655" y="3848100"/>
              <a:ext cx="2297049"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强基线 / 漂移挑战 / 消融</a:t>
              </a:r>
            </a:p>
          </p:txBody>
        </p:sp>
        <p:sp>
          <p:nvSpPr>
            <p:cNvPr id="31" name="Rectangle 31"/>
            <p:cNvSpPr/>
            <p:nvPr/>
          </p:nvSpPr>
          <p:spPr>
            <a:xfrm>
              <a:off x="457200" y="4467225"/>
              <a:ext cx="6257925" cy="1000125"/>
            </a:xfrm>
            <a:prstGeom prst="roundRect">
              <a:avLst>
                <a:gd name="adj" fmla="val 5714"/>
              </a:avLst>
            </a:prstGeom>
            <a:solidFill>
              <a:schemeClr val="lt2"/>
            </a:solidFill>
            <a:ln>
              <a:noFill/>
            </a:ln>
          </p:spPr>
        </p:sp>
        <p:sp>
          <p:nvSpPr>
            <p:cNvPr id="32" name="TextBox 32"/>
            <p:cNvSpPr txBox="1"/>
            <p:nvPr/>
          </p:nvSpPr>
          <p:spPr>
            <a:xfrm>
              <a:off x="656082" y="456438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可靠通信</a:t>
              </a:r>
            </a:p>
          </p:txBody>
        </p:sp>
        <p:sp>
          <p:nvSpPr>
            <p:cNvPr id="33" name="TextBox 33"/>
            <p:cNvSpPr txBox="1"/>
            <p:nvPr/>
          </p:nvSpPr>
          <p:spPr>
            <a:xfrm>
              <a:off x="660654" y="5080635"/>
              <a:ext cx="2126772"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mn-lt"/>
                  <a:ea typeface="+mn-ea"/>
                  <a:cs typeface="+mn-cs"/>
                </a:rPr>
                <a:t>Land 2026 / Sensors / IFAC</a:t>
              </a:r>
            </a:p>
          </p:txBody>
        </p:sp>
        <p:sp>
          <p:nvSpPr>
            <p:cNvPr id="34" name="TextBox 34"/>
            <p:cNvSpPr txBox="1"/>
            <p:nvPr/>
          </p:nvSpPr>
          <p:spPr>
            <a:xfrm>
              <a:off x="3049905" y="4705350"/>
              <a:ext cx="284226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灌溉物联网与事件通信已有研究</a:t>
              </a:r>
            </a:p>
          </p:txBody>
        </p:sp>
        <p:sp>
          <p:nvSpPr>
            <p:cNvPr id="35" name="Line 35"/>
            <p:cNvSpPr/>
            <p:nvPr/>
          </p:nvSpPr>
          <p:spPr>
            <a:xfrm>
              <a:off x="6743700" y="4953000"/>
              <a:ext cx="238125" cy="9525"/>
            </a:xfrm>
            <a:custGeom>
              <a:avLst/>
              <a:gdLst/>
              <a:ahLst/>
              <a:cxnLst/>
              <a:rect l="l" t="t" r="r" b="b"/>
              <a:pathLst>
                <a:path w="238125" h="9525">
                  <a:moveTo>
                    <a:pt x="0" y="0"/>
                  </a:moveTo>
                  <a:lnTo>
                    <a:pt x="238125" y="0"/>
                  </a:lnTo>
                </a:path>
              </a:pathLst>
            </a:custGeom>
            <a:noFill/>
            <a:ln w="19050">
              <a:solidFill>
                <a:schemeClr val="accent1"/>
              </a:solidFill>
            </a:ln>
          </p:spPr>
        </p:sp>
        <p:sp>
          <p:nvSpPr>
            <p:cNvPr id="36" name="Polygon 36"/>
            <p:cNvSpPr/>
            <p:nvPr/>
          </p:nvSpPr>
          <p:spPr>
            <a:xfrm>
              <a:off x="6887481" y="490742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37" name="TextBox 37"/>
            <p:cNvSpPr txBox="1"/>
            <p:nvPr/>
          </p:nvSpPr>
          <p:spPr>
            <a:xfrm>
              <a:off x="7144131" y="4644390"/>
              <a:ext cx="316839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同检测与确认下评价可靠取舍</a:t>
              </a:r>
            </a:p>
          </p:txBody>
        </p:sp>
        <p:sp>
          <p:nvSpPr>
            <p:cNvPr id="38" name="TextBox 38"/>
            <p:cNvSpPr txBox="1"/>
            <p:nvPr/>
          </p:nvSpPr>
          <p:spPr>
            <a:xfrm>
              <a:off x="7145655" y="5048250"/>
              <a:ext cx="2902839"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真实链路 / 两段延迟 / 整机能量</a:t>
              </a:r>
            </a:p>
          </p:txBody>
        </p:sp>
        <p:sp>
          <p:nvSpPr>
            <p:cNvPr id="39" name="Rectangle 39"/>
            <p:cNvSpPr/>
            <p:nvPr/>
          </p:nvSpPr>
          <p:spPr>
            <a:xfrm>
              <a:off x="457200" y="5876925"/>
              <a:ext cx="11277600" cy="314325"/>
            </a:xfrm>
            <a:prstGeom prst="roundRect">
              <a:avLst>
                <a:gd name="adj" fmla="val 12121"/>
              </a:avLst>
            </a:prstGeom>
            <a:solidFill>
              <a:schemeClr val="accent1"/>
            </a:solidFill>
            <a:ln>
              <a:noFill/>
            </a:ln>
          </p:spPr>
        </p:sp>
        <p:sp>
          <p:nvSpPr>
            <p:cNvPr id="40" name="TextBox 40"/>
            <p:cNvSpPr txBox="1"/>
            <p:nvPr/>
          </p:nvSpPr>
          <p:spPr>
            <a:xfrm>
              <a:off x="630555" y="5943600"/>
              <a:ext cx="4914519"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使用LoRa、增加压力点、建立平台均不自动构成创新。</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092E2B"/>
            </a:gs>
          </a:gsLst>
          <a:lin ang="2700000" scaled="1"/>
        </a:gra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rgbClr val="78DFC5"/>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场景</a:t>
            </a:r>
          </a:p>
        </p:txBody>
      </p:sp>
      <p:sp>
        <p:nvSpPr>
          <p:cNvPr id="5" name="route-highlight"/>
          <p:cNvSpPr/>
          <p:nvPr/>
        </p:nvSpPr>
        <p:spPr>
          <a:xfrm>
            <a:off x="9029700" y="257175"/>
            <a:ext cx="619125" cy="295275"/>
          </a:xfrm>
          <a:prstGeom prst="roundRect">
            <a:avLst>
              <a:gd name="adj" fmla="val 12903"/>
            </a:avLst>
          </a:prstGeom>
          <a:solidFill>
            <a:srgbClr val="23554E"/>
          </a:solidFill>
          <a:ln>
            <a:noFill/>
          </a:ln>
        </p:spPr>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rgbClr val="78DFC5"/>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一个系统，四个工作包</a:t>
              </a:r>
            </a:p>
          </p:txBody>
        </p:sp>
      </p:grpSp>
      <p:sp>
        <p:nvSpPr>
          <p:cNvPr id="11" name="source-footer"/>
          <p:cNvSpPr txBox="1"/>
          <p:nvPr/>
        </p:nvSpPr>
        <p:spPr>
          <a:xfrm>
            <a:off x="451104" y="6404610"/>
            <a:ext cx="5041849"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拟交付系统 · 1节点 / 1接收端 / 1台架 / 本地Web；扩节点按资源开展</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rgbClr val="B7CCC6"/>
                </a:solidFill>
                <a:latin typeface="+mn-lt"/>
                <a:ea typeface="+mn-ea"/>
                <a:cs typeface="+mn-cs"/>
              </a:rPr>
              <a:t>04/15</a:t>
            </a:r>
          </a:p>
        </p:txBody>
      </p:sp>
      <p:grpSp>
        <p:nvGrpSpPr>
          <p:cNvPr id="68" name="layered-system"/>
          <p:cNvGrpSpPr/>
          <p:nvPr/>
        </p:nvGrpSpPr>
        <p:grpSpPr>
          <a:xfrm>
            <a:off x="446532" y="1895475"/>
            <a:ext cx="11288268" cy="4351020"/>
            <a:chOff x="446532" y="1895475"/>
            <a:chExt cx="11288268" cy="4351020"/>
          </a:xfrm>
        </p:grpSpPr>
        <p:sp>
          <p:nvSpPr>
            <p:cNvPr id="13" name="Rectangle 13"/>
            <p:cNvSpPr/>
            <p:nvPr/>
          </p:nvSpPr>
          <p:spPr>
            <a:xfrm>
              <a:off x="457200" y="1895475"/>
              <a:ext cx="2505075" cy="3381375"/>
            </a:xfrm>
            <a:prstGeom prst="roundRect">
              <a:avLst>
                <a:gd name="adj" fmla="val 3042"/>
              </a:avLst>
            </a:prstGeom>
            <a:solidFill>
              <a:schemeClr val="accent1"/>
            </a:solidFill>
            <a:ln>
              <a:noFill/>
            </a:ln>
          </p:spPr>
        </p:sp>
        <p:sp>
          <p:nvSpPr>
            <p:cNvPr id="14" name="Rectangle 14"/>
            <p:cNvSpPr/>
            <p:nvPr/>
          </p:nvSpPr>
          <p:spPr>
            <a:xfrm>
              <a:off x="457200" y="1895475"/>
              <a:ext cx="2505075" cy="47625"/>
            </a:xfrm>
            <a:prstGeom prst="rect">
              <a:avLst/>
            </a:prstGeom>
            <a:solidFill>
              <a:srgbClr val="78DFC5"/>
            </a:solidFill>
            <a:ln>
              <a:noFill/>
            </a:ln>
          </p:spPr>
        </p:sp>
        <p:sp>
          <p:nvSpPr>
            <p:cNvPr id="15" name="TextBox 15"/>
            <p:cNvSpPr txBox="1"/>
            <p:nvPr/>
          </p:nvSpPr>
          <p:spPr>
            <a:xfrm>
              <a:off x="648081" y="2120265"/>
              <a:ext cx="515630" cy="352044"/>
            </a:xfrm>
            <a:prstGeom prst="rect">
              <a:avLst/>
            </a:prstGeom>
            <a:noFill/>
            <a:ln>
              <a:noFill/>
            </a:ln>
          </p:spPr>
          <p:txBody>
            <a:bodyPr wrap="none" lIns="0" tIns="0" rIns="0" bIns="0" anchor="t" anchorCtr="0">
              <a:spAutoFit/>
            </a:bodyPr>
            <a:lstStyle/>
            <a:p>
              <a:pPr algn="l"/>
              <a:r>
                <a:rPr lang="en-US" sz="1800" b="1" dirty="0">
                  <a:solidFill>
                    <a:srgbClr val="78DFC5"/>
                  </a:solidFill>
                  <a:latin typeface="+mn-lt"/>
                  <a:ea typeface="+mn-ea"/>
                  <a:cs typeface="+mn-cs"/>
                </a:rPr>
                <a:t>WP1</a:t>
              </a:r>
            </a:p>
          </p:txBody>
        </p:sp>
        <p:sp>
          <p:nvSpPr>
            <p:cNvPr id="16" name="TextBox 16"/>
            <p:cNvSpPr txBox="1"/>
            <p:nvPr/>
          </p:nvSpPr>
          <p:spPr>
            <a:xfrm>
              <a:off x="645795" y="2566988"/>
              <a:ext cx="1537335"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测量与建模</a:t>
              </a:r>
            </a:p>
          </p:txBody>
        </p:sp>
        <p:sp>
          <p:nvSpPr>
            <p:cNvPr id="17" name="Rectangle 17"/>
            <p:cNvSpPr/>
            <p:nvPr/>
          </p:nvSpPr>
          <p:spPr>
            <a:xfrm>
              <a:off x="685800" y="3143250"/>
              <a:ext cx="514350" cy="419100"/>
            </a:xfrm>
            <a:prstGeom prst="roundRect">
              <a:avLst>
                <a:gd name="adj" fmla="val 11364"/>
              </a:avLst>
            </a:prstGeom>
            <a:noFill/>
            <a:ln w="9525">
              <a:solidFill>
                <a:srgbClr val="78DFC5"/>
              </a:solidFill>
            </a:ln>
          </p:spPr>
        </p:sp>
        <p:sp>
          <p:nvSpPr>
            <p:cNvPr id="18" name="Rectangle 18"/>
            <p:cNvSpPr/>
            <p:nvPr/>
          </p:nvSpPr>
          <p:spPr>
            <a:xfrm>
              <a:off x="790575" y="3238500"/>
              <a:ext cx="228600" cy="209550"/>
            </a:xfrm>
            <a:prstGeom prst="rect">
              <a:avLst/>
            </a:prstGeom>
            <a:noFill/>
            <a:ln w="9525">
              <a:solidFill>
                <a:srgbClr val="78DFC5"/>
              </a:solidFill>
            </a:ln>
          </p:spPr>
        </p:sp>
        <p:sp>
          <p:nvSpPr>
            <p:cNvPr id="19" name="Line 19"/>
            <p:cNvSpPr/>
            <p:nvPr/>
          </p:nvSpPr>
          <p:spPr>
            <a:xfrm>
              <a:off x="1114425" y="2990850"/>
              <a:ext cx="9525" cy="180975"/>
            </a:xfrm>
            <a:custGeom>
              <a:avLst/>
              <a:gdLst/>
              <a:ahLst/>
              <a:cxnLst/>
              <a:rect l="l" t="t" r="r" b="b"/>
              <a:pathLst>
                <a:path w="9525" h="180975">
                  <a:moveTo>
                    <a:pt x="0" y="180975"/>
                  </a:moveTo>
                  <a:lnTo>
                    <a:pt x="0" y="0"/>
                  </a:lnTo>
                </a:path>
              </a:pathLst>
            </a:custGeom>
            <a:noFill/>
            <a:ln w="19050">
              <a:solidFill>
                <a:srgbClr val="78DFC5"/>
              </a:solidFill>
            </a:ln>
          </p:spPr>
        </p:sp>
        <p:sp>
          <p:nvSpPr>
            <p:cNvPr id="20" name="Ellipse 20"/>
            <p:cNvSpPr/>
            <p:nvPr/>
          </p:nvSpPr>
          <p:spPr>
            <a:xfrm>
              <a:off x="1076325" y="3400425"/>
              <a:ext cx="57150" cy="57150"/>
            </a:xfrm>
            <a:prstGeom prst="ellipse">
              <a:avLst/>
            </a:prstGeom>
            <a:solidFill>
              <a:srgbClr val="78DFC5"/>
            </a:solidFill>
            <a:ln>
              <a:noFill/>
            </a:ln>
          </p:spPr>
        </p:sp>
        <p:sp>
          <p:nvSpPr>
            <p:cNvPr id="21" name="TextBox 21"/>
            <p:cNvSpPr txBox="1"/>
            <p:nvPr/>
          </p:nvSpPr>
          <p:spPr>
            <a:xfrm>
              <a:off x="648081" y="3853815"/>
              <a:ext cx="1362456"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P0 / P1 / Q</a:t>
              </a:r>
            </a:p>
          </p:txBody>
        </p:sp>
        <p:sp>
          <p:nvSpPr>
            <p:cNvPr id="22" name="TextBox 22"/>
            <p:cNvSpPr txBox="1"/>
            <p:nvPr/>
          </p:nvSpPr>
          <p:spPr>
            <a:xfrm>
              <a:off x="649605" y="4352925"/>
              <a:ext cx="82296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参考标定</a:t>
              </a:r>
            </a:p>
          </p:txBody>
        </p:sp>
        <p:sp>
          <p:nvSpPr>
            <p:cNvPr id="23" name="TextBox 23"/>
            <p:cNvSpPr txBox="1"/>
            <p:nvPr/>
          </p:nvSpPr>
          <p:spPr>
            <a:xfrm>
              <a:off x="649605" y="4733925"/>
              <a:ext cx="102489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误差与程度</a:t>
              </a:r>
            </a:p>
          </p:txBody>
        </p:sp>
        <p:sp>
          <p:nvSpPr>
            <p:cNvPr id="24" name="Line 24"/>
            <p:cNvSpPr/>
            <p:nvPr/>
          </p:nvSpPr>
          <p:spPr>
            <a:xfrm>
              <a:off x="3009900" y="3619500"/>
              <a:ext cx="314325" cy="9525"/>
            </a:xfrm>
            <a:custGeom>
              <a:avLst/>
              <a:gdLst/>
              <a:ahLst/>
              <a:cxnLst/>
              <a:rect l="l" t="t" r="r" b="b"/>
              <a:pathLst>
                <a:path w="314325" h="9525">
                  <a:moveTo>
                    <a:pt x="0" y="0"/>
                  </a:moveTo>
                  <a:lnTo>
                    <a:pt x="314325" y="0"/>
                  </a:lnTo>
                </a:path>
              </a:pathLst>
            </a:custGeom>
            <a:noFill/>
            <a:ln w="19050">
              <a:solidFill>
                <a:srgbClr val="78DFC5"/>
              </a:solidFill>
            </a:ln>
          </p:spPr>
        </p:sp>
        <p:sp>
          <p:nvSpPr>
            <p:cNvPr id="25" name="Polygon 25"/>
            <p:cNvSpPr/>
            <p:nvPr/>
          </p:nvSpPr>
          <p:spPr>
            <a:xfrm>
              <a:off x="3229881" y="3573926"/>
              <a:ext cx="94344" cy="91147"/>
            </a:xfrm>
            <a:custGeom>
              <a:avLst/>
              <a:gdLst/>
              <a:ahLst/>
              <a:cxnLst/>
              <a:rect l="l" t="t" r="r" b="b"/>
              <a:pathLst>
                <a:path w="94344" h="91147">
                  <a:moveTo>
                    <a:pt x="94344" y="45574"/>
                  </a:moveTo>
                  <a:lnTo>
                    <a:pt x="0" y="91147"/>
                  </a:lnTo>
                  <a:lnTo>
                    <a:pt x="0" y="0"/>
                  </a:lnTo>
                  <a:close/>
                </a:path>
              </a:pathLst>
            </a:custGeom>
            <a:solidFill>
              <a:srgbClr val="78DFC5"/>
            </a:solidFill>
            <a:ln>
              <a:noFill/>
            </a:ln>
          </p:spPr>
        </p:sp>
        <p:sp>
          <p:nvSpPr>
            <p:cNvPr id="26" name="Rectangle 26"/>
            <p:cNvSpPr/>
            <p:nvPr/>
          </p:nvSpPr>
          <p:spPr>
            <a:xfrm>
              <a:off x="3381375" y="1895475"/>
              <a:ext cx="2505075" cy="3381375"/>
            </a:xfrm>
            <a:prstGeom prst="roundRect">
              <a:avLst>
                <a:gd name="adj" fmla="val 3042"/>
              </a:avLst>
            </a:prstGeom>
            <a:solidFill>
              <a:schemeClr val="accent1"/>
            </a:solidFill>
            <a:ln>
              <a:noFill/>
            </a:ln>
          </p:spPr>
        </p:sp>
        <p:sp>
          <p:nvSpPr>
            <p:cNvPr id="27" name="Rectangle 27"/>
            <p:cNvSpPr/>
            <p:nvPr/>
          </p:nvSpPr>
          <p:spPr>
            <a:xfrm>
              <a:off x="3381375" y="1895475"/>
              <a:ext cx="2505075" cy="47625"/>
            </a:xfrm>
            <a:prstGeom prst="rect">
              <a:avLst/>
            </a:prstGeom>
            <a:solidFill>
              <a:srgbClr val="F3C77B"/>
            </a:solidFill>
            <a:ln>
              <a:noFill/>
            </a:ln>
          </p:spPr>
        </p:sp>
        <p:sp>
          <p:nvSpPr>
            <p:cNvPr id="28" name="TextBox 28"/>
            <p:cNvSpPr txBox="1"/>
            <p:nvPr/>
          </p:nvSpPr>
          <p:spPr>
            <a:xfrm>
              <a:off x="3572256" y="2120265"/>
              <a:ext cx="515630" cy="352044"/>
            </a:xfrm>
            <a:prstGeom prst="rect">
              <a:avLst/>
            </a:prstGeom>
            <a:noFill/>
            <a:ln>
              <a:noFill/>
            </a:ln>
          </p:spPr>
          <p:txBody>
            <a:bodyPr wrap="none" lIns="0" tIns="0" rIns="0" bIns="0" anchor="t" anchorCtr="0">
              <a:spAutoFit/>
            </a:bodyPr>
            <a:lstStyle/>
            <a:p>
              <a:pPr algn="l"/>
              <a:r>
                <a:rPr lang="en-US" sz="1800" b="1" dirty="0">
                  <a:solidFill>
                    <a:srgbClr val="F3C77B"/>
                  </a:solidFill>
                  <a:latin typeface="+mn-lt"/>
                  <a:ea typeface="+mn-ea"/>
                  <a:cs typeface="+mn-cs"/>
                </a:rPr>
                <a:t>WP2</a:t>
              </a:r>
            </a:p>
          </p:txBody>
        </p:sp>
        <p:sp>
          <p:nvSpPr>
            <p:cNvPr id="29" name="TextBox 29"/>
            <p:cNvSpPr txBox="1"/>
            <p:nvPr/>
          </p:nvSpPr>
          <p:spPr>
            <a:xfrm>
              <a:off x="3569970" y="2566988"/>
              <a:ext cx="1537335"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诊断与边界</a:t>
              </a:r>
            </a:p>
          </p:txBody>
        </p:sp>
        <p:sp>
          <p:nvSpPr>
            <p:cNvPr id="30" name="Line 30"/>
            <p:cNvSpPr/>
            <p:nvPr/>
          </p:nvSpPr>
          <p:spPr>
            <a:xfrm>
              <a:off x="3695700" y="3219450"/>
              <a:ext cx="352425" cy="142875"/>
            </a:xfrm>
            <a:custGeom>
              <a:avLst/>
              <a:gdLst/>
              <a:ahLst/>
              <a:cxnLst/>
              <a:rect l="l" t="t" r="r" b="b"/>
              <a:pathLst>
                <a:path w="352425" h="142875">
                  <a:moveTo>
                    <a:pt x="0" y="142875"/>
                  </a:moveTo>
                  <a:lnTo>
                    <a:pt x="352425" y="0"/>
                  </a:lnTo>
                </a:path>
              </a:pathLst>
            </a:custGeom>
            <a:noFill/>
            <a:ln w="19050">
              <a:solidFill>
                <a:srgbClr val="F3C77B"/>
              </a:solidFill>
            </a:ln>
          </p:spPr>
        </p:sp>
        <p:sp>
          <p:nvSpPr>
            <p:cNvPr id="31" name="Line 31"/>
            <p:cNvSpPr/>
            <p:nvPr/>
          </p:nvSpPr>
          <p:spPr>
            <a:xfrm>
              <a:off x="3695700" y="3362325"/>
              <a:ext cx="352425" cy="152400"/>
            </a:xfrm>
            <a:custGeom>
              <a:avLst/>
              <a:gdLst/>
              <a:ahLst/>
              <a:cxnLst/>
              <a:rect l="l" t="t" r="r" b="b"/>
              <a:pathLst>
                <a:path w="352425" h="152400">
                  <a:moveTo>
                    <a:pt x="0" y="0"/>
                  </a:moveTo>
                  <a:lnTo>
                    <a:pt x="352425" y="152400"/>
                  </a:lnTo>
                </a:path>
              </a:pathLst>
            </a:custGeom>
            <a:noFill/>
            <a:ln w="19050">
              <a:solidFill>
                <a:srgbClr val="F3C77B"/>
              </a:solidFill>
            </a:ln>
          </p:spPr>
        </p:sp>
        <p:sp>
          <p:nvSpPr>
            <p:cNvPr id="32" name="Ellipse 32"/>
            <p:cNvSpPr/>
            <p:nvPr/>
          </p:nvSpPr>
          <p:spPr>
            <a:xfrm>
              <a:off x="3638550" y="3305175"/>
              <a:ext cx="114300" cy="114300"/>
            </a:xfrm>
            <a:prstGeom prst="ellipse">
              <a:avLst/>
            </a:prstGeom>
            <a:noFill/>
            <a:ln w="19050">
              <a:solidFill>
                <a:srgbClr val="F3C77B"/>
              </a:solidFill>
            </a:ln>
          </p:spPr>
        </p:sp>
        <p:sp>
          <p:nvSpPr>
            <p:cNvPr id="33" name="Ellipse 33"/>
            <p:cNvSpPr/>
            <p:nvPr/>
          </p:nvSpPr>
          <p:spPr>
            <a:xfrm>
              <a:off x="3990975" y="3162300"/>
              <a:ext cx="114300" cy="114300"/>
            </a:xfrm>
            <a:prstGeom prst="ellipse">
              <a:avLst/>
            </a:prstGeom>
            <a:noFill/>
            <a:ln w="19050">
              <a:solidFill>
                <a:srgbClr val="F3C77B"/>
              </a:solidFill>
            </a:ln>
          </p:spPr>
        </p:sp>
        <p:sp>
          <p:nvSpPr>
            <p:cNvPr id="34" name="Ellipse 34"/>
            <p:cNvSpPr/>
            <p:nvPr/>
          </p:nvSpPr>
          <p:spPr>
            <a:xfrm>
              <a:off x="3990975" y="3457575"/>
              <a:ext cx="114300" cy="114300"/>
            </a:xfrm>
            <a:prstGeom prst="ellipse">
              <a:avLst/>
            </a:prstGeom>
            <a:noFill/>
            <a:ln w="19050">
              <a:solidFill>
                <a:srgbClr val="F3C77B"/>
              </a:solidFill>
            </a:ln>
          </p:spPr>
        </p:sp>
        <p:sp>
          <p:nvSpPr>
            <p:cNvPr id="35" name="TextBox 35"/>
            <p:cNvSpPr txBox="1"/>
            <p:nvPr/>
          </p:nvSpPr>
          <p:spPr>
            <a:xfrm>
              <a:off x="3572256" y="3853815"/>
              <a:ext cx="987552"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渐进故障</a:t>
              </a:r>
            </a:p>
          </p:txBody>
        </p:sp>
        <p:sp>
          <p:nvSpPr>
            <p:cNvPr id="36" name="TextBox 36"/>
            <p:cNvSpPr txBox="1"/>
            <p:nvPr/>
          </p:nvSpPr>
          <p:spPr>
            <a:xfrm>
              <a:off x="3573780" y="4352925"/>
              <a:ext cx="125711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强基线 / 状态</a:t>
              </a:r>
            </a:p>
          </p:txBody>
        </p:sp>
        <p:sp>
          <p:nvSpPr>
            <p:cNvPr id="37" name="TextBox 37"/>
            <p:cNvSpPr txBox="1"/>
            <p:nvPr/>
          </p:nvSpPr>
          <p:spPr>
            <a:xfrm>
              <a:off x="3573780" y="4733925"/>
              <a:ext cx="122682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误报与提前量</a:t>
              </a:r>
            </a:p>
          </p:txBody>
        </p:sp>
        <p:sp>
          <p:nvSpPr>
            <p:cNvPr id="38" name="Line 38"/>
            <p:cNvSpPr/>
            <p:nvPr/>
          </p:nvSpPr>
          <p:spPr>
            <a:xfrm>
              <a:off x="5934075" y="3619500"/>
              <a:ext cx="314325" cy="9525"/>
            </a:xfrm>
            <a:custGeom>
              <a:avLst/>
              <a:gdLst/>
              <a:ahLst/>
              <a:cxnLst/>
              <a:rect l="l" t="t" r="r" b="b"/>
              <a:pathLst>
                <a:path w="314325" h="9525">
                  <a:moveTo>
                    <a:pt x="0" y="0"/>
                  </a:moveTo>
                  <a:lnTo>
                    <a:pt x="314325" y="0"/>
                  </a:lnTo>
                </a:path>
              </a:pathLst>
            </a:custGeom>
            <a:noFill/>
            <a:ln w="19050">
              <a:solidFill>
                <a:srgbClr val="78DFC5"/>
              </a:solidFill>
            </a:ln>
          </p:spPr>
        </p:sp>
        <p:sp>
          <p:nvSpPr>
            <p:cNvPr id="39" name="Polygon 39"/>
            <p:cNvSpPr/>
            <p:nvPr/>
          </p:nvSpPr>
          <p:spPr>
            <a:xfrm>
              <a:off x="6154056" y="3573926"/>
              <a:ext cx="94344" cy="91147"/>
            </a:xfrm>
            <a:custGeom>
              <a:avLst/>
              <a:gdLst/>
              <a:ahLst/>
              <a:cxnLst/>
              <a:rect l="l" t="t" r="r" b="b"/>
              <a:pathLst>
                <a:path w="94344" h="91147">
                  <a:moveTo>
                    <a:pt x="94344" y="45574"/>
                  </a:moveTo>
                  <a:lnTo>
                    <a:pt x="0" y="91147"/>
                  </a:lnTo>
                  <a:lnTo>
                    <a:pt x="0" y="0"/>
                  </a:lnTo>
                  <a:close/>
                </a:path>
              </a:pathLst>
            </a:custGeom>
            <a:solidFill>
              <a:srgbClr val="78DFC5"/>
            </a:solidFill>
            <a:ln>
              <a:noFill/>
            </a:ln>
          </p:spPr>
        </p:sp>
        <p:sp>
          <p:nvSpPr>
            <p:cNvPr id="40" name="Rectangle 40"/>
            <p:cNvSpPr/>
            <p:nvPr/>
          </p:nvSpPr>
          <p:spPr>
            <a:xfrm>
              <a:off x="6305550" y="1895475"/>
              <a:ext cx="2505075" cy="3381375"/>
            </a:xfrm>
            <a:prstGeom prst="roundRect">
              <a:avLst>
                <a:gd name="adj" fmla="val 3042"/>
              </a:avLst>
            </a:prstGeom>
            <a:solidFill>
              <a:schemeClr val="accent1"/>
            </a:solidFill>
            <a:ln>
              <a:noFill/>
            </a:ln>
          </p:spPr>
        </p:sp>
        <p:sp>
          <p:nvSpPr>
            <p:cNvPr id="41" name="Rectangle 41"/>
            <p:cNvSpPr/>
            <p:nvPr/>
          </p:nvSpPr>
          <p:spPr>
            <a:xfrm>
              <a:off x="6305550" y="1895475"/>
              <a:ext cx="2505075" cy="47625"/>
            </a:xfrm>
            <a:prstGeom prst="rect">
              <a:avLst/>
            </a:prstGeom>
            <a:solidFill>
              <a:srgbClr val="78DFC5"/>
            </a:solidFill>
            <a:ln>
              <a:noFill/>
            </a:ln>
          </p:spPr>
        </p:sp>
        <p:sp>
          <p:nvSpPr>
            <p:cNvPr id="42" name="TextBox 42"/>
            <p:cNvSpPr txBox="1"/>
            <p:nvPr/>
          </p:nvSpPr>
          <p:spPr>
            <a:xfrm>
              <a:off x="6496431" y="2120265"/>
              <a:ext cx="515630" cy="352044"/>
            </a:xfrm>
            <a:prstGeom prst="rect">
              <a:avLst/>
            </a:prstGeom>
            <a:noFill/>
            <a:ln>
              <a:noFill/>
            </a:ln>
          </p:spPr>
          <p:txBody>
            <a:bodyPr wrap="none" lIns="0" tIns="0" rIns="0" bIns="0" anchor="t" anchorCtr="0">
              <a:spAutoFit/>
            </a:bodyPr>
            <a:lstStyle/>
            <a:p>
              <a:pPr algn="l"/>
              <a:r>
                <a:rPr lang="en-US" sz="1800" b="1" dirty="0">
                  <a:solidFill>
                    <a:srgbClr val="78DFC5"/>
                  </a:solidFill>
                  <a:latin typeface="+mn-lt"/>
                  <a:ea typeface="+mn-ea"/>
                  <a:cs typeface="+mn-cs"/>
                </a:rPr>
                <a:t>WP3</a:t>
              </a:r>
            </a:p>
          </p:txBody>
        </p:sp>
        <p:sp>
          <p:nvSpPr>
            <p:cNvPr id="43" name="TextBox 43"/>
            <p:cNvSpPr txBox="1"/>
            <p:nvPr/>
          </p:nvSpPr>
          <p:spPr>
            <a:xfrm>
              <a:off x="6494145" y="2566988"/>
              <a:ext cx="1234440"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可靠告警</a:t>
              </a:r>
            </a:p>
          </p:txBody>
        </p:sp>
        <p:sp>
          <p:nvSpPr>
            <p:cNvPr id="44" name="Line 44"/>
            <p:cNvSpPr/>
            <p:nvPr/>
          </p:nvSpPr>
          <p:spPr>
            <a:xfrm>
              <a:off x="6781800" y="3286125"/>
              <a:ext cx="9525" cy="295275"/>
            </a:xfrm>
            <a:custGeom>
              <a:avLst/>
              <a:gdLst/>
              <a:ahLst/>
              <a:cxnLst/>
              <a:rect l="l" t="t" r="r" b="b"/>
              <a:pathLst>
                <a:path w="9525" h="295275">
                  <a:moveTo>
                    <a:pt x="0" y="0"/>
                  </a:moveTo>
                  <a:lnTo>
                    <a:pt x="0" y="295275"/>
                  </a:lnTo>
                </a:path>
              </a:pathLst>
            </a:custGeom>
            <a:noFill/>
            <a:ln w="28575">
              <a:solidFill>
                <a:srgbClr val="78DFC5"/>
              </a:solidFill>
            </a:ln>
          </p:spPr>
        </p:sp>
        <p:sp>
          <p:nvSpPr>
            <p:cNvPr id="45" name="Ellipse 45"/>
            <p:cNvSpPr/>
            <p:nvPr/>
          </p:nvSpPr>
          <p:spPr>
            <a:xfrm>
              <a:off x="6734175" y="3181350"/>
              <a:ext cx="95250" cy="95250"/>
            </a:xfrm>
            <a:prstGeom prst="ellipse">
              <a:avLst/>
            </a:prstGeom>
            <a:solidFill>
              <a:srgbClr val="78DFC5"/>
            </a:solidFill>
            <a:ln>
              <a:noFill/>
            </a:ln>
          </p:spPr>
        </p:sp>
        <p:sp>
          <p:nvSpPr>
            <p:cNvPr id="46" name="Line 46"/>
            <p:cNvSpPr/>
            <p:nvPr/>
          </p:nvSpPr>
          <p:spPr>
            <a:xfrm>
              <a:off x="6591300" y="3314700"/>
              <a:ext cx="57150" cy="114300"/>
            </a:xfrm>
            <a:custGeom>
              <a:avLst/>
              <a:gdLst/>
              <a:ahLst/>
              <a:cxnLst/>
              <a:rect l="l" t="t" r="r" b="b"/>
              <a:pathLst>
                <a:path w="57150" h="114300">
                  <a:moveTo>
                    <a:pt x="57150" y="0"/>
                  </a:moveTo>
                  <a:lnTo>
                    <a:pt x="0" y="114300"/>
                  </a:lnTo>
                </a:path>
              </a:pathLst>
            </a:custGeom>
            <a:noFill/>
            <a:ln w="28575">
              <a:solidFill>
                <a:srgbClr val="78DFC5"/>
              </a:solidFill>
            </a:ln>
          </p:spPr>
        </p:sp>
        <p:sp>
          <p:nvSpPr>
            <p:cNvPr id="47" name="Line 47"/>
            <p:cNvSpPr/>
            <p:nvPr/>
          </p:nvSpPr>
          <p:spPr>
            <a:xfrm>
              <a:off x="6915150" y="3314700"/>
              <a:ext cx="57150" cy="114300"/>
            </a:xfrm>
            <a:custGeom>
              <a:avLst/>
              <a:gdLst/>
              <a:ahLst/>
              <a:cxnLst/>
              <a:rect l="l" t="t" r="r" b="b"/>
              <a:pathLst>
                <a:path w="57150" h="114300">
                  <a:moveTo>
                    <a:pt x="0" y="0"/>
                  </a:moveTo>
                  <a:lnTo>
                    <a:pt x="57150" y="114300"/>
                  </a:lnTo>
                </a:path>
              </a:pathLst>
            </a:custGeom>
            <a:noFill/>
            <a:ln w="28575">
              <a:solidFill>
                <a:srgbClr val="78DFC5"/>
              </a:solidFill>
            </a:ln>
          </p:spPr>
        </p:sp>
        <p:sp>
          <p:nvSpPr>
            <p:cNvPr id="48" name="Line 48"/>
            <p:cNvSpPr/>
            <p:nvPr/>
          </p:nvSpPr>
          <p:spPr>
            <a:xfrm>
              <a:off x="6505575" y="3248025"/>
              <a:ext cx="95250" cy="190500"/>
            </a:xfrm>
            <a:custGeom>
              <a:avLst/>
              <a:gdLst/>
              <a:ahLst/>
              <a:cxnLst/>
              <a:rect l="l" t="t" r="r" b="b"/>
              <a:pathLst>
                <a:path w="95250" h="190500">
                  <a:moveTo>
                    <a:pt x="95250" y="0"/>
                  </a:moveTo>
                  <a:lnTo>
                    <a:pt x="0" y="190500"/>
                  </a:lnTo>
                </a:path>
              </a:pathLst>
            </a:custGeom>
            <a:noFill/>
            <a:ln w="19050">
              <a:solidFill>
                <a:srgbClr val="78DFC5"/>
              </a:solidFill>
            </a:ln>
          </p:spPr>
        </p:sp>
        <p:sp>
          <p:nvSpPr>
            <p:cNvPr id="49" name="Line 49"/>
            <p:cNvSpPr/>
            <p:nvPr/>
          </p:nvSpPr>
          <p:spPr>
            <a:xfrm>
              <a:off x="6962775" y="3248025"/>
              <a:ext cx="95250" cy="190500"/>
            </a:xfrm>
            <a:custGeom>
              <a:avLst/>
              <a:gdLst/>
              <a:ahLst/>
              <a:cxnLst/>
              <a:rect l="l" t="t" r="r" b="b"/>
              <a:pathLst>
                <a:path w="95250" h="190500">
                  <a:moveTo>
                    <a:pt x="0" y="0"/>
                  </a:moveTo>
                  <a:lnTo>
                    <a:pt x="95250" y="190500"/>
                  </a:lnTo>
                </a:path>
              </a:pathLst>
            </a:custGeom>
            <a:noFill/>
            <a:ln w="19050">
              <a:solidFill>
                <a:srgbClr val="78DFC5"/>
              </a:solidFill>
            </a:ln>
          </p:spPr>
        </p:sp>
        <p:sp>
          <p:nvSpPr>
            <p:cNvPr id="50" name="TextBox 50"/>
            <p:cNvSpPr txBox="1"/>
            <p:nvPr/>
          </p:nvSpPr>
          <p:spPr>
            <a:xfrm>
              <a:off x="6496431" y="3853815"/>
              <a:ext cx="1266215"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周期 / 事件</a:t>
              </a:r>
            </a:p>
          </p:txBody>
        </p:sp>
        <p:sp>
          <p:nvSpPr>
            <p:cNvPr id="51" name="TextBox 51"/>
            <p:cNvSpPr txBox="1"/>
            <p:nvPr/>
          </p:nvSpPr>
          <p:spPr>
            <a:xfrm>
              <a:off x="6497955" y="4352925"/>
              <a:ext cx="1016508"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缓存 / ACK</a:t>
              </a:r>
            </a:p>
          </p:txBody>
        </p:sp>
        <p:sp>
          <p:nvSpPr>
            <p:cNvPr id="52" name="TextBox 52"/>
            <p:cNvSpPr txBox="1"/>
            <p:nvPr/>
          </p:nvSpPr>
          <p:spPr>
            <a:xfrm>
              <a:off x="6497955" y="4733925"/>
              <a:ext cx="142875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真实延迟与能量</a:t>
              </a:r>
            </a:p>
          </p:txBody>
        </p:sp>
        <p:sp>
          <p:nvSpPr>
            <p:cNvPr id="53" name="Line 53"/>
            <p:cNvSpPr/>
            <p:nvPr/>
          </p:nvSpPr>
          <p:spPr>
            <a:xfrm>
              <a:off x="8858250" y="3619500"/>
              <a:ext cx="314325" cy="9525"/>
            </a:xfrm>
            <a:custGeom>
              <a:avLst/>
              <a:gdLst/>
              <a:ahLst/>
              <a:cxnLst/>
              <a:rect l="l" t="t" r="r" b="b"/>
              <a:pathLst>
                <a:path w="314325" h="9525">
                  <a:moveTo>
                    <a:pt x="0" y="0"/>
                  </a:moveTo>
                  <a:lnTo>
                    <a:pt x="314325" y="0"/>
                  </a:lnTo>
                </a:path>
              </a:pathLst>
            </a:custGeom>
            <a:noFill/>
            <a:ln w="19050">
              <a:solidFill>
                <a:srgbClr val="78DFC5"/>
              </a:solidFill>
            </a:ln>
          </p:spPr>
        </p:sp>
        <p:sp>
          <p:nvSpPr>
            <p:cNvPr id="54" name="Polygon 54"/>
            <p:cNvSpPr/>
            <p:nvPr/>
          </p:nvSpPr>
          <p:spPr>
            <a:xfrm>
              <a:off x="9078231" y="3573926"/>
              <a:ext cx="94344" cy="91147"/>
            </a:xfrm>
            <a:custGeom>
              <a:avLst/>
              <a:gdLst/>
              <a:ahLst/>
              <a:cxnLst/>
              <a:rect l="l" t="t" r="r" b="b"/>
              <a:pathLst>
                <a:path w="94344" h="91147">
                  <a:moveTo>
                    <a:pt x="94344" y="45574"/>
                  </a:moveTo>
                  <a:lnTo>
                    <a:pt x="0" y="91147"/>
                  </a:lnTo>
                  <a:lnTo>
                    <a:pt x="0" y="0"/>
                  </a:lnTo>
                  <a:close/>
                </a:path>
              </a:pathLst>
            </a:custGeom>
            <a:solidFill>
              <a:srgbClr val="78DFC5"/>
            </a:solidFill>
            <a:ln>
              <a:noFill/>
            </a:ln>
          </p:spPr>
        </p:sp>
        <p:sp>
          <p:nvSpPr>
            <p:cNvPr id="55" name="Rectangle 55"/>
            <p:cNvSpPr/>
            <p:nvPr/>
          </p:nvSpPr>
          <p:spPr>
            <a:xfrm>
              <a:off x="9229725" y="1895475"/>
              <a:ext cx="2505075" cy="3381375"/>
            </a:xfrm>
            <a:prstGeom prst="roundRect">
              <a:avLst>
                <a:gd name="adj" fmla="val 3042"/>
              </a:avLst>
            </a:prstGeom>
            <a:solidFill>
              <a:schemeClr val="accent1"/>
            </a:solidFill>
            <a:ln>
              <a:noFill/>
            </a:ln>
          </p:spPr>
        </p:sp>
        <p:sp>
          <p:nvSpPr>
            <p:cNvPr id="56" name="Rectangle 56"/>
            <p:cNvSpPr/>
            <p:nvPr/>
          </p:nvSpPr>
          <p:spPr>
            <a:xfrm>
              <a:off x="9229725" y="1895475"/>
              <a:ext cx="2505075" cy="47625"/>
            </a:xfrm>
            <a:prstGeom prst="rect">
              <a:avLst/>
            </a:prstGeom>
            <a:solidFill>
              <a:srgbClr val="F3C77B"/>
            </a:solidFill>
            <a:ln>
              <a:noFill/>
            </a:ln>
          </p:spPr>
        </p:sp>
        <p:sp>
          <p:nvSpPr>
            <p:cNvPr id="57" name="TextBox 57"/>
            <p:cNvSpPr txBox="1"/>
            <p:nvPr/>
          </p:nvSpPr>
          <p:spPr>
            <a:xfrm>
              <a:off x="9420606" y="2120265"/>
              <a:ext cx="515630" cy="352044"/>
            </a:xfrm>
            <a:prstGeom prst="rect">
              <a:avLst/>
            </a:prstGeom>
            <a:noFill/>
            <a:ln>
              <a:noFill/>
            </a:ln>
          </p:spPr>
          <p:txBody>
            <a:bodyPr wrap="none" lIns="0" tIns="0" rIns="0" bIns="0" anchor="t" anchorCtr="0">
              <a:spAutoFit/>
            </a:bodyPr>
            <a:lstStyle/>
            <a:p>
              <a:pPr algn="l"/>
              <a:r>
                <a:rPr lang="en-US" sz="1800" b="1" dirty="0">
                  <a:solidFill>
                    <a:srgbClr val="F3C77B"/>
                  </a:solidFill>
                  <a:latin typeface="+mn-lt"/>
                  <a:ea typeface="+mn-ea"/>
                  <a:cs typeface="+mn-cs"/>
                </a:rPr>
                <a:t>WP4</a:t>
              </a:r>
            </a:p>
          </p:txBody>
        </p:sp>
        <p:sp>
          <p:nvSpPr>
            <p:cNvPr id="58" name="TextBox 58"/>
            <p:cNvSpPr txBox="1"/>
            <p:nvPr/>
          </p:nvSpPr>
          <p:spPr>
            <a:xfrm>
              <a:off x="9418320" y="2566988"/>
              <a:ext cx="1537335"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n-lt"/>
                  <a:ea typeface="+mn-ea"/>
                  <a:cs typeface="+mn-cs"/>
                </a:rPr>
                <a:t>系统与验证</a:t>
              </a:r>
            </a:p>
          </p:txBody>
        </p:sp>
        <p:sp>
          <p:nvSpPr>
            <p:cNvPr id="59" name="Rectangle 59"/>
            <p:cNvSpPr/>
            <p:nvPr/>
          </p:nvSpPr>
          <p:spPr>
            <a:xfrm>
              <a:off x="9458325" y="3143250"/>
              <a:ext cx="514350" cy="419100"/>
            </a:xfrm>
            <a:prstGeom prst="roundRect">
              <a:avLst>
                <a:gd name="adj" fmla="val 11364"/>
              </a:avLst>
            </a:prstGeom>
            <a:noFill/>
            <a:ln w="9525">
              <a:solidFill>
                <a:srgbClr val="F3C77B"/>
              </a:solidFill>
            </a:ln>
          </p:spPr>
        </p:sp>
        <p:sp>
          <p:nvSpPr>
            <p:cNvPr id="60" name="Rectangle 60"/>
            <p:cNvSpPr/>
            <p:nvPr/>
          </p:nvSpPr>
          <p:spPr>
            <a:xfrm>
              <a:off x="9563100" y="3238500"/>
              <a:ext cx="228600" cy="209550"/>
            </a:xfrm>
            <a:prstGeom prst="rect">
              <a:avLst/>
            </a:prstGeom>
            <a:noFill/>
            <a:ln w="9525">
              <a:solidFill>
                <a:srgbClr val="F3C77B"/>
              </a:solidFill>
            </a:ln>
          </p:spPr>
        </p:sp>
        <p:sp>
          <p:nvSpPr>
            <p:cNvPr id="61" name="Line 61"/>
            <p:cNvSpPr/>
            <p:nvPr/>
          </p:nvSpPr>
          <p:spPr>
            <a:xfrm>
              <a:off x="9886950" y="2990850"/>
              <a:ext cx="9525" cy="180975"/>
            </a:xfrm>
            <a:custGeom>
              <a:avLst/>
              <a:gdLst/>
              <a:ahLst/>
              <a:cxnLst/>
              <a:rect l="l" t="t" r="r" b="b"/>
              <a:pathLst>
                <a:path w="9525" h="180975">
                  <a:moveTo>
                    <a:pt x="0" y="180975"/>
                  </a:moveTo>
                  <a:lnTo>
                    <a:pt x="0" y="0"/>
                  </a:lnTo>
                </a:path>
              </a:pathLst>
            </a:custGeom>
            <a:noFill/>
            <a:ln w="19050">
              <a:solidFill>
                <a:srgbClr val="F3C77B"/>
              </a:solidFill>
            </a:ln>
          </p:spPr>
        </p:sp>
        <p:sp>
          <p:nvSpPr>
            <p:cNvPr id="62" name="Ellipse 62"/>
            <p:cNvSpPr/>
            <p:nvPr/>
          </p:nvSpPr>
          <p:spPr>
            <a:xfrm>
              <a:off x="9848850" y="3400425"/>
              <a:ext cx="57150" cy="57150"/>
            </a:xfrm>
            <a:prstGeom prst="ellipse">
              <a:avLst/>
            </a:prstGeom>
            <a:solidFill>
              <a:srgbClr val="F3C77B"/>
            </a:solidFill>
            <a:ln>
              <a:noFill/>
            </a:ln>
          </p:spPr>
        </p:sp>
        <p:sp>
          <p:nvSpPr>
            <p:cNvPr id="63" name="TextBox 63"/>
            <p:cNvSpPr txBox="1"/>
            <p:nvPr/>
          </p:nvSpPr>
          <p:spPr>
            <a:xfrm>
              <a:off x="9420606" y="3853815"/>
              <a:ext cx="1266215"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节点 / 软件</a:t>
              </a:r>
            </a:p>
          </p:txBody>
        </p:sp>
        <p:sp>
          <p:nvSpPr>
            <p:cNvPr id="64" name="TextBox 64"/>
            <p:cNvSpPr txBox="1"/>
            <p:nvPr/>
          </p:nvSpPr>
          <p:spPr>
            <a:xfrm>
              <a:off x="9422130" y="4352925"/>
              <a:ext cx="145904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台架 / 独立批次</a:t>
              </a:r>
            </a:p>
          </p:txBody>
        </p:sp>
        <p:sp>
          <p:nvSpPr>
            <p:cNvPr id="65" name="TextBox 65"/>
            <p:cNvSpPr txBox="1"/>
            <p:nvPr/>
          </p:nvSpPr>
          <p:spPr>
            <a:xfrm>
              <a:off x="9422130" y="4733925"/>
              <a:ext cx="102489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数据与报告</a:t>
              </a:r>
            </a:p>
          </p:txBody>
        </p:sp>
        <p:sp>
          <p:nvSpPr>
            <p:cNvPr id="66" name="TextBox 66"/>
            <p:cNvSpPr txBox="1"/>
            <p:nvPr/>
          </p:nvSpPr>
          <p:spPr>
            <a:xfrm>
              <a:off x="446532" y="5554980"/>
              <a:ext cx="6699464" cy="410718"/>
            </a:xfrm>
            <a:prstGeom prst="rect">
              <a:avLst/>
            </a:prstGeom>
            <a:noFill/>
            <a:ln>
              <a:noFill/>
            </a:ln>
          </p:spPr>
          <p:txBody>
            <a:bodyPr wrap="none" lIns="0" tIns="0" rIns="0" bIns="0" anchor="t" anchorCtr="0">
              <a:spAutoFit/>
            </a:bodyPr>
            <a:lstStyle/>
            <a:p>
              <a:pPr algn="l"/>
              <a:r>
                <a:rPr lang="zh-CN" sz="2100" b="1" dirty="0">
                  <a:solidFill>
                    <a:srgbClr val="78DFC5"/>
                  </a:solidFill>
                  <a:latin typeface="+mn-lt"/>
                  <a:ea typeface="+mn-ea"/>
                  <a:cs typeface="+mn-cs"/>
                </a:rPr>
                <a:t>闭环：采集 → 有限诊断 → 可靠送达 → 管理确认与回放</a:t>
              </a:r>
            </a:p>
          </p:txBody>
        </p:sp>
        <p:sp>
          <p:nvSpPr>
            <p:cNvPr id="67" name="TextBox 67"/>
            <p:cNvSpPr txBox="1"/>
            <p:nvPr/>
          </p:nvSpPr>
          <p:spPr>
            <a:xfrm>
              <a:off x="449580" y="5953125"/>
              <a:ext cx="506349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两条研究线：可辨识与早期边界；同诊断下的通信取舍。</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route-highlight"/>
          <p:cNvSpPr/>
          <p:nvPr/>
        </p:nvSpPr>
        <p:spPr>
          <a:xfrm>
            <a:off x="9029700" y="257175"/>
            <a:ext cx="619125" cy="295275"/>
          </a:xfrm>
          <a:prstGeom prst="roundRect">
            <a:avLst>
              <a:gd name="adj" fmla="val 12903"/>
            </a:avLst>
          </a:prstGeom>
          <a:solidFill>
            <a:schemeClr val="lt2"/>
          </a:solidFill>
          <a:ln>
            <a:noFill/>
          </a:ln>
        </p:spPr>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3424428" cy="616077"/>
            <a:chOff x="441198" y="860108"/>
            <a:chExt cx="3424428" cy="616077"/>
          </a:xfrm>
        </p:grpSpPr>
        <p:sp>
          <p:nvSpPr>
            <p:cNvPr id="9" name="TextBox 9"/>
            <p:cNvSpPr txBox="1"/>
            <p:nvPr/>
          </p:nvSpPr>
          <p:spPr>
            <a:xfrm>
              <a:off x="441198" y="860108"/>
              <a:ext cx="3424428"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测点包围目标区段</a:t>
              </a:r>
            </a:p>
          </p:txBody>
        </p:sp>
      </p:grpSp>
      <p:sp>
        <p:nvSpPr>
          <p:cNvPr id="11" name="source-footer"/>
          <p:cNvSpPr txBox="1"/>
          <p:nvPr/>
        </p:nvSpPr>
        <p:spPr>
          <a:xfrm>
            <a:off x="451104" y="6404610"/>
            <a:ext cx="46969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集中等效水力模型，非台架实物；健康压降与差压不确定度须标定</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05/15</a:t>
            </a:r>
          </a:p>
        </p:txBody>
      </p:sp>
      <p:grpSp>
        <p:nvGrpSpPr>
          <p:cNvPr id="41" name="measurement-layout"/>
          <p:cNvGrpSpPr/>
          <p:nvPr/>
        </p:nvGrpSpPr>
        <p:grpSpPr>
          <a:xfrm>
            <a:off x="457200" y="1714500"/>
            <a:ext cx="11277600" cy="2571750"/>
            <a:chOff x="457200" y="1714500"/>
            <a:chExt cx="11277600" cy="2571750"/>
          </a:xfrm>
        </p:grpSpPr>
        <p:sp>
          <p:nvSpPr>
            <p:cNvPr id="13" name="Rectangle 13"/>
            <p:cNvSpPr/>
            <p:nvPr/>
          </p:nvSpPr>
          <p:spPr>
            <a:xfrm>
              <a:off x="457200" y="1714500"/>
              <a:ext cx="11277600" cy="2571750"/>
            </a:xfrm>
            <a:prstGeom prst="roundRect">
              <a:avLst>
                <a:gd name="adj" fmla="val 2963"/>
              </a:avLst>
            </a:prstGeom>
            <a:solidFill>
              <a:srgbClr val="FFFFFF"/>
            </a:solidFill>
            <a:ln w="9525">
              <a:solidFill>
                <a:schemeClr val="accent6"/>
              </a:solidFill>
            </a:ln>
          </p:spPr>
        </p:sp>
        <p:sp>
          <p:nvSpPr>
            <p:cNvPr id="14" name="Line 14"/>
            <p:cNvSpPr/>
            <p:nvPr/>
          </p:nvSpPr>
          <p:spPr>
            <a:xfrm>
              <a:off x="819150" y="2800350"/>
              <a:ext cx="2076450" cy="9525"/>
            </a:xfrm>
            <a:custGeom>
              <a:avLst/>
              <a:gdLst/>
              <a:ahLst/>
              <a:cxnLst/>
              <a:rect l="l" t="t" r="r" b="b"/>
              <a:pathLst>
                <a:path w="2076450" h="9525">
                  <a:moveTo>
                    <a:pt x="0" y="0"/>
                  </a:moveTo>
                  <a:lnTo>
                    <a:pt x="2076450" y="0"/>
                  </a:lnTo>
                </a:path>
              </a:pathLst>
            </a:custGeom>
            <a:noFill/>
            <a:ln w="57150">
              <a:solidFill>
                <a:schemeClr val="accent1"/>
              </a:solidFill>
            </a:ln>
          </p:spPr>
        </p:sp>
        <p:sp>
          <p:nvSpPr>
            <p:cNvPr id="15" name="Line 15"/>
            <p:cNvSpPr/>
            <p:nvPr/>
          </p:nvSpPr>
          <p:spPr>
            <a:xfrm>
              <a:off x="2895600" y="2409825"/>
              <a:ext cx="9525" cy="1285875"/>
            </a:xfrm>
            <a:custGeom>
              <a:avLst/>
              <a:gdLst/>
              <a:ahLst/>
              <a:cxnLst/>
              <a:rect l="l" t="t" r="r" b="b"/>
              <a:pathLst>
                <a:path w="9525" h="1285875">
                  <a:moveTo>
                    <a:pt x="0" y="0"/>
                  </a:moveTo>
                  <a:lnTo>
                    <a:pt x="0" y="1285875"/>
                  </a:lnTo>
                </a:path>
              </a:pathLst>
            </a:custGeom>
            <a:noFill/>
            <a:ln w="57150">
              <a:solidFill>
                <a:schemeClr val="accent1"/>
              </a:solidFill>
            </a:ln>
          </p:spPr>
        </p:sp>
        <p:sp>
          <p:nvSpPr>
            <p:cNvPr id="16" name="Line 16"/>
            <p:cNvSpPr/>
            <p:nvPr/>
          </p:nvSpPr>
          <p:spPr>
            <a:xfrm>
              <a:off x="2895600" y="2409825"/>
              <a:ext cx="8058150" cy="9525"/>
            </a:xfrm>
            <a:custGeom>
              <a:avLst/>
              <a:gdLst/>
              <a:ahLst/>
              <a:cxnLst/>
              <a:rect l="l" t="t" r="r" b="b"/>
              <a:pathLst>
                <a:path w="8058150" h="9525">
                  <a:moveTo>
                    <a:pt x="0" y="0"/>
                  </a:moveTo>
                  <a:lnTo>
                    <a:pt x="8058150" y="0"/>
                  </a:lnTo>
                </a:path>
              </a:pathLst>
            </a:custGeom>
            <a:noFill/>
            <a:ln w="57150">
              <a:solidFill>
                <a:schemeClr val="accent1"/>
              </a:solidFill>
            </a:ln>
          </p:spPr>
        </p:sp>
        <p:sp>
          <p:nvSpPr>
            <p:cNvPr id="17" name="Line 17"/>
            <p:cNvSpPr/>
            <p:nvPr/>
          </p:nvSpPr>
          <p:spPr>
            <a:xfrm>
              <a:off x="2895600" y="3695700"/>
              <a:ext cx="8058150" cy="9525"/>
            </a:xfrm>
            <a:custGeom>
              <a:avLst/>
              <a:gdLst/>
              <a:ahLst/>
              <a:cxnLst/>
              <a:rect l="l" t="t" r="r" b="b"/>
              <a:pathLst>
                <a:path w="8058150" h="9525">
                  <a:moveTo>
                    <a:pt x="0" y="0"/>
                  </a:moveTo>
                  <a:lnTo>
                    <a:pt x="8058150" y="0"/>
                  </a:lnTo>
                </a:path>
              </a:pathLst>
            </a:custGeom>
            <a:noFill/>
            <a:ln w="57150">
              <a:solidFill>
                <a:schemeClr val="accent1"/>
              </a:solidFill>
            </a:ln>
          </p:spPr>
        </p:sp>
        <p:sp>
          <p:nvSpPr>
            <p:cNvPr id="18" name="Rectangle 18"/>
            <p:cNvSpPr/>
            <p:nvPr/>
          </p:nvSpPr>
          <p:spPr>
            <a:xfrm>
              <a:off x="828675" y="2524125"/>
              <a:ext cx="1219200" cy="552450"/>
            </a:xfrm>
            <a:prstGeom prst="roundRect">
              <a:avLst>
                <a:gd name="adj" fmla="val 10345"/>
              </a:avLst>
            </a:prstGeom>
            <a:solidFill>
              <a:schemeClr val="lt2"/>
            </a:solidFill>
            <a:ln w="9525">
              <a:solidFill>
                <a:schemeClr val="accent1"/>
              </a:solidFill>
            </a:ln>
          </p:spPr>
        </p:sp>
        <p:sp>
          <p:nvSpPr>
            <p:cNvPr id="19" name="TextBox 19"/>
            <p:cNvSpPr txBox="1"/>
            <p:nvPr/>
          </p:nvSpPr>
          <p:spPr>
            <a:xfrm>
              <a:off x="1026795" y="2695575"/>
              <a:ext cx="822960" cy="293370"/>
            </a:xfrm>
            <a:prstGeom prst="rect">
              <a:avLst/>
            </a:prstGeom>
            <a:noFill/>
            <a:ln>
              <a:noFill/>
            </a:ln>
          </p:spPr>
          <p:txBody>
            <a:bodyPr wrap="none" lIns="0" tIns="0" rIns="0" bIns="0" anchor="t" anchorCtr="0">
              <a:spAutoFit/>
            </a:bodyPr>
            <a:lstStyle/>
            <a:p>
              <a:pPr algn="ctr"/>
              <a:r>
                <a:rPr lang="zh-CN" sz="1500" dirty="0">
                  <a:solidFill>
                    <a:schemeClr val="accent1"/>
                  </a:solidFill>
                  <a:latin typeface="+mn-lt"/>
                  <a:ea typeface="+mn-ea"/>
                  <a:cs typeface="+mn-cs"/>
                </a:rPr>
                <a:t>共同供水</a:t>
              </a:r>
            </a:p>
          </p:txBody>
        </p:sp>
        <p:sp>
          <p:nvSpPr>
            <p:cNvPr id="20" name="Rectangle 20"/>
            <p:cNvSpPr/>
            <p:nvPr/>
          </p:nvSpPr>
          <p:spPr>
            <a:xfrm>
              <a:off x="4514850" y="2200275"/>
              <a:ext cx="866775" cy="419100"/>
            </a:xfrm>
            <a:prstGeom prst="roundRect">
              <a:avLst>
                <a:gd name="adj" fmla="val 11364"/>
              </a:avLst>
            </a:prstGeom>
            <a:solidFill>
              <a:srgbClr val="F6ECE6"/>
            </a:solidFill>
            <a:ln w="9525">
              <a:solidFill>
                <a:schemeClr val="accent2"/>
              </a:solidFill>
            </a:ln>
          </p:spPr>
        </p:sp>
        <p:sp>
          <p:nvSpPr>
            <p:cNvPr id="21" name="TextBox 21"/>
            <p:cNvSpPr txBox="1"/>
            <p:nvPr/>
          </p:nvSpPr>
          <p:spPr>
            <a:xfrm>
              <a:off x="4573143" y="2321242"/>
              <a:ext cx="740664" cy="264033"/>
            </a:xfrm>
            <a:prstGeom prst="rect">
              <a:avLst/>
            </a:prstGeom>
            <a:noFill/>
            <a:ln>
              <a:noFill/>
            </a:ln>
          </p:spPr>
          <p:txBody>
            <a:bodyPr wrap="none" lIns="0" tIns="0" rIns="0" bIns="0" anchor="t" anchorCtr="0">
              <a:spAutoFit/>
            </a:bodyPr>
            <a:lstStyle/>
            <a:p>
              <a:pPr algn="ctr"/>
              <a:r>
                <a:rPr lang="zh-CN" sz="1350" dirty="0">
                  <a:solidFill>
                    <a:schemeClr val="accent2"/>
                  </a:solidFill>
                  <a:latin typeface="+mn-lt"/>
                  <a:ea typeface="+mn-ea"/>
                  <a:cs typeface="+mn-cs"/>
                </a:rPr>
                <a:t>受限元件</a:t>
              </a:r>
            </a:p>
          </p:txBody>
        </p:sp>
        <p:sp>
          <p:nvSpPr>
            <p:cNvPr id="22" name="Ellipse 22"/>
            <p:cNvSpPr/>
            <p:nvPr/>
          </p:nvSpPr>
          <p:spPr>
            <a:xfrm>
              <a:off x="3505200" y="2171700"/>
              <a:ext cx="476250" cy="476250"/>
            </a:xfrm>
            <a:prstGeom prst="ellipse">
              <a:avLst/>
            </a:prstGeom>
            <a:solidFill>
              <a:schemeClr val="lt1"/>
            </a:solidFill>
            <a:ln w="28575">
              <a:solidFill>
                <a:schemeClr val="accent1"/>
              </a:solidFill>
            </a:ln>
          </p:spPr>
        </p:sp>
        <p:sp>
          <p:nvSpPr>
            <p:cNvPr id="23" name="TextBox 23"/>
            <p:cNvSpPr txBox="1"/>
            <p:nvPr/>
          </p:nvSpPr>
          <p:spPr>
            <a:xfrm>
              <a:off x="3612490" y="2314575"/>
              <a:ext cx="26167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P0</a:t>
              </a:r>
            </a:p>
          </p:txBody>
        </p:sp>
        <p:sp>
          <p:nvSpPr>
            <p:cNvPr id="24" name="Ellipse 24"/>
            <p:cNvSpPr/>
            <p:nvPr/>
          </p:nvSpPr>
          <p:spPr>
            <a:xfrm>
              <a:off x="6200775" y="2171700"/>
              <a:ext cx="476250" cy="476250"/>
            </a:xfrm>
            <a:prstGeom prst="ellipse">
              <a:avLst/>
            </a:prstGeom>
            <a:solidFill>
              <a:schemeClr val="lt1"/>
            </a:solidFill>
            <a:ln w="28575">
              <a:solidFill>
                <a:schemeClr val="accent1"/>
              </a:solidFill>
            </a:ln>
          </p:spPr>
        </p:sp>
        <p:sp>
          <p:nvSpPr>
            <p:cNvPr id="25" name="TextBox 25"/>
            <p:cNvSpPr txBox="1"/>
            <p:nvPr/>
          </p:nvSpPr>
          <p:spPr>
            <a:xfrm>
              <a:off x="6308065" y="2314575"/>
              <a:ext cx="26167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P1</a:t>
              </a:r>
            </a:p>
          </p:txBody>
        </p:sp>
        <p:sp>
          <p:nvSpPr>
            <p:cNvPr id="26" name="Ellipse 26"/>
            <p:cNvSpPr/>
            <p:nvPr/>
          </p:nvSpPr>
          <p:spPr>
            <a:xfrm>
              <a:off x="7743825" y="2171700"/>
              <a:ext cx="476250" cy="476250"/>
            </a:xfrm>
            <a:prstGeom prst="ellipse">
              <a:avLst/>
            </a:prstGeom>
            <a:solidFill>
              <a:schemeClr val="lt1"/>
            </a:solidFill>
            <a:ln w="28575">
              <a:solidFill>
                <a:schemeClr val="accent1"/>
              </a:solidFill>
            </a:ln>
          </p:spPr>
        </p:sp>
        <p:sp>
          <p:nvSpPr>
            <p:cNvPr id="27" name="TextBox 27"/>
            <p:cNvSpPr txBox="1"/>
            <p:nvPr/>
          </p:nvSpPr>
          <p:spPr>
            <a:xfrm>
              <a:off x="7890320" y="2314575"/>
              <a:ext cx="18326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Q</a:t>
              </a:r>
            </a:p>
          </p:txBody>
        </p:sp>
        <p:sp>
          <p:nvSpPr>
            <p:cNvPr id="28" name="TextBox 28"/>
            <p:cNvSpPr txBox="1"/>
            <p:nvPr/>
          </p:nvSpPr>
          <p:spPr>
            <a:xfrm>
              <a:off x="3372993" y="18354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区段入口</a:t>
              </a:r>
            </a:p>
          </p:txBody>
        </p:sp>
        <p:sp>
          <p:nvSpPr>
            <p:cNvPr id="29" name="TextBox 29"/>
            <p:cNvSpPr txBox="1"/>
            <p:nvPr/>
          </p:nvSpPr>
          <p:spPr>
            <a:xfrm>
              <a:off x="6068568" y="18354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受限下游</a:t>
              </a:r>
            </a:p>
          </p:txBody>
        </p:sp>
        <p:sp>
          <p:nvSpPr>
            <p:cNvPr id="30" name="TextBox 30"/>
            <p:cNvSpPr txBox="1"/>
            <p:nvPr/>
          </p:nvSpPr>
          <p:spPr>
            <a:xfrm>
              <a:off x="7520749" y="1835468"/>
              <a:ext cx="922401"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支管总流量</a:t>
              </a:r>
            </a:p>
          </p:txBody>
        </p:sp>
        <p:sp>
          <p:nvSpPr>
            <p:cNvPr id="31" name="Line 31"/>
            <p:cNvSpPr/>
            <p:nvPr/>
          </p:nvSpPr>
          <p:spPr>
            <a:xfrm>
              <a:off x="8963025" y="2409825"/>
              <a:ext cx="9525" cy="647700"/>
            </a:xfrm>
            <a:custGeom>
              <a:avLst/>
              <a:gdLst/>
              <a:ahLst/>
              <a:cxnLst/>
              <a:rect l="l" t="t" r="r" b="b"/>
              <a:pathLst>
                <a:path w="9525" h="647700">
                  <a:moveTo>
                    <a:pt x="0" y="0"/>
                  </a:moveTo>
                  <a:lnTo>
                    <a:pt x="0" y="647700"/>
                  </a:lnTo>
                </a:path>
              </a:pathLst>
            </a:custGeom>
            <a:noFill/>
            <a:ln w="28575">
              <a:solidFill>
                <a:schemeClr val="accent2"/>
              </a:solidFill>
            </a:ln>
          </p:spPr>
        </p:sp>
        <p:sp>
          <p:nvSpPr>
            <p:cNvPr id="32" name="Line 32"/>
            <p:cNvSpPr/>
            <p:nvPr/>
          </p:nvSpPr>
          <p:spPr>
            <a:xfrm>
              <a:off x="8963025" y="3057525"/>
              <a:ext cx="1543050" cy="9525"/>
            </a:xfrm>
            <a:custGeom>
              <a:avLst/>
              <a:gdLst/>
              <a:ahLst/>
              <a:cxnLst/>
              <a:rect l="l" t="t" r="r" b="b"/>
              <a:pathLst>
                <a:path w="1543050" h="9525">
                  <a:moveTo>
                    <a:pt x="0" y="0"/>
                  </a:moveTo>
                  <a:lnTo>
                    <a:pt x="1543050" y="0"/>
                  </a:lnTo>
                </a:path>
              </a:pathLst>
            </a:custGeom>
            <a:noFill/>
            <a:ln w="28575">
              <a:solidFill>
                <a:schemeClr val="accent2"/>
              </a:solidFill>
            </a:ln>
          </p:spPr>
        </p:sp>
        <p:sp>
          <p:nvSpPr>
            <p:cNvPr id="33" name="TextBox 33"/>
            <p:cNvSpPr txBox="1"/>
            <p:nvPr/>
          </p:nvSpPr>
          <p:spPr>
            <a:xfrm>
              <a:off x="10603992" y="2987992"/>
              <a:ext cx="377190"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泄漏</a:t>
              </a:r>
            </a:p>
          </p:txBody>
        </p:sp>
        <p:sp>
          <p:nvSpPr>
            <p:cNvPr id="34" name="Rectangle 34"/>
            <p:cNvSpPr/>
            <p:nvPr/>
          </p:nvSpPr>
          <p:spPr>
            <a:xfrm>
              <a:off x="10144125" y="2209800"/>
              <a:ext cx="923925" cy="400050"/>
            </a:xfrm>
            <a:prstGeom prst="roundRect">
              <a:avLst>
                <a:gd name="adj" fmla="val 9524"/>
              </a:avLst>
            </a:prstGeom>
            <a:solidFill>
              <a:schemeClr val="lt2"/>
            </a:solidFill>
            <a:ln>
              <a:noFill/>
            </a:ln>
          </p:spPr>
        </p:sp>
        <p:sp>
          <p:nvSpPr>
            <p:cNvPr id="35" name="TextBox 35"/>
            <p:cNvSpPr txBox="1"/>
            <p:nvPr/>
          </p:nvSpPr>
          <p:spPr>
            <a:xfrm>
              <a:off x="10359923" y="2330768"/>
              <a:ext cx="482803" cy="264033"/>
            </a:xfrm>
            <a:prstGeom prst="rect">
              <a:avLst/>
            </a:prstGeom>
            <a:noFill/>
            <a:ln>
              <a:noFill/>
            </a:ln>
          </p:spPr>
          <p:txBody>
            <a:bodyPr wrap="none" lIns="0" tIns="0" rIns="0" bIns="0" anchor="t" anchorCtr="0">
              <a:spAutoFit/>
            </a:bodyPr>
            <a:lstStyle/>
            <a:p>
              <a:pPr algn="ctr"/>
              <a:r>
                <a:rPr lang="zh-CN" sz="1350" dirty="0">
                  <a:solidFill>
                    <a:schemeClr val="accent1"/>
                  </a:solidFill>
                  <a:latin typeface="+mn-lt"/>
                  <a:ea typeface="+mn-ea"/>
                  <a:cs typeface="+mn-cs"/>
                </a:rPr>
                <a:t>A负载</a:t>
              </a:r>
            </a:p>
          </p:txBody>
        </p:sp>
        <p:sp>
          <p:nvSpPr>
            <p:cNvPr id="36" name="Rectangle 36"/>
            <p:cNvSpPr/>
            <p:nvPr/>
          </p:nvSpPr>
          <p:spPr>
            <a:xfrm>
              <a:off x="5172075" y="3495675"/>
              <a:ext cx="1038225" cy="400050"/>
            </a:xfrm>
            <a:prstGeom prst="roundRect">
              <a:avLst>
                <a:gd name="adj" fmla="val 9524"/>
              </a:avLst>
            </a:prstGeom>
            <a:solidFill>
              <a:schemeClr val="lt2"/>
            </a:solidFill>
            <a:ln w="9525">
              <a:solidFill>
                <a:schemeClr val="accent1"/>
              </a:solidFill>
            </a:ln>
          </p:spPr>
        </p:sp>
        <p:sp>
          <p:nvSpPr>
            <p:cNvPr id="37" name="TextBox 37"/>
            <p:cNvSpPr txBox="1"/>
            <p:nvPr/>
          </p:nvSpPr>
          <p:spPr>
            <a:xfrm>
              <a:off x="5406962" y="3626168"/>
              <a:ext cx="558927" cy="264033"/>
            </a:xfrm>
            <a:prstGeom prst="rect">
              <a:avLst/>
            </a:prstGeom>
            <a:noFill/>
            <a:ln>
              <a:noFill/>
            </a:ln>
          </p:spPr>
          <p:txBody>
            <a:bodyPr wrap="none" lIns="0" tIns="0" rIns="0" bIns="0" anchor="t" anchorCtr="0">
              <a:spAutoFit/>
            </a:bodyPr>
            <a:lstStyle/>
            <a:p>
              <a:pPr algn="ctr"/>
              <a:r>
                <a:rPr lang="zh-CN" sz="1350" dirty="0">
                  <a:solidFill>
                    <a:schemeClr val="accent1"/>
                  </a:solidFill>
                  <a:latin typeface="+mn-lt"/>
                  <a:ea typeface="+mn-ea"/>
                  <a:cs typeface="+mn-cs"/>
                </a:rPr>
                <a:t>切换阀</a:t>
              </a:r>
            </a:p>
          </p:txBody>
        </p:sp>
        <p:sp>
          <p:nvSpPr>
            <p:cNvPr id="38" name="Rectangle 38"/>
            <p:cNvSpPr/>
            <p:nvPr/>
          </p:nvSpPr>
          <p:spPr>
            <a:xfrm>
              <a:off x="10144125" y="3495675"/>
              <a:ext cx="923925" cy="400050"/>
            </a:xfrm>
            <a:prstGeom prst="roundRect">
              <a:avLst>
                <a:gd name="adj" fmla="val 9524"/>
              </a:avLst>
            </a:prstGeom>
            <a:solidFill>
              <a:schemeClr val="lt2"/>
            </a:solidFill>
            <a:ln>
              <a:noFill/>
            </a:ln>
          </p:spPr>
        </p:sp>
        <p:sp>
          <p:nvSpPr>
            <p:cNvPr id="39" name="TextBox 39"/>
            <p:cNvSpPr txBox="1"/>
            <p:nvPr/>
          </p:nvSpPr>
          <p:spPr>
            <a:xfrm>
              <a:off x="10359923" y="3626168"/>
              <a:ext cx="482803" cy="264033"/>
            </a:xfrm>
            <a:prstGeom prst="rect">
              <a:avLst/>
            </a:prstGeom>
            <a:noFill/>
            <a:ln>
              <a:noFill/>
            </a:ln>
          </p:spPr>
          <p:txBody>
            <a:bodyPr wrap="none" lIns="0" tIns="0" rIns="0" bIns="0" anchor="t" anchorCtr="0">
              <a:spAutoFit/>
            </a:bodyPr>
            <a:lstStyle/>
            <a:p>
              <a:pPr algn="ctr"/>
              <a:r>
                <a:rPr lang="zh-CN" sz="1350" dirty="0">
                  <a:solidFill>
                    <a:schemeClr val="accent1"/>
                  </a:solidFill>
                  <a:latin typeface="+mn-lt"/>
                  <a:ea typeface="+mn-ea"/>
                  <a:cs typeface="+mn-cs"/>
                </a:rPr>
                <a:t>B负载</a:t>
              </a:r>
            </a:p>
          </p:txBody>
        </p:sp>
        <p:sp>
          <p:nvSpPr>
            <p:cNvPr id="40" name="TextBox 40"/>
            <p:cNvSpPr txBox="1"/>
            <p:nvPr/>
          </p:nvSpPr>
          <p:spPr>
            <a:xfrm>
              <a:off x="811530" y="3962400"/>
              <a:ext cx="5204460" cy="293370"/>
            </a:xfrm>
            <a:prstGeom prst="rect">
              <a:avLst/>
            </a:prstGeom>
            <a:noFill/>
            <a:ln>
              <a:noFill/>
            </a:ln>
          </p:spPr>
          <p:txBody>
            <a:bodyPr wrap="none" lIns="0" tIns="0" rIns="0" bIns="0" anchor="t" anchorCtr="0">
              <a:spAutoFit/>
            </a:bodyPr>
            <a:lstStyle/>
            <a:p>
              <a:pPr algn="l"/>
              <a:r>
                <a:rPr lang="zh-CN" sz="1500" dirty="0">
                  <a:solidFill>
                    <a:schemeClr val="accent1"/>
                  </a:solidFill>
                  <a:latin typeface="+mn-lt"/>
                  <a:ea typeface="+mn-ea"/>
                  <a:cs typeface="+mn-cs"/>
                </a:rPr>
                <a:t>P0/P1包围目标受限区段；Q包含负载与泄漏旁路总流量。</a:t>
              </a:r>
            </a:p>
          </p:txBody>
        </p:sp>
      </p:grpSp>
      <p:grpSp>
        <p:nvGrpSpPr>
          <p:cNvPr id="53" name="diagnostic-features"/>
          <p:cNvGrpSpPr/>
          <p:nvPr/>
        </p:nvGrpSpPr>
        <p:grpSpPr>
          <a:xfrm>
            <a:off x="448056" y="4572000"/>
            <a:ext cx="11286744" cy="1710385"/>
            <a:chOff x="448056" y="4572000"/>
            <a:chExt cx="11286744" cy="1710385"/>
          </a:xfrm>
        </p:grpSpPr>
        <p:sp>
          <p:nvSpPr>
            <p:cNvPr id="42" name="Rectangle 42"/>
            <p:cNvSpPr/>
            <p:nvPr/>
          </p:nvSpPr>
          <p:spPr>
            <a:xfrm>
              <a:off x="457200" y="4572000"/>
              <a:ext cx="3724275" cy="1095375"/>
            </a:xfrm>
            <a:prstGeom prst="roundRect">
              <a:avLst>
                <a:gd name="adj" fmla="val 5217"/>
              </a:avLst>
            </a:prstGeom>
            <a:solidFill>
              <a:schemeClr val="lt2"/>
            </a:solidFill>
            <a:ln>
              <a:noFill/>
            </a:ln>
          </p:spPr>
        </p:sp>
        <p:sp>
          <p:nvSpPr>
            <p:cNvPr id="43" name="TextBox 43"/>
            <p:cNvSpPr txBox="1"/>
            <p:nvPr/>
          </p:nvSpPr>
          <p:spPr>
            <a:xfrm>
              <a:off x="640080" y="4724400"/>
              <a:ext cx="1013384"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负载特征 K</a:t>
              </a:r>
            </a:p>
          </p:txBody>
        </p:sp>
        <p:sp>
          <p:nvSpPr>
            <p:cNvPr id="44" name="TextBox 44"/>
            <p:cNvSpPr txBox="1"/>
            <p:nvPr/>
          </p:nvSpPr>
          <p:spPr>
            <a:xfrm>
              <a:off x="637032" y="5097780"/>
              <a:ext cx="1081735"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Q / √P1</a:t>
              </a:r>
            </a:p>
          </p:txBody>
        </p:sp>
        <p:sp>
          <p:nvSpPr>
            <p:cNvPr id="45" name="Rectangle 45"/>
            <p:cNvSpPr/>
            <p:nvPr/>
          </p:nvSpPr>
          <p:spPr>
            <a:xfrm>
              <a:off x="4400550" y="4572000"/>
              <a:ext cx="3724275" cy="1095375"/>
            </a:xfrm>
            <a:prstGeom prst="roundRect">
              <a:avLst>
                <a:gd name="adj" fmla="val 5217"/>
              </a:avLst>
            </a:prstGeom>
            <a:solidFill>
              <a:schemeClr val="lt2"/>
            </a:solidFill>
            <a:ln>
              <a:noFill/>
            </a:ln>
          </p:spPr>
        </p:sp>
        <p:sp>
          <p:nvSpPr>
            <p:cNvPr id="46" name="TextBox 46"/>
            <p:cNvSpPr txBox="1"/>
            <p:nvPr/>
          </p:nvSpPr>
          <p:spPr>
            <a:xfrm>
              <a:off x="4583430" y="4724400"/>
              <a:ext cx="1417244"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阻力特征 R估计</a:t>
              </a:r>
            </a:p>
          </p:txBody>
        </p:sp>
        <p:sp>
          <p:nvSpPr>
            <p:cNvPr id="47" name="TextBox 47"/>
            <p:cNvSpPr txBox="1"/>
            <p:nvPr/>
          </p:nvSpPr>
          <p:spPr>
            <a:xfrm>
              <a:off x="4580382" y="5097780"/>
              <a:ext cx="2082394"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(P0 − P1) / Q²</a:t>
              </a:r>
            </a:p>
          </p:txBody>
        </p:sp>
        <p:sp>
          <p:nvSpPr>
            <p:cNvPr id="48" name="Rectangle 48"/>
            <p:cNvSpPr/>
            <p:nvPr/>
          </p:nvSpPr>
          <p:spPr>
            <a:xfrm>
              <a:off x="8343900" y="4572000"/>
              <a:ext cx="3390900" cy="1095375"/>
            </a:xfrm>
            <a:prstGeom prst="roundRect">
              <a:avLst>
                <a:gd name="adj" fmla="val 5217"/>
              </a:avLst>
            </a:prstGeom>
            <a:solidFill>
              <a:srgbClr val="F6ECE6"/>
            </a:solidFill>
            <a:ln>
              <a:noFill/>
            </a:ln>
          </p:spPr>
        </p:sp>
        <p:sp>
          <p:nvSpPr>
            <p:cNvPr id="49" name="TextBox 49"/>
            <p:cNvSpPr txBox="1"/>
            <p:nvPr/>
          </p:nvSpPr>
          <p:spPr>
            <a:xfrm>
              <a:off x="8526780" y="4724400"/>
              <a:ext cx="1226820" cy="293370"/>
            </a:xfrm>
            <a:prstGeom prst="rect">
              <a:avLst/>
            </a:prstGeom>
            <a:noFill/>
            <a:ln>
              <a:noFill/>
            </a:ln>
          </p:spPr>
          <p:txBody>
            <a:bodyPr wrap="none" lIns="0" tIns="0" rIns="0" bIns="0" anchor="t" anchorCtr="0">
              <a:spAutoFit/>
            </a:bodyPr>
            <a:lstStyle/>
            <a:p>
              <a:pPr algn="l"/>
              <a:r>
                <a:rPr lang="zh-CN" sz="1500" b="1" dirty="0">
                  <a:solidFill>
                    <a:schemeClr val="accent2"/>
                  </a:solidFill>
                  <a:latin typeface="+mn-lt"/>
                  <a:ea typeface="+mn-ea"/>
                  <a:cs typeface="+mn-cs"/>
                </a:rPr>
                <a:t>诊断成立条件</a:t>
              </a:r>
            </a:p>
          </p:txBody>
        </p:sp>
        <p:sp>
          <p:nvSpPr>
            <p:cNvPr id="50" name="TextBox 50"/>
            <p:cNvSpPr txBox="1"/>
            <p:nvPr/>
          </p:nvSpPr>
          <p:spPr>
            <a:xfrm>
              <a:off x="8526780" y="5067300"/>
              <a:ext cx="2301240" cy="569595"/>
            </a:xfrm>
            <a:prstGeom prst="rect">
              <a:avLst/>
            </a:prstGeom>
            <a:noFill/>
            <a:ln>
              <a:noFill/>
            </a:ln>
          </p:spPr>
          <p:txBody>
            <a:bodyPr wrap="none" lIns="0" tIns="0" rIns="0" bIns="0" anchor="t" anchorCtr="0">
              <a:spAutoFit/>
            </a:bodyPr>
            <a:lstStyle/>
            <a:p>
              <a:pPr algn="l">
                <a:lnSpc>
                  <a:spcPts val="2175"/>
                </a:lnSpc>
              </a:pPr>
              <a:r>
                <a:rPr lang="zh-CN" sz="1500" dirty="0">
                  <a:solidFill>
                    <a:schemeClr val="dk1"/>
                  </a:solidFill>
                  <a:latin typeface="+mn-lt"/>
                  <a:ea typeface="+mn-ea"/>
                  <a:cs typeface="+mn-cs"/>
                </a:rPr>
                <a:t>已知操作 / 参考标定</a:t>
              </a:r>
              <a:br/>
              <a:r>
                <a:rPr lang="zh-CN" sz="1500" dirty="0">
                  <a:solidFill>
                    <a:schemeClr val="dk1"/>
                  </a:solidFill>
                  <a:latin typeface="+mn-lt"/>
                  <a:ea typeface="+mn-ea"/>
                  <a:cs typeface="+mn-cs"/>
                </a:rPr>
                <a:t>未知负载与漂移仍可能混淆</a:t>
              </a:r>
            </a:p>
          </p:txBody>
        </p:sp>
        <mc:AlternateContent xmlns:mc="http://schemas.openxmlformats.org/markup-compatibility/2006">
          <mc:Choice xmlns:a14="http://schemas.microsoft.com/office/drawing/2010/main" Requires="a14">
            <p:sp>
              <p:nvSpPr>
                <p:cNvPr id="51" name="TextBox 51"/>
                <p:cNvSpPr txBox="1"/>
                <p:nvPr/>
              </p:nvSpPr>
              <p:spPr>
                <a:xfrm>
                  <a:off x="448056" y="5846445"/>
                  <a:ext cx="2279599" cy="435940"/>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负载假设：</a:t>
                  </a:r>
                  <a14:m>
                    <m:oMath xmlns:a="http://schemas.openxmlformats.org/drawingml/2006/main" xmlns:m="http://schemas.openxmlformats.org/officeDocument/2006/math">
                      <m:r>
                        <a:rPr lang="zh-CN" sz="1800" dirty="0">
                          <a:solidFill>
                            <a:schemeClr val="accent1"/>
                          </a:solidFill>
                          <a:latin typeface="Cambria Math"/>
                          <a:ea typeface="Cambria Math"/>
                          <a:cs typeface="Cambria Math"/>
                        </a:rPr>
                        <m:t>Q</m:t>
                      </m:r>
                      <m:r>
                        <m:rPr>
                          <m:sty m:val="p"/>
                        </m:rPr>
                        <a:rPr lang="zh-CN" sz="1800" dirty="0">
                          <a:solidFill>
                            <a:schemeClr val="accent1"/>
                          </a:solidFill>
                          <a:latin typeface="Cambria Math"/>
                          <a:ea typeface="Cambria Math"/>
                          <a:cs typeface="Cambria Math"/>
                        </a:rPr>
                        <m:t>=</m:t>
                      </m:r>
                      <m:r>
                        <a:rPr lang="zh-CN" sz="1800" dirty="0">
                          <a:solidFill>
                            <a:schemeClr val="accent1"/>
                          </a:solidFill>
                          <a:latin typeface="Cambria Math"/>
                          <a:ea typeface="Cambria Math"/>
                          <a:cs typeface="Cambria Math"/>
                        </a:rPr>
                        <m:t>C</m:t>
                      </m:r>
                      <m:rad>
                        <m:radPr>
                          <m:degHide m:val="on"/>
                          <m:ctrlPr>
                            <a:rPr lang="zh-CN" sz="1800" dirty="0">
                              <a:solidFill>
                                <a:schemeClr val="accent1"/>
                              </a:solidFill>
                              <a:latin typeface="Cambria Math"/>
                              <a:ea typeface="Cambria Math"/>
                              <a:cs typeface="Cambria Math"/>
                            </a:rPr>
                          </m:ctrlPr>
                        </m:radPr>
                        <m:deg/>
                        <m:e>
                          <m:sSub>
                            <m:e>
                              <m:r>
                                <a:rPr lang="zh-CN" sz="1800" dirty="0">
                                  <a:solidFill>
                                    <a:schemeClr val="accent1"/>
                                  </a:solidFill>
                                  <a:latin typeface="Cambria Math"/>
                                  <a:ea typeface="Cambria Math"/>
                                  <a:cs typeface="Cambria Math"/>
                                </a:rPr>
                                <m:t>P</m:t>
                              </m:r>
                            </m:e>
                            <m:sub>
                              <m:r>
                                <a:rPr lang="zh-CN" sz="1800" dirty="0">
                                  <a:solidFill>
                                    <a:schemeClr val="accent1"/>
                                  </a:solidFill>
                                  <a:latin typeface="Cambria Math"/>
                                  <a:ea typeface="Cambria Math"/>
                                  <a:cs typeface="Cambria Math"/>
                                </a:rPr>
                                <m:t>1</m:t>
                              </m:r>
                            </m:sub>
                          </m:sSub>
                        </m:e>
                      </m:rad>
                    </m:oMath>
                  </a14:m>
                </a:p>
              </p:txBody>
            </p:sp>
          </mc:Choice>
        </mc:AlternateContent>
        <p:sp>
          <p:nvSpPr>
            <p:cNvPr id="52" name="TextBox 52"/>
            <p:cNvSpPr txBox="1"/>
            <p:nvPr/>
          </p:nvSpPr>
          <p:spPr>
            <a:xfrm>
              <a:off x="4734306" y="5892165"/>
              <a:ext cx="2996489"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压降假设：P0 − P1 = R·Q²</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route-highlight"/>
          <p:cNvSpPr/>
          <p:nvPr/>
        </p:nvSpPr>
        <p:spPr>
          <a:xfrm>
            <a:off x="9820275" y="257175"/>
            <a:ext cx="619125" cy="295275"/>
          </a:xfrm>
          <a:prstGeom prst="roundRect">
            <a:avLst>
              <a:gd name="adj" fmla="val 12903"/>
            </a:avLst>
          </a:prstGeom>
          <a:solidFill>
            <a:schemeClr val="lt2"/>
          </a:solidFill>
          <a:ln>
            <a:noFill/>
          </a:ln>
        </p:spPr>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4696587" cy="616077"/>
            <a:chOff x="441198" y="860108"/>
            <a:chExt cx="4696587" cy="616077"/>
          </a:xfrm>
        </p:grpSpPr>
        <p:sp>
          <p:nvSpPr>
            <p:cNvPr id="9" name="TextBox 9"/>
            <p:cNvSpPr txBox="1"/>
            <p:nvPr/>
          </p:nvSpPr>
          <p:spPr>
            <a:xfrm>
              <a:off x="441198" y="860108"/>
              <a:ext cx="4696587"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早期，必须早于失效判据</a:t>
              </a:r>
            </a:p>
          </p:txBody>
        </p:sp>
      </p:grpSp>
      <p:sp>
        <p:nvSpPr>
          <p:cNvPr id="11" name="source-footer"/>
          <p:cNvSpPr txBox="1"/>
          <p:nvPr/>
        </p:nvSpPr>
        <p:spPr>
          <a:xfrm>
            <a:off x="451104" y="6404610"/>
            <a:ext cx="487801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未标定合成模型 · 种子10300 · 各压力点噪声σ0.3kPa · 非实物性能</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06/15</a:t>
            </a:r>
          </a:p>
        </p:txBody>
      </p:sp>
      <p:grpSp>
        <p:nvGrpSpPr>
          <p:cNvPr id="21" name="early-legend"/>
          <p:cNvGrpSpPr/>
          <p:nvPr/>
        </p:nvGrpSpPr>
        <p:grpSpPr>
          <a:xfrm>
            <a:off x="457200" y="1619250"/>
            <a:ext cx="6823900" cy="350520"/>
            <a:chOff x="457200" y="1619250"/>
            <a:chExt cx="6823900" cy="350520"/>
          </a:xfrm>
        </p:grpSpPr>
        <p:sp>
          <p:nvSpPr>
            <p:cNvPr id="13" name="Rectangle 13"/>
            <p:cNvSpPr/>
            <p:nvPr/>
          </p:nvSpPr>
          <p:spPr>
            <a:xfrm>
              <a:off x="457200" y="1619250"/>
              <a:ext cx="2638425" cy="295275"/>
            </a:xfrm>
            <a:prstGeom prst="roundRect">
              <a:avLst>
                <a:gd name="adj" fmla="val 12903"/>
              </a:avLst>
            </a:prstGeom>
            <a:solidFill>
              <a:schemeClr val="lt2"/>
            </a:solidFill>
            <a:ln>
              <a:noFill/>
            </a:ln>
          </p:spPr>
        </p:sp>
        <p:sp>
          <p:nvSpPr>
            <p:cNvPr id="14" name="TextBox 14"/>
            <p:cNvSpPr txBox="1"/>
            <p:nvPr/>
          </p:nvSpPr>
          <p:spPr>
            <a:xfrm>
              <a:off x="574167" y="1683068"/>
              <a:ext cx="2040084" cy="264033"/>
            </a:xfrm>
            <a:prstGeom prst="rect">
              <a:avLst/>
            </a:prstGeom>
            <a:noFill/>
            <a:ln>
              <a:noFill/>
            </a:ln>
          </p:spPr>
          <p:txBody>
            <a:bodyPr wrap="none" lIns="0" tIns="0" rIns="0" bIns="0" anchor="t" anchorCtr="0">
              <a:spAutoFit/>
            </a:bodyPr>
            <a:lstStyle/>
            <a:p>
              <a:pPr algn="l"/>
              <a:r>
                <a:rPr lang="zh-CN" sz="1350" dirty="0">
                  <a:solidFill>
                    <a:schemeClr val="accent1"/>
                  </a:solidFill>
                  <a:latin typeface="+mn-lt"/>
                  <a:ea typeface="+mn-ea"/>
                  <a:cs typeface="+mn-cs"/>
                </a:rPr>
                <a:t>合成模型 / 单次记录示例</a:t>
              </a:r>
            </a:p>
          </p:txBody>
        </p:sp>
        <p:sp>
          <p:nvSpPr>
            <p:cNvPr id="15" name="Line 15"/>
            <p:cNvSpPr/>
            <p:nvPr/>
          </p:nvSpPr>
          <p:spPr>
            <a:xfrm>
              <a:off x="3638550" y="1781175"/>
              <a:ext cx="247650" cy="9525"/>
            </a:xfrm>
            <a:custGeom>
              <a:avLst/>
              <a:gdLst/>
              <a:ahLst/>
              <a:cxnLst/>
              <a:rect l="l" t="t" r="r" b="b"/>
              <a:pathLst>
                <a:path w="247650" h="9525">
                  <a:moveTo>
                    <a:pt x="0" y="0"/>
                  </a:moveTo>
                  <a:lnTo>
                    <a:pt x="247650" y="0"/>
                  </a:lnTo>
                </a:path>
              </a:pathLst>
            </a:custGeom>
            <a:noFill/>
            <a:ln w="38100">
              <a:solidFill>
                <a:schemeClr val="accent2"/>
              </a:solidFill>
            </a:ln>
          </p:spPr>
        </p:sp>
        <p:sp>
          <p:nvSpPr>
            <p:cNvPr id="16" name="TextBox 16"/>
            <p:cNvSpPr txBox="1"/>
            <p:nvPr/>
          </p:nvSpPr>
          <p:spPr>
            <a:xfrm>
              <a:off x="3983355" y="1676400"/>
              <a:ext cx="419100" cy="293370"/>
            </a:xfrm>
            <a:prstGeom prst="rect">
              <a:avLst/>
            </a:prstGeom>
            <a:noFill/>
            <a:ln>
              <a:noFill/>
            </a:ln>
          </p:spPr>
          <p:txBody>
            <a:bodyPr wrap="none" lIns="0" tIns="0" rIns="0" bIns="0" anchor="t" anchorCtr="0">
              <a:spAutoFit/>
            </a:bodyPr>
            <a:lstStyle/>
            <a:p>
              <a:pPr algn="l"/>
              <a:r>
                <a:rPr lang="zh-CN" sz="1500" dirty="0">
                  <a:solidFill>
                    <a:schemeClr val="accent2"/>
                  </a:solidFill>
                  <a:latin typeface="+mn-lt"/>
                  <a:ea typeface="+mn-ea"/>
                  <a:cs typeface="+mn-cs"/>
                </a:rPr>
                <a:t>泄漏</a:t>
              </a:r>
            </a:p>
          </p:txBody>
        </p:sp>
        <p:sp>
          <p:nvSpPr>
            <p:cNvPr id="17" name="Line 17"/>
            <p:cNvSpPr/>
            <p:nvPr/>
          </p:nvSpPr>
          <p:spPr>
            <a:xfrm>
              <a:off x="4867275" y="1781175"/>
              <a:ext cx="247650" cy="9525"/>
            </a:xfrm>
            <a:custGeom>
              <a:avLst/>
              <a:gdLst/>
              <a:ahLst/>
              <a:cxnLst/>
              <a:rect l="l" t="t" r="r" b="b"/>
              <a:pathLst>
                <a:path w="247650" h="9525">
                  <a:moveTo>
                    <a:pt x="0" y="0"/>
                  </a:moveTo>
                  <a:lnTo>
                    <a:pt x="247650" y="0"/>
                  </a:lnTo>
                </a:path>
              </a:pathLst>
            </a:custGeom>
            <a:noFill/>
            <a:ln w="38100">
              <a:solidFill>
                <a:schemeClr val="accent1"/>
              </a:solidFill>
            </a:ln>
          </p:spPr>
        </p:sp>
        <p:sp>
          <p:nvSpPr>
            <p:cNvPr id="18" name="TextBox 18"/>
            <p:cNvSpPr txBox="1"/>
            <p:nvPr/>
          </p:nvSpPr>
          <p:spPr>
            <a:xfrm>
              <a:off x="5212080" y="1676400"/>
              <a:ext cx="419100" cy="293370"/>
            </a:xfrm>
            <a:prstGeom prst="rect">
              <a:avLst/>
            </a:prstGeom>
            <a:noFill/>
            <a:ln>
              <a:noFill/>
            </a:ln>
          </p:spPr>
          <p:txBody>
            <a:bodyPr wrap="none" lIns="0" tIns="0" rIns="0" bIns="0" anchor="t" anchorCtr="0">
              <a:spAutoFit/>
            </a:bodyPr>
            <a:lstStyle/>
            <a:p>
              <a:pPr algn="l"/>
              <a:r>
                <a:rPr lang="zh-CN" sz="1500" dirty="0">
                  <a:solidFill>
                    <a:schemeClr val="accent1"/>
                  </a:solidFill>
                  <a:latin typeface="+mn-lt"/>
                  <a:ea typeface="+mn-ea"/>
                  <a:cs typeface="+mn-cs"/>
                </a:rPr>
                <a:t>受限</a:t>
              </a:r>
            </a:p>
          </p:txBody>
        </p:sp>
        <p:sp>
          <p:nvSpPr>
            <p:cNvPr id="19" name="Line 19"/>
            <p:cNvSpPr/>
            <p:nvPr/>
          </p:nvSpPr>
          <p:spPr>
            <a:xfrm>
              <a:off x="6143625" y="1781175"/>
              <a:ext cx="247650" cy="9525"/>
            </a:xfrm>
            <a:custGeom>
              <a:avLst/>
              <a:gdLst/>
              <a:ahLst/>
              <a:cxnLst/>
              <a:rect l="l" t="t" r="r" b="b"/>
              <a:pathLst>
                <a:path w="247650" h="9525">
                  <a:moveTo>
                    <a:pt x="0" y="0"/>
                  </a:moveTo>
                  <a:lnTo>
                    <a:pt x="247650" y="0"/>
                  </a:lnTo>
                </a:path>
              </a:pathLst>
            </a:custGeom>
            <a:noFill/>
            <a:ln w="28575">
              <a:solidFill>
                <a:schemeClr val="accent3"/>
              </a:solidFill>
            </a:ln>
          </p:spPr>
        </p:sp>
        <p:sp>
          <p:nvSpPr>
            <p:cNvPr id="20" name="TextBox 20"/>
            <p:cNvSpPr txBox="1"/>
            <p:nvPr/>
          </p:nvSpPr>
          <p:spPr>
            <a:xfrm>
              <a:off x="6488430" y="1676400"/>
              <a:ext cx="792670" cy="293370"/>
            </a:xfrm>
            <a:prstGeom prst="rect">
              <a:avLst/>
            </a:prstGeom>
            <a:noFill/>
            <a:ln>
              <a:noFill/>
            </a:ln>
          </p:spPr>
          <p:txBody>
            <a:bodyPr wrap="none" lIns="0" tIns="0" rIns="0" bIns="0" anchor="t" anchorCtr="0">
              <a:spAutoFit/>
            </a:bodyPr>
            <a:lstStyle/>
            <a:p>
              <a:pPr algn="l"/>
              <a:r>
                <a:rPr lang="zh-CN" sz="1500" dirty="0">
                  <a:solidFill>
                    <a:schemeClr val="accent3"/>
                  </a:solidFill>
                  <a:latin typeface="+mn-lt"/>
                  <a:ea typeface="+mn-ea"/>
                  <a:cs typeface="+mn-cs"/>
                </a:rPr>
                <a:t>15%判据</a:t>
              </a:r>
            </a:p>
          </p:txBody>
        </p:sp>
      </p:grpSp>
      <p:grpSp>
        <p:nvGrpSpPr>
          <p:cNvPr id="58" name="early-plot"/>
          <p:cNvGrpSpPr/>
          <p:nvPr/>
        </p:nvGrpSpPr>
        <p:grpSpPr>
          <a:xfrm>
            <a:off x="593331" y="2054542"/>
            <a:ext cx="7240610" cy="3216783"/>
            <a:chOff x="593331" y="2054542"/>
            <a:chExt cx="7240610" cy="3216783"/>
          </a:xfrm>
        </p:grpSpPr>
        <p:grpSp>
          <p:nvGrpSpPr>
            <p:cNvPr id="46" name="pressure-response-chartArea"/>
            <p:cNvGrpSpPr/>
            <p:nvPr/>
          </p:nvGrpSpPr>
          <p:grpSpPr>
            <a:xfrm>
              <a:off x="593331" y="2321242"/>
              <a:ext cx="7240610" cy="2692909"/>
              <a:chOff x="593331" y="2321242"/>
              <a:chExt cx="7240610" cy="2692909"/>
            </a:xfrm>
          </p:grpSpPr>
          <p:sp>
            <p:nvSpPr>
              <p:cNvPr id="22" name="Line 22"/>
              <p:cNvSpPr/>
              <p:nvPr/>
            </p:nvSpPr>
            <p:spPr>
              <a:xfrm>
                <a:off x="942975" y="463867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23" name="TextBox 23"/>
              <p:cNvSpPr txBox="1"/>
              <p:nvPr/>
            </p:nvSpPr>
            <p:spPr>
              <a:xfrm>
                <a:off x="693287" y="4550092"/>
                <a:ext cx="113671"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a:t>
                </a:r>
              </a:p>
            </p:txBody>
          </p:sp>
          <p:sp>
            <p:nvSpPr>
              <p:cNvPr id="24" name="Line 24"/>
              <p:cNvSpPr/>
              <p:nvPr/>
            </p:nvSpPr>
            <p:spPr>
              <a:xfrm>
                <a:off x="942975" y="419290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25" name="TextBox 25"/>
              <p:cNvSpPr txBox="1"/>
              <p:nvPr/>
            </p:nvSpPr>
            <p:spPr>
              <a:xfrm>
                <a:off x="693287" y="4104322"/>
                <a:ext cx="113671"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6</a:t>
                </a:r>
              </a:p>
            </p:txBody>
          </p:sp>
          <p:sp>
            <p:nvSpPr>
              <p:cNvPr id="26" name="Line 26"/>
              <p:cNvSpPr/>
              <p:nvPr/>
            </p:nvSpPr>
            <p:spPr>
              <a:xfrm>
                <a:off x="942975" y="374713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27" name="TextBox 27"/>
              <p:cNvSpPr txBox="1"/>
              <p:nvPr/>
            </p:nvSpPr>
            <p:spPr>
              <a:xfrm>
                <a:off x="593331" y="3658552"/>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12</a:t>
                </a:r>
              </a:p>
            </p:txBody>
          </p:sp>
          <p:sp>
            <p:nvSpPr>
              <p:cNvPr id="28" name="Line 28"/>
              <p:cNvSpPr/>
              <p:nvPr/>
            </p:nvSpPr>
            <p:spPr>
              <a:xfrm>
                <a:off x="942975" y="330136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29" name="TextBox 29"/>
              <p:cNvSpPr txBox="1"/>
              <p:nvPr/>
            </p:nvSpPr>
            <p:spPr>
              <a:xfrm>
                <a:off x="593331" y="3212782"/>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18</a:t>
                </a:r>
              </a:p>
            </p:txBody>
          </p:sp>
          <p:sp>
            <p:nvSpPr>
              <p:cNvPr id="30" name="Line 30"/>
              <p:cNvSpPr/>
              <p:nvPr/>
            </p:nvSpPr>
            <p:spPr>
              <a:xfrm>
                <a:off x="942975" y="285559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31" name="TextBox 31"/>
              <p:cNvSpPr txBox="1"/>
              <p:nvPr/>
            </p:nvSpPr>
            <p:spPr>
              <a:xfrm>
                <a:off x="593331" y="2767012"/>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24</a:t>
                </a:r>
              </a:p>
            </p:txBody>
          </p:sp>
          <p:sp>
            <p:nvSpPr>
              <p:cNvPr id="32" name="Line 32"/>
              <p:cNvSpPr/>
              <p:nvPr/>
            </p:nvSpPr>
            <p:spPr>
              <a:xfrm>
                <a:off x="942975" y="2409825"/>
                <a:ext cx="6734175" cy="9525"/>
              </a:xfrm>
              <a:custGeom>
                <a:avLst/>
                <a:gdLst/>
                <a:ahLst/>
                <a:cxnLst/>
                <a:rect l="l" t="t" r="r" b="b"/>
                <a:pathLst>
                  <a:path w="6734175" h="9525">
                    <a:moveTo>
                      <a:pt x="0" y="0"/>
                    </a:moveTo>
                    <a:lnTo>
                      <a:pt x="6734175" y="0"/>
                    </a:lnTo>
                  </a:path>
                </a:pathLst>
              </a:custGeom>
              <a:noFill/>
              <a:ln w="9525">
                <a:solidFill>
                  <a:srgbClr val="E0E7E2"/>
                </a:solidFill>
              </a:ln>
            </p:spPr>
          </p:sp>
          <p:sp>
            <p:nvSpPr>
              <p:cNvPr id="33" name="TextBox 33"/>
              <p:cNvSpPr txBox="1"/>
              <p:nvPr/>
            </p:nvSpPr>
            <p:spPr>
              <a:xfrm>
                <a:off x="593331" y="2321242"/>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30</a:t>
                </a:r>
              </a:p>
            </p:txBody>
          </p:sp>
          <p:sp>
            <p:nvSpPr>
              <p:cNvPr id="34" name="TextBox 34"/>
              <p:cNvSpPr txBox="1"/>
              <p:nvPr/>
            </p:nvSpPr>
            <p:spPr>
              <a:xfrm>
                <a:off x="786184"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330</a:t>
                </a:r>
              </a:p>
            </p:txBody>
          </p:sp>
          <p:sp>
            <p:nvSpPr>
              <p:cNvPr id="35" name="TextBox 35"/>
              <p:cNvSpPr txBox="1"/>
              <p:nvPr/>
            </p:nvSpPr>
            <p:spPr>
              <a:xfrm>
                <a:off x="1908546"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375</a:t>
                </a:r>
              </a:p>
            </p:txBody>
          </p:sp>
          <p:sp>
            <p:nvSpPr>
              <p:cNvPr id="36" name="TextBox 36"/>
              <p:cNvSpPr txBox="1"/>
              <p:nvPr/>
            </p:nvSpPr>
            <p:spPr>
              <a:xfrm>
                <a:off x="3030909"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420</a:t>
                </a:r>
              </a:p>
            </p:txBody>
          </p:sp>
          <p:sp>
            <p:nvSpPr>
              <p:cNvPr id="37" name="TextBox 37"/>
              <p:cNvSpPr txBox="1"/>
              <p:nvPr/>
            </p:nvSpPr>
            <p:spPr>
              <a:xfrm>
                <a:off x="4153271"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465</a:t>
                </a:r>
              </a:p>
            </p:txBody>
          </p:sp>
          <p:sp>
            <p:nvSpPr>
              <p:cNvPr id="38" name="TextBox 38"/>
              <p:cNvSpPr txBox="1"/>
              <p:nvPr/>
            </p:nvSpPr>
            <p:spPr>
              <a:xfrm>
                <a:off x="5275634"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510</a:t>
                </a:r>
              </a:p>
            </p:txBody>
          </p:sp>
          <p:sp>
            <p:nvSpPr>
              <p:cNvPr id="39" name="TextBox 39"/>
              <p:cNvSpPr txBox="1"/>
              <p:nvPr/>
            </p:nvSpPr>
            <p:spPr>
              <a:xfrm>
                <a:off x="6397996"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555</a:t>
                </a:r>
              </a:p>
            </p:txBody>
          </p:sp>
          <p:sp>
            <p:nvSpPr>
              <p:cNvPr id="40" name="TextBox 40"/>
              <p:cNvSpPr txBox="1"/>
              <p:nvPr/>
            </p:nvSpPr>
            <p:spPr>
              <a:xfrm>
                <a:off x="7520359" y="47501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600</a:t>
                </a:r>
              </a:p>
            </p:txBody>
          </p:sp>
          <p:sp>
            <p:nvSpPr>
              <p:cNvPr id="41" name="Line 41"/>
              <p:cNvSpPr/>
              <p:nvPr/>
            </p:nvSpPr>
            <p:spPr>
              <a:xfrm>
                <a:off x="942975" y="2409825"/>
                <a:ext cx="9525" cy="2228850"/>
              </a:xfrm>
              <a:custGeom>
                <a:avLst/>
                <a:gdLst/>
                <a:ahLst/>
                <a:cxnLst/>
                <a:rect l="l" t="t" r="r" b="b"/>
                <a:pathLst>
                  <a:path w="9525" h="2228850">
                    <a:moveTo>
                      <a:pt x="0" y="0"/>
                    </a:moveTo>
                    <a:lnTo>
                      <a:pt x="0" y="2228850"/>
                    </a:lnTo>
                  </a:path>
                </a:pathLst>
              </a:custGeom>
              <a:noFill/>
              <a:ln w="9525">
                <a:solidFill>
                  <a:srgbClr val="556762"/>
                </a:solidFill>
              </a:ln>
            </p:spPr>
          </p:sp>
          <p:sp>
            <p:nvSpPr>
              <p:cNvPr id="42" name="Line 42"/>
              <p:cNvSpPr/>
              <p:nvPr/>
            </p:nvSpPr>
            <p:spPr>
              <a:xfrm>
                <a:off x="942975" y="4638675"/>
                <a:ext cx="6734175" cy="9525"/>
              </a:xfrm>
              <a:custGeom>
                <a:avLst/>
                <a:gdLst/>
                <a:ahLst/>
                <a:cxnLst/>
                <a:rect l="l" t="t" r="r" b="b"/>
                <a:pathLst>
                  <a:path w="6734175" h="9525">
                    <a:moveTo>
                      <a:pt x="0" y="0"/>
                    </a:moveTo>
                    <a:lnTo>
                      <a:pt x="6734175" y="0"/>
                    </a:lnTo>
                  </a:path>
                </a:pathLst>
              </a:custGeom>
              <a:noFill/>
              <a:ln w="9525">
                <a:solidFill>
                  <a:srgbClr val="556762"/>
                </a:solidFill>
              </a:ln>
            </p:spPr>
          </p:sp>
          <p:sp>
            <p:nvSpPr>
              <p:cNvPr id="43" name="Polyline 43"/>
              <p:cNvSpPr/>
              <p:nvPr/>
            </p:nvSpPr>
            <p:spPr>
              <a:xfrm>
                <a:off x="942975" y="3057354"/>
                <a:ext cx="6734175" cy="1581321"/>
              </a:xfrm>
              <a:custGeom>
                <a:avLst/>
                <a:gdLst/>
                <a:ahLst/>
                <a:cxnLst/>
                <a:rect l="l" t="t" r="r" b="b"/>
                <a:pathLst>
                  <a:path w="6734175" h="1581321">
                    <a:moveTo>
                      <a:pt x="0" y="1581321"/>
                    </a:moveTo>
                    <a:lnTo>
                      <a:pt x="124711" y="1581321"/>
                    </a:lnTo>
                    <a:lnTo>
                      <a:pt x="249412" y="1581321"/>
                    </a:lnTo>
                    <a:lnTo>
                      <a:pt x="374123" y="1581321"/>
                    </a:lnTo>
                    <a:lnTo>
                      <a:pt x="498824" y="1581321"/>
                    </a:lnTo>
                    <a:lnTo>
                      <a:pt x="623535" y="1581321"/>
                    </a:lnTo>
                    <a:lnTo>
                      <a:pt x="748246" y="1581321"/>
                    </a:lnTo>
                    <a:lnTo>
                      <a:pt x="872947" y="1535116"/>
                    </a:lnTo>
                    <a:lnTo>
                      <a:pt x="997658" y="1489043"/>
                    </a:lnTo>
                    <a:lnTo>
                      <a:pt x="1122359" y="1443095"/>
                    </a:lnTo>
                    <a:lnTo>
                      <a:pt x="1247070" y="1397279"/>
                    </a:lnTo>
                    <a:lnTo>
                      <a:pt x="1371781" y="1351578"/>
                    </a:lnTo>
                    <a:lnTo>
                      <a:pt x="1496482" y="1306020"/>
                    </a:lnTo>
                    <a:lnTo>
                      <a:pt x="1621193" y="1260586"/>
                    </a:lnTo>
                    <a:lnTo>
                      <a:pt x="1745894" y="1215285"/>
                    </a:lnTo>
                    <a:lnTo>
                      <a:pt x="1870605" y="1170108"/>
                    </a:lnTo>
                    <a:lnTo>
                      <a:pt x="1995307" y="1125055"/>
                    </a:lnTo>
                    <a:lnTo>
                      <a:pt x="2120017" y="1080145"/>
                    </a:lnTo>
                    <a:lnTo>
                      <a:pt x="2244728" y="1035358"/>
                    </a:lnTo>
                    <a:lnTo>
                      <a:pt x="2369429" y="990705"/>
                    </a:lnTo>
                    <a:lnTo>
                      <a:pt x="2494140" y="946175"/>
                    </a:lnTo>
                    <a:lnTo>
                      <a:pt x="2618842" y="901779"/>
                    </a:lnTo>
                    <a:lnTo>
                      <a:pt x="2743552" y="857517"/>
                    </a:lnTo>
                    <a:lnTo>
                      <a:pt x="2868263" y="813387"/>
                    </a:lnTo>
                    <a:lnTo>
                      <a:pt x="2992965" y="769382"/>
                    </a:lnTo>
                    <a:lnTo>
                      <a:pt x="3117675" y="725519"/>
                    </a:lnTo>
                    <a:lnTo>
                      <a:pt x="3242377" y="681780"/>
                    </a:lnTo>
                    <a:lnTo>
                      <a:pt x="3367088" y="638175"/>
                    </a:lnTo>
                    <a:lnTo>
                      <a:pt x="3491798" y="594703"/>
                    </a:lnTo>
                    <a:lnTo>
                      <a:pt x="3616500" y="551355"/>
                    </a:lnTo>
                    <a:lnTo>
                      <a:pt x="3741210" y="508149"/>
                    </a:lnTo>
                    <a:lnTo>
                      <a:pt x="3865912" y="465068"/>
                    </a:lnTo>
                    <a:lnTo>
                      <a:pt x="3990623" y="422129"/>
                    </a:lnTo>
                    <a:lnTo>
                      <a:pt x="4115333" y="379314"/>
                    </a:lnTo>
                    <a:lnTo>
                      <a:pt x="4240035" y="336642"/>
                    </a:lnTo>
                    <a:lnTo>
                      <a:pt x="4364746" y="294094"/>
                    </a:lnTo>
                    <a:lnTo>
                      <a:pt x="4489447" y="251679"/>
                    </a:lnTo>
                    <a:lnTo>
                      <a:pt x="4614158" y="209398"/>
                    </a:lnTo>
                    <a:lnTo>
                      <a:pt x="4738868" y="167259"/>
                    </a:lnTo>
                    <a:lnTo>
                      <a:pt x="4863570" y="125244"/>
                    </a:lnTo>
                    <a:lnTo>
                      <a:pt x="4988281" y="83363"/>
                    </a:lnTo>
                    <a:lnTo>
                      <a:pt x="5112982" y="41615"/>
                    </a:lnTo>
                    <a:lnTo>
                      <a:pt x="5237693" y="0"/>
                    </a:lnTo>
                    <a:lnTo>
                      <a:pt x="5362394" y="0"/>
                    </a:lnTo>
                    <a:lnTo>
                      <a:pt x="5487105" y="0"/>
                    </a:lnTo>
                    <a:lnTo>
                      <a:pt x="5611816" y="0"/>
                    </a:lnTo>
                    <a:lnTo>
                      <a:pt x="5736517" y="0"/>
                    </a:lnTo>
                    <a:lnTo>
                      <a:pt x="5861228" y="0"/>
                    </a:lnTo>
                    <a:lnTo>
                      <a:pt x="5985929" y="0"/>
                    </a:lnTo>
                    <a:lnTo>
                      <a:pt x="6110640" y="0"/>
                    </a:lnTo>
                    <a:lnTo>
                      <a:pt x="6235351" y="0"/>
                    </a:lnTo>
                    <a:lnTo>
                      <a:pt x="6360052" y="0"/>
                    </a:lnTo>
                    <a:lnTo>
                      <a:pt x="6484763" y="0"/>
                    </a:lnTo>
                    <a:lnTo>
                      <a:pt x="6609464" y="0"/>
                    </a:lnTo>
                    <a:lnTo>
                      <a:pt x="6734175" y="0"/>
                    </a:lnTo>
                  </a:path>
                </a:pathLst>
              </a:custGeom>
              <a:noFill/>
              <a:ln w="28575">
                <a:solidFill>
                  <a:schemeClr val="accent2"/>
                </a:solidFill>
              </a:ln>
            </p:spPr>
          </p:sp>
          <p:sp>
            <p:nvSpPr>
              <p:cNvPr id="44" name="Polyline 44"/>
              <p:cNvSpPr/>
              <p:nvPr/>
            </p:nvSpPr>
            <p:spPr>
              <a:xfrm>
                <a:off x="942975" y="3428124"/>
                <a:ext cx="6734175" cy="1210551"/>
              </a:xfrm>
              <a:custGeom>
                <a:avLst/>
                <a:gdLst/>
                <a:ahLst/>
                <a:cxnLst/>
                <a:rect l="l" t="t" r="r" b="b"/>
                <a:pathLst>
                  <a:path w="6734175" h="1210551">
                    <a:moveTo>
                      <a:pt x="0" y="1210551"/>
                    </a:moveTo>
                    <a:lnTo>
                      <a:pt x="124711" y="1210551"/>
                    </a:lnTo>
                    <a:lnTo>
                      <a:pt x="249412" y="1210551"/>
                    </a:lnTo>
                    <a:lnTo>
                      <a:pt x="374123" y="1210551"/>
                    </a:lnTo>
                    <a:lnTo>
                      <a:pt x="498824" y="1210551"/>
                    </a:lnTo>
                    <a:lnTo>
                      <a:pt x="623535" y="1210551"/>
                    </a:lnTo>
                    <a:lnTo>
                      <a:pt x="748246" y="1210551"/>
                    </a:lnTo>
                    <a:lnTo>
                      <a:pt x="872947" y="1166860"/>
                    </a:lnTo>
                    <a:lnTo>
                      <a:pt x="997658" y="1123931"/>
                    </a:lnTo>
                    <a:lnTo>
                      <a:pt x="1122359" y="1081735"/>
                    </a:lnTo>
                    <a:lnTo>
                      <a:pt x="1247070" y="1040263"/>
                    </a:lnTo>
                    <a:lnTo>
                      <a:pt x="1371781" y="999487"/>
                    </a:lnTo>
                    <a:lnTo>
                      <a:pt x="1496482" y="959396"/>
                    </a:lnTo>
                    <a:lnTo>
                      <a:pt x="1621193" y="919963"/>
                    </a:lnTo>
                    <a:lnTo>
                      <a:pt x="1745894" y="881167"/>
                    </a:lnTo>
                    <a:lnTo>
                      <a:pt x="1870605" y="843010"/>
                    </a:lnTo>
                    <a:lnTo>
                      <a:pt x="1995307" y="805453"/>
                    </a:lnTo>
                    <a:lnTo>
                      <a:pt x="2120017" y="768487"/>
                    </a:lnTo>
                    <a:lnTo>
                      <a:pt x="2244728" y="732101"/>
                    </a:lnTo>
                    <a:lnTo>
                      <a:pt x="2369429" y="696277"/>
                    </a:lnTo>
                    <a:lnTo>
                      <a:pt x="2494140" y="661006"/>
                    </a:lnTo>
                    <a:lnTo>
                      <a:pt x="2618842" y="626259"/>
                    </a:lnTo>
                    <a:lnTo>
                      <a:pt x="2743552" y="592045"/>
                    </a:lnTo>
                    <a:lnTo>
                      <a:pt x="2868263" y="558327"/>
                    </a:lnTo>
                    <a:lnTo>
                      <a:pt x="2992965" y="525113"/>
                    </a:lnTo>
                    <a:lnTo>
                      <a:pt x="3117675" y="492385"/>
                    </a:lnTo>
                    <a:lnTo>
                      <a:pt x="3242377" y="460124"/>
                    </a:lnTo>
                    <a:lnTo>
                      <a:pt x="3367088" y="428320"/>
                    </a:lnTo>
                    <a:lnTo>
                      <a:pt x="3491798" y="396973"/>
                    </a:lnTo>
                    <a:lnTo>
                      <a:pt x="3616500" y="366065"/>
                    </a:lnTo>
                    <a:lnTo>
                      <a:pt x="3741210" y="335585"/>
                    </a:lnTo>
                    <a:lnTo>
                      <a:pt x="3865912" y="305524"/>
                    </a:lnTo>
                    <a:lnTo>
                      <a:pt x="3990623" y="275873"/>
                    </a:lnTo>
                    <a:lnTo>
                      <a:pt x="4115333" y="246621"/>
                    </a:lnTo>
                    <a:lnTo>
                      <a:pt x="4240035" y="217761"/>
                    </a:lnTo>
                    <a:lnTo>
                      <a:pt x="4364746" y="189281"/>
                    </a:lnTo>
                    <a:lnTo>
                      <a:pt x="4489447" y="161182"/>
                    </a:lnTo>
                    <a:lnTo>
                      <a:pt x="4614158" y="133445"/>
                    </a:lnTo>
                    <a:lnTo>
                      <a:pt x="4738868" y="106070"/>
                    </a:lnTo>
                    <a:lnTo>
                      <a:pt x="4863570" y="79048"/>
                    </a:lnTo>
                    <a:lnTo>
                      <a:pt x="4988281" y="52359"/>
                    </a:lnTo>
                    <a:lnTo>
                      <a:pt x="5112982" y="26013"/>
                    </a:lnTo>
                    <a:lnTo>
                      <a:pt x="5237693" y="0"/>
                    </a:lnTo>
                    <a:lnTo>
                      <a:pt x="5362394" y="0"/>
                    </a:lnTo>
                    <a:lnTo>
                      <a:pt x="5487105" y="0"/>
                    </a:lnTo>
                    <a:lnTo>
                      <a:pt x="5611816" y="0"/>
                    </a:lnTo>
                    <a:lnTo>
                      <a:pt x="5736517" y="0"/>
                    </a:lnTo>
                    <a:lnTo>
                      <a:pt x="5861228" y="0"/>
                    </a:lnTo>
                    <a:lnTo>
                      <a:pt x="5985929" y="0"/>
                    </a:lnTo>
                    <a:lnTo>
                      <a:pt x="6110640" y="0"/>
                    </a:lnTo>
                    <a:lnTo>
                      <a:pt x="6235351" y="0"/>
                    </a:lnTo>
                    <a:lnTo>
                      <a:pt x="6360052" y="0"/>
                    </a:lnTo>
                    <a:lnTo>
                      <a:pt x="6484763" y="0"/>
                    </a:lnTo>
                    <a:lnTo>
                      <a:pt x="6609464" y="0"/>
                    </a:lnTo>
                    <a:lnTo>
                      <a:pt x="6734175" y="0"/>
                    </a:lnTo>
                  </a:path>
                </a:pathLst>
              </a:custGeom>
              <a:noFill/>
              <a:ln w="28575">
                <a:solidFill>
                  <a:schemeClr val="accent1"/>
                </a:solidFill>
              </a:ln>
            </p:spPr>
          </p:sp>
          <p:sp>
            <p:nvSpPr>
              <p:cNvPr id="45" name="Polyline 45"/>
              <p:cNvSpPr/>
              <p:nvPr/>
            </p:nvSpPr>
            <p:spPr>
              <a:xfrm>
                <a:off x="942975" y="3524250"/>
                <a:ext cx="6734175" cy="9525"/>
              </a:xfrm>
              <a:custGeom>
                <a:avLst/>
                <a:gdLst/>
                <a:ahLst/>
                <a:cxnLst/>
                <a:rect l="l" t="t" r="r" b="b"/>
                <a:pathLst>
                  <a:path w="6734175" h="9525">
                    <a:moveTo>
                      <a:pt x="0" y="0"/>
                    </a:moveTo>
                    <a:lnTo>
                      <a:pt x="124711" y="0"/>
                    </a:lnTo>
                    <a:lnTo>
                      <a:pt x="249412" y="0"/>
                    </a:lnTo>
                    <a:lnTo>
                      <a:pt x="374123" y="0"/>
                    </a:lnTo>
                    <a:lnTo>
                      <a:pt x="498824" y="0"/>
                    </a:lnTo>
                    <a:lnTo>
                      <a:pt x="623535" y="0"/>
                    </a:lnTo>
                    <a:lnTo>
                      <a:pt x="748246" y="0"/>
                    </a:lnTo>
                    <a:lnTo>
                      <a:pt x="872947" y="0"/>
                    </a:lnTo>
                    <a:lnTo>
                      <a:pt x="997658" y="0"/>
                    </a:lnTo>
                    <a:lnTo>
                      <a:pt x="1122359" y="0"/>
                    </a:lnTo>
                    <a:lnTo>
                      <a:pt x="1247070" y="0"/>
                    </a:lnTo>
                    <a:lnTo>
                      <a:pt x="1371781" y="0"/>
                    </a:lnTo>
                    <a:lnTo>
                      <a:pt x="1496482" y="0"/>
                    </a:lnTo>
                    <a:lnTo>
                      <a:pt x="1621193" y="0"/>
                    </a:lnTo>
                    <a:lnTo>
                      <a:pt x="1745894" y="0"/>
                    </a:lnTo>
                    <a:lnTo>
                      <a:pt x="1870605" y="0"/>
                    </a:lnTo>
                    <a:lnTo>
                      <a:pt x="1995307" y="0"/>
                    </a:lnTo>
                    <a:lnTo>
                      <a:pt x="2120017" y="0"/>
                    </a:lnTo>
                    <a:lnTo>
                      <a:pt x="2244728" y="0"/>
                    </a:lnTo>
                    <a:lnTo>
                      <a:pt x="2369429" y="0"/>
                    </a:lnTo>
                    <a:lnTo>
                      <a:pt x="2494140" y="0"/>
                    </a:lnTo>
                    <a:lnTo>
                      <a:pt x="2618842" y="0"/>
                    </a:lnTo>
                    <a:lnTo>
                      <a:pt x="2743552" y="0"/>
                    </a:lnTo>
                    <a:lnTo>
                      <a:pt x="2868263" y="0"/>
                    </a:lnTo>
                    <a:lnTo>
                      <a:pt x="2992965" y="0"/>
                    </a:lnTo>
                    <a:lnTo>
                      <a:pt x="3117675" y="0"/>
                    </a:lnTo>
                    <a:lnTo>
                      <a:pt x="3242377" y="0"/>
                    </a:lnTo>
                    <a:lnTo>
                      <a:pt x="3367088" y="0"/>
                    </a:lnTo>
                    <a:lnTo>
                      <a:pt x="3491798" y="0"/>
                    </a:lnTo>
                    <a:lnTo>
                      <a:pt x="3616500" y="0"/>
                    </a:lnTo>
                    <a:lnTo>
                      <a:pt x="3741210" y="0"/>
                    </a:lnTo>
                    <a:lnTo>
                      <a:pt x="3865912" y="0"/>
                    </a:lnTo>
                    <a:lnTo>
                      <a:pt x="3990623" y="0"/>
                    </a:lnTo>
                    <a:lnTo>
                      <a:pt x="4115333" y="0"/>
                    </a:lnTo>
                    <a:lnTo>
                      <a:pt x="4240035" y="0"/>
                    </a:lnTo>
                    <a:lnTo>
                      <a:pt x="4364746" y="0"/>
                    </a:lnTo>
                    <a:lnTo>
                      <a:pt x="4489447" y="0"/>
                    </a:lnTo>
                    <a:lnTo>
                      <a:pt x="4614158" y="0"/>
                    </a:lnTo>
                    <a:lnTo>
                      <a:pt x="4738868" y="0"/>
                    </a:lnTo>
                    <a:lnTo>
                      <a:pt x="4863570" y="0"/>
                    </a:lnTo>
                    <a:lnTo>
                      <a:pt x="4988281" y="0"/>
                    </a:lnTo>
                    <a:lnTo>
                      <a:pt x="5112982" y="0"/>
                    </a:lnTo>
                    <a:lnTo>
                      <a:pt x="5237693" y="0"/>
                    </a:lnTo>
                    <a:lnTo>
                      <a:pt x="5362394" y="0"/>
                    </a:lnTo>
                    <a:lnTo>
                      <a:pt x="5487105" y="0"/>
                    </a:lnTo>
                    <a:lnTo>
                      <a:pt x="5611816" y="0"/>
                    </a:lnTo>
                    <a:lnTo>
                      <a:pt x="5736517" y="0"/>
                    </a:lnTo>
                    <a:lnTo>
                      <a:pt x="5861228" y="0"/>
                    </a:lnTo>
                    <a:lnTo>
                      <a:pt x="5985929" y="0"/>
                    </a:lnTo>
                    <a:lnTo>
                      <a:pt x="6110640" y="0"/>
                    </a:lnTo>
                    <a:lnTo>
                      <a:pt x="6235351" y="0"/>
                    </a:lnTo>
                    <a:lnTo>
                      <a:pt x="6360052" y="0"/>
                    </a:lnTo>
                    <a:lnTo>
                      <a:pt x="6484763" y="0"/>
                    </a:lnTo>
                    <a:lnTo>
                      <a:pt x="6609464" y="0"/>
                    </a:lnTo>
                    <a:lnTo>
                      <a:pt x="6734175" y="0"/>
                    </a:lnTo>
                  </a:path>
                </a:pathLst>
              </a:custGeom>
              <a:noFill/>
              <a:ln w="28575">
                <a:solidFill>
                  <a:schemeClr val="accent3"/>
                </a:solidFill>
              </a:ln>
            </p:spPr>
          </p:sp>
        </p:grpSp>
        <p:grpSp>
          <p:nvGrpSpPr>
            <p:cNvPr id="57" name="early-evaluation"/>
            <p:cNvGrpSpPr/>
            <p:nvPr/>
          </p:nvGrpSpPr>
          <p:grpSpPr>
            <a:xfrm>
              <a:off x="936117" y="2054542"/>
              <a:ext cx="6757416" cy="3216783"/>
              <a:chOff x="936117" y="2054542"/>
              <a:chExt cx="6757416" cy="3216783"/>
            </a:xfrm>
          </p:grpSpPr>
          <p:sp>
            <p:nvSpPr>
              <p:cNvPr id="47" name="Ellipse 47"/>
              <p:cNvSpPr/>
              <p:nvPr/>
            </p:nvSpPr>
            <p:spPr>
              <a:xfrm>
                <a:off x="2856195" y="4134261"/>
                <a:ext cx="114300" cy="114300"/>
              </a:xfrm>
              <a:prstGeom prst="ellipse">
                <a:avLst/>
              </a:prstGeom>
              <a:solidFill>
                <a:schemeClr val="lt1"/>
              </a:solidFill>
              <a:ln w="28575">
                <a:solidFill>
                  <a:schemeClr val="accent2"/>
                </a:solidFill>
              </a:ln>
            </p:spPr>
          </p:sp>
          <p:sp>
            <p:nvSpPr>
              <p:cNvPr id="48" name="Line 48"/>
              <p:cNvSpPr/>
              <p:nvPr/>
            </p:nvSpPr>
            <p:spPr>
              <a:xfrm>
                <a:off x="2913345" y="3057525"/>
                <a:ext cx="809625" cy="1133886"/>
              </a:xfrm>
              <a:custGeom>
                <a:avLst/>
                <a:gdLst/>
                <a:ahLst/>
                <a:cxnLst/>
                <a:rect l="l" t="t" r="r" b="b"/>
                <a:pathLst>
                  <a:path w="809625" h="1133886">
                    <a:moveTo>
                      <a:pt x="0" y="1133886"/>
                    </a:moveTo>
                    <a:lnTo>
                      <a:pt x="809625" y="0"/>
                    </a:lnTo>
                  </a:path>
                </a:pathLst>
              </a:custGeom>
              <a:noFill/>
              <a:ln w="14288">
                <a:solidFill>
                  <a:schemeClr val="accent2"/>
                </a:solidFill>
              </a:ln>
            </p:spPr>
          </p:sp>
          <p:sp>
            <p:nvSpPr>
              <p:cNvPr id="49" name="TextBox 49"/>
              <p:cNvSpPr txBox="1"/>
              <p:nvPr/>
            </p:nvSpPr>
            <p:spPr>
              <a:xfrm>
                <a:off x="3125466" y="2816542"/>
                <a:ext cx="1195006" cy="264033"/>
              </a:xfrm>
              <a:prstGeom prst="rect">
                <a:avLst/>
              </a:prstGeom>
              <a:noFill/>
              <a:ln>
                <a:noFill/>
              </a:ln>
            </p:spPr>
            <p:txBody>
              <a:bodyPr wrap="none" lIns="0" tIns="0" rIns="0" bIns="0" anchor="t" anchorCtr="0">
                <a:spAutoFit/>
              </a:bodyPr>
              <a:lstStyle/>
              <a:p>
                <a:pPr algn="ctr"/>
                <a:r>
                  <a:rPr lang="zh-CN" sz="1350" dirty="0">
                    <a:solidFill>
                      <a:schemeClr val="accent2"/>
                    </a:solidFill>
                    <a:latin typeface="+mn-lt"/>
                    <a:ea typeface="+mn-ea"/>
                    <a:cs typeface="+mn-cs"/>
                  </a:rPr>
                  <a:t>泄漏提示 409s</a:t>
                </a:r>
              </a:p>
            </p:txBody>
          </p:sp>
          <p:sp>
            <p:nvSpPr>
              <p:cNvPr id="50" name="Line 50"/>
              <p:cNvSpPr/>
              <p:nvPr/>
            </p:nvSpPr>
            <p:spPr>
              <a:xfrm>
                <a:off x="4808890" y="3429000"/>
                <a:ext cx="9525" cy="190500"/>
              </a:xfrm>
              <a:custGeom>
                <a:avLst/>
                <a:gdLst/>
                <a:ahLst/>
                <a:cxnLst/>
                <a:rect l="l" t="t" r="r" b="b"/>
                <a:pathLst>
                  <a:path w="9525" h="190500">
                    <a:moveTo>
                      <a:pt x="0" y="0"/>
                    </a:moveTo>
                    <a:lnTo>
                      <a:pt x="0" y="190500"/>
                    </a:lnTo>
                  </a:path>
                </a:pathLst>
              </a:custGeom>
              <a:noFill/>
              <a:ln w="28575">
                <a:solidFill>
                  <a:schemeClr val="accent2"/>
                </a:solidFill>
              </a:ln>
            </p:spPr>
          </p:sp>
          <p:sp>
            <p:nvSpPr>
              <p:cNvPr id="51" name="Ellipse 51"/>
              <p:cNvSpPr/>
              <p:nvPr/>
            </p:nvSpPr>
            <p:spPr>
              <a:xfrm>
                <a:off x="2531957" y="4283127"/>
                <a:ext cx="114300" cy="114300"/>
              </a:xfrm>
              <a:prstGeom prst="ellipse">
                <a:avLst/>
              </a:prstGeom>
              <a:solidFill>
                <a:schemeClr val="lt1"/>
              </a:solidFill>
              <a:ln w="28575">
                <a:solidFill>
                  <a:schemeClr val="accent1"/>
                </a:solidFill>
              </a:ln>
            </p:spPr>
          </p:sp>
          <p:sp>
            <p:nvSpPr>
              <p:cNvPr id="52" name="Line 52"/>
              <p:cNvSpPr/>
              <p:nvPr/>
            </p:nvSpPr>
            <p:spPr>
              <a:xfrm>
                <a:off x="1969982" y="3886200"/>
                <a:ext cx="619125" cy="454077"/>
              </a:xfrm>
              <a:custGeom>
                <a:avLst/>
                <a:gdLst/>
                <a:ahLst/>
                <a:cxnLst/>
                <a:rect l="l" t="t" r="r" b="b"/>
                <a:pathLst>
                  <a:path w="619125" h="454077">
                    <a:moveTo>
                      <a:pt x="619125" y="454077"/>
                    </a:moveTo>
                    <a:lnTo>
                      <a:pt x="0" y="0"/>
                    </a:lnTo>
                  </a:path>
                </a:pathLst>
              </a:custGeom>
              <a:noFill/>
              <a:ln w="14288">
                <a:solidFill>
                  <a:schemeClr val="accent1"/>
                </a:solidFill>
              </a:ln>
            </p:spPr>
          </p:sp>
          <p:sp>
            <p:nvSpPr>
              <p:cNvPr id="53" name="TextBox 53"/>
              <p:cNvSpPr txBox="1"/>
              <p:nvPr/>
            </p:nvSpPr>
            <p:spPr>
              <a:xfrm>
                <a:off x="1372478" y="3645218"/>
                <a:ext cx="1195006" cy="264033"/>
              </a:xfrm>
              <a:prstGeom prst="rect">
                <a:avLst/>
              </a:prstGeom>
              <a:noFill/>
              <a:ln>
                <a:noFill/>
              </a:ln>
            </p:spPr>
            <p:txBody>
              <a:bodyPr wrap="none" lIns="0" tIns="0" rIns="0" bIns="0" anchor="t" anchorCtr="0">
                <a:spAutoFit/>
              </a:bodyPr>
              <a:lstStyle/>
              <a:p>
                <a:pPr algn="ctr"/>
                <a:r>
                  <a:rPr lang="zh-CN" sz="1350" dirty="0">
                    <a:solidFill>
                      <a:schemeClr val="accent1"/>
                    </a:solidFill>
                    <a:latin typeface="+mn-lt"/>
                    <a:ea typeface="+mn-ea"/>
                    <a:cs typeface="+mn-cs"/>
                  </a:rPr>
                  <a:t>受限提示 396s</a:t>
                </a:r>
              </a:p>
            </p:txBody>
          </p:sp>
          <p:sp>
            <p:nvSpPr>
              <p:cNvPr id="54" name="Line 54"/>
              <p:cNvSpPr/>
              <p:nvPr/>
            </p:nvSpPr>
            <p:spPr>
              <a:xfrm>
                <a:off x="5731722" y="3429000"/>
                <a:ext cx="9525" cy="190500"/>
              </a:xfrm>
              <a:custGeom>
                <a:avLst/>
                <a:gdLst/>
                <a:ahLst/>
                <a:cxnLst/>
                <a:rect l="l" t="t" r="r" b="b"/>
                <a:pathLst>
                  <a:path w="9525" h="190500">
                    <a:moveTo>
                      <a:pt x="0" y="0"/>
                    </a:moveTo>
                    <a:lnTo>
                      <a:pt x="0" y="190500"/>
                    </a:lnTo>
                  </a:path>
                </a:pathLst>
              </a:custGeom>
              <a:noFill/>
              <a:ln w="28575">
                <a:solidFill>
                  <a:schemeClr val="accent1"/>
                </a:solidFill>
              </a:ln>
            </p:spPr>
          </p:sp>
          <p:sp>
            <p:nvSpPr>
              <p:cNvPr id="55" name="TextBox 55"/>
              <p:cNvSpPr txBox="1"/>
              <p:nvPr/>
            </p:nvSpPr>
            <p:spPr>
              <a:xfrm>
                <a:off x="936117" y="2054542"/>
                <a:ext cx="1085964"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流量偏离 / %</a:t>
                </a:r>
              </a:p>
            </p:txBody>
          </p:sp>
          <p:sp>
            <p:nvSpPr>
              <p:cNvPr id="56" name="TextBox 56"/>
              <p:cNvSpPr txBox="1"/>
              <p:nvPr/>
            </p:nvSpPr>
            <p:spPr>
              <a:xfrm>
                <a:off x="6643916" y="5007292"/>
                <a:ext cx="104961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模型时间 / s</a:t>
                </a:r>
              </a:p>
            </p:txBody>
          </p:sp>
        </p:grpSp>
      </p:grpSp>
      <p:grpSp>
        <p:nvGrpSpPr>
          <p:cNvPr id="70" name="early-lead-intervals"/>
          <p:cNvGrpSpPr/>
          <p:nvPr/>
        </p:nvGrpSpPr>
        <p:grpSpPr>
          <a:xfrm>
            <a:off x="8279892" y="1809750"/>
            <a:ext cx="3454908" cy="4290251"/>
            <a:chOff x="8279892" y="1809750"/>
            <a:chExt cx="3454908" cy="4290251"/>
          </a:xfrm>
        </p:grpSpPr>
        <p:sp>
          <p:nvSpPr>
            <p:cNvPr id="59" name="Rectangle 59"/>
            <p:cNvSpPr/>
            <p:nvPr/>
          </p:nvSpPr>
          <p:spPr>
            <a:xfrm>
              <a:off x="8286750" y="1809750"/>
              <a:ext cx="3448050" cy="1628775"/>
            </a:xfrm>
            <a:prstGeom prst="roundRect">
              <a:avLst>
                <a:gd name="adj" fmla="val 4678"/>
              </a:avLst>
            </a:prstGeom>
            <a:solidFill>
              <a:srgbClr val="F6ECE6"/>
            </a:solidFill>
            <a:ln>
              <a:noFill/>
            </a:ln>
          </p:spPr>
        </p:sp>
        <p:sp>
          <p:nvSpPr>
            <p:cNvPr id="60" name="TextBox 60"/>
            <p:cNvSpPr txBox="1"/>
            <p:nvPr/>
          </p:nvSpPr>
          <p:spPr>
            <a:xfrm>
              <a:off x="8506206" y="1939290"/>
              <a:ext cx="987552" cy="352044"/>
            </a:xfrm>
            <a:prstGeom prst="rect">
              <a:avLst/>
            </a:prstGeom>
            <a:noFill/>
            <a:ln>
              <a:noFill/>
            </a:ln>
          </p:spPr>
          <p:txBody>
            <a:bodyPr wrap="none" lIns="0" tIns="0" rIns="0" bIns="0" anchor="t" anchorCtr="0">
              <a:spAutoFit/>
            </a:bodyPr>
            <a:lstStyle/>
            <a:p>
              <a:pPr algn="l"/>
              <a:r>
                <a:rPr lang="zh-CN" sz="1800" b="1" dirty="0">
                  <a:solidFill>
                    <a:schemeClr val="accent2"/>
                  </a:solidFill>
                  <a:latin typeface="+mn-lt"/>
                  <a:ea typeface="+mn-ea"/>
                  <a:cs typeface="+mn-cs"/>
                </a:rPr>
                <a:t>等效泄漏</a:t>
              </a:r>
            </a:p>
          </p:txBody>
        </p:sp>
        <p:sp>
          <p:nvSpPr>
            <p:cNvPr id="61" name="TextBox 61"/>
            <p:cNvSpPr txBox="1"/>
            <p:nvPr/>
          </p:nvSpPr>
          <p:spPr>
            <a:xfrm>
              <a:off x="8496300" y="2329815"/>
              <a:ext cx="784433" cy="933450"/>
            </a:xfrm>
            <a:prstGeom prst="rect">
              <a:avLst/>
            </a:prstGeom>
            <a:noFill/>
            <a:ln>
              <a:noFill/>
            </a:ln>
          </p:spPr>
          <p:txBody>
            <a:bodyPr wrap="none" lIns="0" tIns="0" rIns="0" bIns="0" anchor="t" anchorCtr="0">
              <a:spAutoFit/>
            </a:bodyPr>
            <a:lstStyle/>
            <a:p>
              <a:pPr algn="l"/>
              <a:r>
                <a:rPr lang="zh-CN" sz="4800" b="1" dirty="0">
                  <a:solidFill>
                    <a:schemeClr val="accent2"/>
                  </a:solidFill>
                  <a:latin typeface="+mn-lt"/>
                  <a:ea typeface="+mn-ea"/>
                  <a:cs typeface="+mn-cs"/>
                </a:rPr>
                <a:t>76</a:t>
              </a:r>
            </a:p>
          </p:txBody>
        </p:sp>
        <p:sp>
          <p:nvSpPr>
            <p:cNvPr id="62" name="TextBox 62"/>
            <p:cNvSpPr txBox="1"/>
            <p:nvPr/>
          </p:nvSpPr>
          <p:spPr>
            <a:xfrm>
              <a:off x="9715881" y="2596515"/>
              <a:ext cx="951205" cy="352044"/>
            </a:xfrm>
            <a:prstGeom prst="rect">
              <a:avLst/>
            </a:prstGeom>
            <a:noFill/>
            <a:ln>
              <a:noFill/>
            </a:ln>
          </p:spPr>
          <p:txBody>
            <a:bodyPr wrap="none" lIns="0" tIns="0" rIns="0" bIns="0" anchor="t" anchorCtr="0">
              <a:spAutoFit/>
            </a:bodyPr>
            <a:lstStyle/>
            <a:p>
              <a:pPr algn="l"/>
              <a:r>
                <a:rPr lang="zh-CN" sz="1800" dirty="0">
                  <a:solidFill>
                    <a:schemeClr val="accent2"/>
                  </a:solidFill>
                  <a:latin typeface="+mn-lt"/>
                  <a:ea typeface="+mn-ea"/>
                  <a:cs typeface="+mn-cs"/>
                </a:rPr>
                <a:t>s 提前量</a:t>
              </a:r>
            </a:p>
          </p:txBody>
        </p:sp>
        <p:sp>
          <p:nvSpPr>
            <p:cNvPr id="63" name="TextBox 63"/>
            <p:cNvSpPr txBox="1"/>
            <p:nvPr/>
          </p:nvSpPr>
          <p:spPr>
            <a:xfrm>
              <a:off x="8507730" y="3028950"/>
              <a:ext cx="206483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提示 409s → 判据 485s</a:t>
              </a:r>
            </a:p>
          </p:txBody>
        </p:sp>
        <p:sp>
          <p:nvSpPr>
            <p:cNvPr id="64" name="Rectangle 64"/>
            <p:cNvSpPr/>
            <p:nvPr/>
          </p:nvSpPr>
          <p:spPr>
            <a:xfrm>
              <a:off x="8286750" y="3609975"/>
              <a:ext cx="3448050" cy="1628775"/>
            </a:xfrm>
            <a:prstGeom prst="roundRect">
              <a:avLst>
                <a:gd name="adj" fmla="val 4678"/>
              </a:avLst>
            </a:prstGeom>
            <a:solidFill>
              <a:schemeClr val="lt2"/>
            </a:solidFill>
            <a:ln>
              <a:noFill/>
            </a:ln>
          </p:spPr>
        </p:sp>
        <p:sp>
          <p:nvSpPr>
            <p:cNvPr id="65" name="TextBox 65"/>
            <p:cNvSpPr txBox="1"/>
            <p:nvPr/>
          </p:nvSpPr>
          <p:spPr>
            <a:xfrm>
              <a:off x="8506206" y="3739515"/>
              <a:ext cx="9875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等效受限</a:t>
              </a:r>
            </a:p>
          </p:txBody>
        </p:sp>
        <p:sp>
          <p:nvSpPr>
            <p:cNvPr id="66" name="TextBox 66"/>
            <p:cNvSpPr txBox="1"/>
            <p:nvPr/>
          </p:nvSpPr>
          <p:spPr>
            <a:xfrm>
              <a:off x="8496300" y="4130040"/>
              <a:ext cx="1157600" cy="933450"/>
            </a:xfrm>
            <a:prstGeom prst="rect">
              <a:avLst/>
            </a:prstGeom>
            <a:noFill/>
            <a:ln>
              <a:noFill/>
            </a:ln>
          </p:spPr>
          <p:txBody>
            <a:bodyPr wrap="none" lIns="0" tIns="0" rIns="0" bIns="0" anchor="t" anchorCtr="0">
              <a:spAutoFit/>
            </a:bodyPr>
            <a:lstStyle/>
            <a:p>
              <a:pPr algn="l"/>
              <a:r>
                <a:rPr lang="zh-CN" sz="4800" b="1" dirty="0">
                  <a:solidFill>
                    <a:schemeClr val="accent1"/>
                  </a:solidFill>
                  <a:latin typeface="+mn-lt"/>
                  <a:ea typeface="+mn-ea"/>
                  <a:cs typeface="+mn-cs"/>
                </a:rPr>
                <a:t>126</a:t>
              </a:r>
            </a:p>
          </p:txBody>
        </p:sp>
        <p:sp>
          <p:nvSpPr>
            <p:cNvPr id="67" name="TextBox 67"/>
            <p:cNvSpPr txBox="1"/>
            <p:nvPr/>
          </p:nvSpPr>
          <p:spPr>
            <a:xfrm>
              <a:off x="9715881" y="4396740"/>
              <a:ext cx="951205"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s 提前量</a:t>
              </a:r>
            </a:p>
          </p:txBody>
        </p:sp>
        <p:sp>
          <p:nvSpPr>
            <p:cNvPr id="68" name="TextBox 68"/>
            <p:cNvSpPr txBox="1"/>
            <p:nvPr/>
          </p:nvSpPr>
          <p:spPr>
            <a:xfrm>
              <a:off x="8507730" y="4829175"/>
              <a:ext cx="206483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提示 396s → 判据 522s</a:t>
              </a:r>
            </a:p>
          </p:txBody>
        </p:sp>
        <p:sp>
          <p:nvSpPr>
            <p:cNvPr id="69" name="TextBox 69"/>
            <p:cNvSpPr txBox="1"/>
            <p:nvPr/>
          </p:nvSpPr>
          <p:spPr>
            <a:xfrm>
              <a:off x="8279892" y="5588318"/>
              <a:ext cx="2774061"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示例值，非实物性能</a:t>
              </a:r>
              <a:br/>
              <a:r>
                <a:rPr lang="zh-CN" sz="1350" dirty="0">
                  <a:solidFill>
                    <a:schemeClr val="accent5"/>
                  </a:solidFill>
                  <a:latin typeface="+mn-lt"/>
                  <a:ea typeface="+mn-ea"/>
                  <a:cs typeface="+mn-cs"/>
                </a:rPr>
                <a:t>20种子中位数另报；判据须实测冻结</a:t>
              </a:r>
            </a:p>
          </p:txBody>
        </p:sp>
      </p:grpSp>
      <p:grpSp>
        <p:nvGrpSpPr>
          <p:cNvPr id="72" name="early-definition"/>
          <p:cNvGrpSpPr/>
          <p:nvPr/>
        </p:nvGrpSpPr>
        <p:grpSpPr>
          <a:xfrm>
            <a:off x="449580" y="5581650"/>
            <a:ext cx="4196715" cy="569595"/>
            <a:chOff x="449580" y="5581650"/>
            <a:chExt cx="4196715" cy="569595"/>
          </a:xfrm>
        </p:grpSpPr>
        <p:sp>
          <p:nvSpPr>
            <p:cNvPr id="71" name="TextBox 71"/>
            <p:cNvSpPr txBox="1"/>
            <p:nvPr/>
          </p:nvSpPr>
          <p:spPr>
            <a:xfrm>
              <a:off x="449580" y="5581650"/>
              <a:ext cx="4196715" cy="569595"/>
            </a:xfrm>
            <a:prstGeom prst="rect">
              <a:avLst/>
            </a:prstGeom>
            <a:noFill/>
            <a:ln>
              <a:noFill/>
            </a:ln>
          </p:spPr>
          <p:txBody>
            <a:bodyPr wrap="none" lIns="0" tIns="0" rIns="0" bIns="0" anchor="t" anchorCtr="0">
              <a:spAutoFit/>
            </a:bodyPr>
            <a:lstStyle/>
            <a:p>
              <a:pPr algn="l">
                <a:lnSpc>
                  <a:spcPts val="2175"/>
                </a:lnSpc>
              </a:pPr>
              <a:r>
                <a:rPr lang="zh-CN" sz="1500" dirty="0">
                  <a:solidFill>
                    <a:schemeClr val="dk1"/>
                  </a:solidFill>
                  <a:latin typeface="+mn-lt"/>
                  <a:ea typeface="+mn-ea"/>
                  <a:cs typeface="+mn-cs"/>
                </a:rPr>
                <a:t>正确提示发生在失效判据前，且没有前期误报。</a:t>
              </a:r>
              <a:br/>
              <a:r>
                <a:rPr lang="zh-CN" sz="1500" dirty="0">
                  <a:solidFill>
                    <a:schemeClr val="dk1"/>
                  </a:solidFill>
                  <a:latin typeface="+mn-lt"/>
                  <a:ea typeface="+mn-ea"/>
                  <a:cs typeface="+mn-cs"/>
                </a:rPr>
                <a:t>15%仅演示；故障→本地提示→远端接收分别评价。</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route-highlight"/>
          <p:cNvSpPr/>
          <p:nvPr/>
        </p:nvSpPr>
        <p:spPr>
          <a:xfrm>
            <a:off x="9820275" y="257175"/>
            <a:ext cx="619125" cy="295275"/>
          </a:xfrm>
          <a:prstGeom prst="roundRect">
            <a:avLst>
              <a:gd name="adj" fmla="val 12903"/>
            </a:avLst>
          </a:prstGeom>
          <a:solidFill>
            <a:schemeClr val="lt2"/>
          </a:solidFill>
          <a:ln>
            <a:noFill/>
          </a:ln>
        </p:spPr>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少发帧，也要保住证据</a:t>
              </a:r>
            </a:p>
          </p:txBody>
        </p:sp>
      </p:grpSp>
      <p:sp>
        <p:nvSpPr>
          <p:cNvPr id="11" name="source-footer"/>
          <p:cNvSpPr txBox="1"/>
          <p:nvPr/>
        </p:nvSpPr>
        <p:spPr>
          <a:xfrm>
            <a:off x="451104" y="6404610"/>
            <a:ext cx="513146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旧单压力模型回放 · 同检测/ACK · 非射频实测；未与新诊断端到端集成</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07/15</a:t>
            </a:r>
          </a:p>
        </p:txBody>
      </p:sp>
      <p:grpSp>
        <p:nvGrpSpPr>
          <p:cNvPr id="76" name="tradeoff-panels"/>
          <p:cNvGrpSpPr/>
          <p:nvPr/>
        </p:nvGrpSpPr>
        <p:grpSpPr>
          <a:xfrm>
            <a:off x="449580" y="1590675"/>
            <a:ext cx="11285220" cy="3533775"/>
            <a:chOff x="449580" y="1590675"/>
            <a:chExt cx="11285220" cy="3533775"/>
          </a:xfrm>
        </p:grpSpPr>
        <p:sp>
          <p:nvSpPr>
            <p:cNvPr id="13" name="TextBox 13"/>
            <p:cNvSpPr txBox="1"/>
            <p:nvPr/>
          </p:nvSpPr>
          <p:spPr>
            <a:xfrm>
              <a:off x="449580" y="1590675"/>
              <a:ext cx="6204394"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匹配对照：同检测、滤波载荷与告警确认；10%随机丢包 + 15s全丢包</a:t>
              </a:r>
            </a:p>
          </p:txBody>
        </p:sp>
        <p:sp>
          <p:nvSpPr>
            <p:cNvPr id="14" name="Rectangle 14"/>
            <p:cNvSpPr/>
            <p:nvPr/>
          </p:nvSpPr>
          <p:spPr>
            <a:xfrm>
              <a:off x="457200" y="2028825"/>
              <a:ext cx="5448300" cy="3095625"/>
            </a:xfrm>
            <a:prstGeom prst="roundRect">
              <a:avLst>
                <a:gd name="adj" fmla="val 2462"/>
              </a:avLst>
            </a:prstGeom>
            <a:solidFill>
              <a:srgbClr val="FFFFFF"/>
            </a:solidFill>
            <a:ln w="9525">
              <a:solidFill>
                <a:schemeClr val="accent6"/>
              </a:solidFill>
            </a:ln>
          </p:spPr>
        </p:sp>
        <p:sp>
          <p:nvSpPr>
            <p:cNvPr id="15" name="Rectangle 15"/>
            <p:cNvSpPr/>
            <p:nvPr/>
          </p:nvSpPr>
          <p:spPr>
            <a:xfrm>
              <a:off x="6286500" y="2028825"/>
              <a:ext cx="5448300" cy="3095625"/>
            </a:xfrm>
            <a:prstGeom prst="roundRect">
              <a:avLst>
                <a:gd name="adj" fmla="val 2462"/>
              </a:avLst>
            </a:prstGeom>
            <a:solidFill>
              <a:srgbClr val="FFFFFF"/>
            </a:solidFill>
            <a:ln w="9525">
              <a:solidFill>
                <a:schemeClr val="accent6"/>
              </a:solidFill>
            </a:ln>
          </p:spPr>
        </p:sp>
        <p:sp>
          <p:nvSpPr>
            <p:cNvPr id="16" name="TextBox 16"/>
            <p:cNvSpPr txBox="1"/>
            <p:nvPr/>
          </p:nvSpPr>
          <p:spPr>
            <a:xfrm>
              <a:off x="638556" y="2148840"/>
              <a:ext cx="9875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正常轮灌</a:t>
              </a:r>
            </a:p>
          </p:txBody>
        </p:sp>
        <p:sp>
          <p:nvSpPr>
            <p:cNvPr id="17" name="TextBox 17"/>
            <p:cNvSpPr txBox="1"/>
            <p:nvPr/>
          </p:nvSpPr>
          <p:spPr>
            <a:xfrm>
              <a:off x="3107817" y="2197418"/>
              <a:ext cx="8956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误差 / kPa</a:t>
              </a:r>
            </a:p>
          </p:txBody>
        </p:sp>
        <p:sp>
          <p:nvSpPr>
            <p:cNvPr id="18" name="TextBox 18"/>
            <p:cNvSpPr txBox="1"/>
            <p:nvPr/>
          </p:nvSpPr>
          <p:spPr>
            <a:xfrm>
              <a:off x="6467856" y="2148840"/>
              <a:ext cx="9875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较大噪声</a:t>
              </a:r>
            </a:p>
          </p:txBody>
        </p:sp>
        <p:sp>
          <p:nvSpPr>
            <p:cNvPr id="19" name="TextBox 19"/>
            <p:cNvSpPr txBox="1"/>
            <p:nvPr/>
          </p:nvSpPr>
          <p:spPr>
            <a:xfrm>
              <a:off x="9013317" y="2197418"/>
              <a:ext cx="8956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误差 / kPa</a:t>
              </a:r>
            </a:p>
          </p:txBody>
        </p:sp>
        <p:grpSp>
          <p:nvGrpSpPr>
            <p:cNvPr id="47" name="normal-tradeoff-chartArea"/>
            <p:cNvGrpSpPr/>
            <p:nvPr/>
          </p:nvGrpSpPr>
          <p:grpSpPr>
            <a:xfrm>
              <a:off x="683876" y="2606992"/>
              <a:ext cx="4997415" cy="2388109"/>
              <a:chOff x="683876" y="2606992"/>
              <a:chExt cx="4997415" cy="2388109"/>
            </a:xfrm>
          </p:grpSpPr>
          <p:sp>
            <p:nvSpPr>
              <p:cNvPr id="20" name="Line 20"/>
              <p:cNvSpPr/>
              <p:nvPr/>
            </p:nvSpPr>
            <p:spPr>
              <a:xfrm>
                <a:off x="1104900" y="462915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21" name="TextBox 21"/>
              <p:cNvSpPr txBox="1"/>
              <p:nvPr/>
            </p:nvSpPr>
            <p:spPr>
              <a:xfrm>
                <a:off x="683876" y="454056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0.0</a:t>
                </a:r>
              </a:p>
            </p:txBody>
          </p:sp>
          <p:sp>
            <p:nvSpPr>
              <p:cNvPr id="22" name="Line 22"/>
              <p:cNvSpPr/>
              <p:nvPr/>
            </p:nvSpPr>
            <p:spPr>
              <a:xfrm>
                <a:off x="1104900" y="424243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23" name="TextBox 23"/>
              <p:cNvSpPr txBox="1"/>
              <p:nvPr/>
            </p:nvSpPr>
            <p:spPr>
              <a:xfrm>
                <a:off x="683876" y="415385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0.3</a:t>
                </a:r>
              </a:p>
            </p:txBody>
          </p:sp>
          <p:sp>
            <p:nvSpPr>
              <p:cNvPr id="24" name="Line 24"/>
              <p:cNvSpPr/>
              <p:nvPr/>
            </p:nvSpPr>
            <p:spPr>
              <a:xfrm>
                <a:off x="1104900" y="385572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25" name="TextBox 25"/>
              <p:cNvSpPr txBox="1"/>
              <p:nvPr/>
            </p:nvSpPr>
            <p:spPr>
              <a:xfrm>
                <a:off x="683876" y="376713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0.6</a:t>
                </a:r>
              </a:p>
            </p:txBody>
          </p:sp>
          <p:sp>
            <p:nvSpPr>
              <p:cNvPr id="26" name="Line 26"/>
              <p:cNvSpPr/>
              <p:nvPr/>
            </p:nvSpPr>
            <p:spPr>
              <a:xfrm>
                <a:off x="1104900" y="346900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27" name="TextBox 27"/>
              <p:cNvSpPr txBox="1"/>
              <p:nvPr/>
            </p:nvSpPr>
            <p:spPr>
              <a:xfrm>
                <a:off x="683876" y="338042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0.9</a:t>
                </a:r>
              </a:p>
            </p:txBody>
          </p:sp>
          <p:sp>
            <p:nvSpPr>
              <p:cNvPr id="28" name="Line 28"/>
              <p:cNvSpPr/>
              <p:nvPr/>
            </p:nvSpPr>
            <p:spPr>
              <a:xfrm>
                <a:off x="1104900" y="308229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29" name="TextBox 29"/>
              <p:cNvSpPr txBox="1"/>
              <p:nvPr/>
            </p:nvSpPr>
            <p:spPr>
              <a:xfrm>
                <a:off x="683876" y="299370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1.2</a:t>
                </a:r>
              </a:p>
            </p:txBody>
          </p:sp>
          <p:sp>
            <p:nvSpPr>
              <p:cNvPr id="30" name="Line 30"/>
              <p:cNvSpPr/>
              <p:nvPr/>
            </p:nvSpPr>
            <p:spPr>
              <a:xfrm>
                <a:off x="1104900" y="269557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31" name="TextBox 31"/>
              <p:cNvSpPr txBox="1"/>
              <p:nvPr/>
            </p:nvSpPr>
            <p:spPr>
              <a:xfrm>
                <a:off x="683876" y="260699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1.5</a:t>
                </a:r>
              </a:p>
            </p:txBody>
          </p:sp>
          <p:sp>
            <p:nvSpPr>
              <p:cNvPr id="32" name="TextBox 32"/>
              <p:cNvSpPr txBox="1"/>
              <p:nvPr/>
            </p:nvSpPr>
            <p:spPr>
              <a:xfrm>
                <a:off x="1048064" y="4731068"/>
                <a:ext cx="113671"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0</a:t>
                </a:r>
              </a:p>
            </p:txBody>
          </p:sp>
          <p:sp>
            <p:nvSpPr>
              <p:cNvPr id="33" name="TextBox 33"/>
              <p:cNvSpPr txBox="1"/>
              <p:nvPr/>
            </p:nvSpPr>
            <p:spPr>
              <a:xfrm>
                <a:off x="2102987" y="473106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25</a:t>
                </a:r>
              </a:p>
            </p:txBody>
          </p:sp>
          <p:sp>
            <p:nvSpPr>
              <p:cNvPr id="34" name="TextBox 34"/>
              <p:cNvSpPr txBox="1"/>
              <p:nvPr/>
            </p:nvSpPr>
            <p:spPr>
              <a:xfrm>
                <a:off x="3207887" y="473106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50</a:t>
                </a:r>
              </a:p>
            </p:txBody>
          </p:sp>
          <p:sp>
            <p:nvSpPr>
              <p:cNvPr id="35" name="TextBox 35"/>
              <p:cNvSpPr txBox="1"/>
              <p:nvPr/>
            </p:nvSpPr>
            <p:spPr>
              <a:xfrm>
                <a:off x="4312787" y="473106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75</a:t>
                </a:r>
              </a:p>
            </p:txBody>
          </p:sp>
          <p:sp>
            <p:nvSpPr>
              <p:cNvPr id="36" name="TextBox 36"/>
              <p:cNvSpPr txBox="1"/>
              <p:nvPr/>
            </p:nvSpPr>
            <p:spPr>
              <a:xfrm>
                <a:off x="5367709" y="47310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100</a:t>
                </a:r>
              </a:p>
            </p:txBody>
          </p:sp>
          <p:sp>
            <p:nvSpPr>
              <p:cNvPr id="37" name="Line 37"/>
              <p:cNvSpPr/>
              <p:nvPr/>
            </p:nvSpPr>
            <p:spPr>
              <a:xfrm>
                <a:off x="1104900" y="2695575"/>
                <a:ext cx="9525" cy="1933575"/>
              </a:xfrm>
              <a:custGeom>
                <a:avLst/>
                <a:gdLst/>
                <a:ahLst/>
                <a:cxnLst/>
                <a:rect l="l" t="t" r="r" b="b"/>
                <a:pathLst>
                  <a:path w="9525" h="1933575">
                    <a:moveTo>
                      <a:pt x="0" y="0"/>
                    </a:moveTo>
                    <a:lnTo>
                      <a:pt x="0" y="1933575"/>
                    </a:lnTo>
                  </a:path>
                </a:pathLst>
              </a:custGeom>
              <a:noFill/>
              <a:ln w="9525">
                <a:solidFill>
                  <a:srgbClr val="556762"/>
                </a:solidFill>
              </a:ln>
            </p:spPr>
          </p:sp>
          <p:sp>
            <p:nvSpPr>
              <p:cNvPr id="38" name="Line 38"/>
              <p:cNvSpPr/>
              <p:nvPr/>
            </p:nvSpPr>
            <p:spPr>
              <a:xfrm>
                <a:off x="1104900" y="4629150"/>
                <a:ext cx="4419600" cy="9525"/>
              </a:xfrm>
              <a:custGeom>
                <a:avLst/>
                <a:gdLst/>
                <a:ahLst/>
                <a:cxnLst/>
                <a:rect l="l" t="t" r="r" b="b"/>
                <a:pathLst>
                  <a:path w="4419600" h="9525">
                    <a:moveTo>
                      <a:pt x="0" y="0"/>
                    </a:moveTo>
                    <a:lnTo>
                      <a:pt x="4419600" y="0"/>
                    </a:lnTo>
                  </a:path>
                </a:pathLst>
              </a:custGeom>
              <a:noFill/>
              <a:ln w="9525">
                <a:solidFill>
                  <a:srgbClr val="556762"/>
                </a:solidFill>
              </a:ln>
            </p:spPr>
          </p:sp>
          <p:sp>
            <p:nvSpPr>
              <p:cNvPr id="39" name="Ellipse 39"/>
              <p:cNvSpPr/>
              <p:nvPr/>
            </p:nvSpPr>
            <p:spPr>
              <a:xfrm>
                <a:off x="4008882" y="4001014"/>
                <a:ext cx="114300" cy="114300"/>
              </a:xfrm>
              <a:prstGeom prst="ellipse">
                <a:avLst/>
              </a:prstGeom>
              <a:solidFill>
                <a:schemeClr val="accent1"/>
              </a:solidFill>
              <a:ln>
                <a:noFill/>
              </a:ln>
            </p:spPr>
          </p:sp>
          <p:sp>
            <p:nvSpPr>
              <p:cNvPr id="40" name="TextBox 40"/>
              <p:cNvSpPr txBox="1"/>
              <p:nvPr/>
            </p:nvSpPr>
            <p:spPr>
              <a:xfrm>
                <a:off x="4154424" y="3769557"/>
                <a:ext cx="677056" cy="264033"/>
              </a:xfrm>
              <a:prstGeom prst="rect">
                <a:avLst/>
              </a:prstGeom>
              <a:noFill/>
              <a:ln>
                <a:noFill/>
              </a:ln>
            </p:spPr>
            <p:txBody>
              <a:bodyPr wrap="none" lIns="0" tIns="0" rIns="0" bIns="0" anchor="t" anchorCtr="0">
                <a:spAutoFit/>
              </a:bodyPr>
              <a:lstStyle/>
              <a:p>
                <a:pPr algn="l"/>
                <a:r>
                  <a:rPr lang="zh-CN" sz="1350" dirty="0">
                    <a:solidFill>
                      <a:schemeClr val="accent1"/>
                    </a:solidFill>
                    <a:latin typeface="+mn-lt"/>
                    <a:ea typeface="+mn-ea"/>
                    <a:cs typeface="+mn-cs"/>
                  </a:rPr>
                  <a:t>周期10s</a:t>
                </a:r>
              </a:p>
            </p:txBody>
          </p:sp>
          <p:sp>
            <p:nvSpPr>
              <p:cNvPr id="41" name="Ellipse 41"/>
              <p:cNvSpPr/>
              <p:nvPr/>
            </p:nvSpPr>
            <p:spPr>
              <a:xfrm>
                <a:off x="2064258" y="3129458"/>
                <a:ext cx="114300" cy="114300"/>
              </a:xfrm>
              <a:prstGeom prst="ellipse">
                <a:avLst/>
              </a:prstGeom>
              <a:solidFill>
                <a:schemeClr val="accent3"/>
              </a:solidFill>
              <a:ln>
                <a:noFill/>
              </a:ln>
            </p:spPr>
          </p:sp>
          <p:sp>
            <p:nvSpPr>
              <p:cNvPr id="42" name="TextBox 42"/>
              <p:cNvSpPr txBox="1"/>
              <p:nvPr/>
            </p:nvSpPr>
            <p:spPr>
              <a:xfrm>
                <a:off x="2228850" y="2907525"/>
                <a:ext cx="67705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周期30s</a:t>
                </a:r>
              </a:p>
            </p:txBody>
          </p:sp>
          <p:sp>
            <p:nvSpPr>
              <p:cNvPr id="43" name="Ellipse 43"/>
              <p:cNvSpPr/>
              <p:nvPr/>
            </p:nvSpPr>
            <p:spPr>
              <a:xfrm>
                <a:off x="2468651" y="3814820"/>
                <a:ext cx="114300" cy="114300"/>
              </a:xfrm>
              <a:prstGeom prst="ellipse">
                <a:avLst/>
              </a:prstGeom>
              <a:solidFill>
                <a:schemeClr val="accent2"/>
              </a:solidFill>
              <a:ln>
                <a:noFill/>
              </a:ln>
            </p:spPr>
          </p:sp>
          <p:sp>
            <p:nvSpPr>
              <p:cNvPr id="44" name="TextBox 44"/>
              <p:cNvSpPr txBox="1"/>
              <p:nvPr/>
            </p:nvSpPr>
            <p:spPr>
              <a:xfrm>
                <a:off x="2614193" y="3983412"/>
                <a:ext cx="740664"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原始事件</a:t>
                </a:r>
              </a:p>
            </p:txBody>
          </p:sp>
          <p:sp>
            <p:nvSpPr>
              <p:cNvPr id="45" name="Ellipse 45"/>
              <p:cNvSpPr/>
              <p:nvPr/>
            </p:nvSpPr>
            <p:spPr>
              <a:xfrm>
                <a:off x="1763725" y="3569713"/>
                <a:ext cx="114300" cy="114300"/>
              </a:xfrm>
              <a:prstGeom prst="ellipse">
                <a:avLst/>
              </a:prstGeom>
              <a:solidFill>
                <a:srgbClr val="83639B"/>
              </a:solidFill>
              <a:ln>
                <a:noFill/>
              </a:ln>
            </p:spPr>
          </p:sp>
          <p:sp>
            <p:nvSpPr>
              <p:cNvPr id="46" name="TextBox 46"/>
              <p:cNvSpPr txBox="1"/>
              <p:nvPr/>
            </p:nvSpPr>
            <p:spPr>
              <a:xfrm>
                <a:off x="1928317" y="3309680"/>
                <a:ext cx="1104138" cy="264033"/>
              </a:xfrm>
              <a:prstGeom prst="rect">
                <a:avLst/>
              </a:prstGeom>
              <a:noFill/>
              <a:ln>
                <a:noFill/>
              </a:ln>
            </p:spPr>
            <p:txBody>
              <a:bodyPr wrap="none" lIns="0" tIns="0" rIns="0" bIns="0" anchor="t" anchorCtr="0">
                <a:spAutoFit/>
              </a:bodyPr>
              <a:lstStyle/>
              <a:p>
                <a:pPr algn="l"/>
                <a:r>
                  <a:rPr lang="zh-CN" sz="1350" dirty="0">
                    <a:solidFill>
                      <a:srgbClr val="83639B"/>
                    </a:solidFill>
                    <a:latin typeface="+mn-lt"/>
                    <a:ea typeface="+mn-ea"/>
                    <a:cs typeface="+mn-cs"/>
                  </a:rPr>
                  <a:t>滤波限频事件</a:t>
                </a:r>
              </a:p>
            </p:txBody>
          </p:sp>
        </p:grpSp>
        <p:grpSp>
          <p:nvGrpSpPr>
            <p:cNvPr id="75" name="noise-tradeoff-chartArea"/>
            <p:cNvGrpSpPr/>
            <p:nvPr/>
          </p:nvGrpSpPr>
          <p:grpSpPr>
            <a:xfrm>
              <a:off x="6513176" y="2606992"/>
              <a:ext cx="4997415" cy="2388109"/>
              <a:chOff x="6513176" y="2606992"/>
              <a:chExt cx="4997415" cy="2388109"/>
            </a:xfrm>
          </p:grpSpPr>
          <p:sp>
            <p:nvSpPr>
              <p:cNvPr id="48" name="Line 48"/>
              <p:cNvSpPr/>
              <p:nvPr/>
            </p:nvSpPr>
            <p:spPr>
              <a:xfrm>
                <a:off x="6934200" y="462915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49" name="TextBox 49"/>
              <p:cNvSpPr txBox="1"/>
              <p:nvPr/>
            </p:nvSpPr>
            <p:spPr>
              <a:xfrm>
                <a:off x="6513176" y="454056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0.0</a:t>
                </a:r>
              </a:p>
            </p:txBody>
          </p:sp>
          <p:sp>
            <p:nvSpPr>
              <p:cNvPr id="50" name="Line 50"/>
              <p:cNvSpPr/>
              <p:nvPr/>
            </p:nvSpPr>
            <p:spPr>
              <a:xfrm>
                <a:off x="6934200" y="424243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51" name="TextBox 51"/>
              <p:cNvSpPr txBox="1"/>
              <p:nvPr/>
            </p:nvSpPr>
            <p:spPr>
              <a:xfrm>
                <a:off x="6513176" y="415385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0.5</a:t>
                </a:r>
              </a:p>
            </p:txBody>
          </p:sp>
          <p:sp>
            <p:nvSpPr>
              <p:cNvPr id="52" name="Line 52"/>
              <p:cNvSpPr/>
              <p:nvPr/>
            </p:nvSpPr>
            <p:spPr>
              <a:xfrm>
                <a:off x="6934200" y="385572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53" name="TextBox 53"/>
              <p:cNvSpPr txBox="1"/>
              <p:nvPr/>
            </p:nvSpPr>
            <p:spPr>
              <a:xfrm>
                <a:off x="6513176" y="376713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1.0</a:t>
                </a:r>
              </a:p>
            </p:txBody>
          </p:sp>
          <p:sp>
            <p:nvSpPr>
              <p:cNvPr id="54" name="Line 54"/>
              <p:cNvSpPr/>
              <p:nvPr/>
            </p:nvSpPr>
            <p:spPr>
              <a:xfrm>
                <a:off x="6934200" y="346900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55" name="TextBox 55"/>
              <p:cNvSpPr txBox="1"/>
              <p:nvPr/>
            </p:nvSpPr>
            <p:spPr>
              <a:xfrm>
                <a:off x="6513176" y="338042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1.5</a:t>
                </a:r>
              </a:p>
            </p:txBody>
          </p:sp>
          <p:sp>
            <p:nvSpPr>
              <p:cNvPr id="56" name="Line 56"/>
              <p:cNvSpPr/>
              <p:nvPr/>
            </p:nvSpPr>
            <p:spPr>
              <a:xfrm>
                <a:off x="6934200" y="3082290"/>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57" name="TextBox 57"/>
              <p:cNvSpPr txBox="1"/>
              <p:nvPr/>
            </p:nvSpPr>
            <p:spPr>
              <a:xfrm>
                <a:off x="6513176" y="299370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2.0</a:t>
                </a:r>
              </a:p>
            </p:txBody>
          </p:sp>
          <p:sp>
            <p:nvSpPr>
              <p:cNvPr id="58" name="Line 58"/>
              <p:cNvSpPr/>
              <p:nvPr/>
            </p:nvSpPr>
            <p:spPr>
              <a:xfrm>
                <a:off x="6934200" y="2695575"/>
                <a:ext cx="4419600" cy="9525"/>
              </a:xfrm>
              <a:custGeom>
                <a:avLst/>
                <a:gdLst/>
                <a:ahLst/>
                <a:cxnLst/>
                <a:rect l="l" t="t" r="r" b="b"/>
                <a:pathLst>
                  <a:path w="4419600" h="9525">
                    <a:moveTo>
                      <a:pt x="0" y="0"/>
                    </a:moveTo>
                    <a:lnTo>
                      <a:pt x="4419600" y="0"/>
                    </a:lnTo>
                  </a:path>
                </a:pathLst>
              </a:custGeom>
              <a:noFill/>
              <a:ln w="9525">
                <a:solidFill>
                  <a:srgbClr val="E0E7E2"/>
                </a:solidFill>
              </a:ln>
            </p:spPr>
          </p:sp>
          <p:sp>
            <p:nvSpPr>
              <p:cNvPr id="59" name="TextBox 59"/>
              <p:cNvSpPr txBox="1"/>
              <p:nvPr/>
            </p:nvSpPr>
            <p:spPr>
              <a:xfrm>
                <a:off x="6513176" y="260699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2.5</a:t>
                </a:r>
              </a:p>
            </p:txBody>
          </p:sp>
          <p:sp>
            <p:nvSpPr>
              <p:cNvPr id="60" name="TextBox 60"/>
              <p:cNvSpPr txBox="1"/>
              <p:nvPr/>
            </p:nvSpPr>
            <p:spPr>
              <a:xfrm>
                <a:off x="6877364" y="4731068"/>
                <a:ext cx="113671"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0</a:t>
                </a:r>
              </a:p>
            </p:txBody>
          </p:sp>
          <p:sp>
            <p:nvSpPr>
              <p:cNvPr id="61" name="TextBox 61"/>
              <p:cNvSpPr txBox="1"/>
              <p:nvPr/>
            </p:nvSpPr>
            <p:spPr>
              <a:xfrm>
                <a:off x="7882309" y="47310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150</a:t>
                </a:r>
              </a:p>
            </p:txBody>
          </p:sp>
          <p:sp>
            <p:nvSpPr>
              <p:cNvPr id="62" name="TextBox 62"/>
              <p:cNvSpPr txBox="1"/>
              <p:nvPr/>
            </p:nvSpPr>
            <p:spPr>
              <a:xfrm>
                <a:off x="8987209" y="47310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300</a:t>
                </a:r>
              </a:p>
            </p:txBody>
          </p:sp>
          <p:sp>
            <p:nvSpPr>
              <p:cNvPr id="63" name="TextBox 63"/>
              <p:cNvSpPr txBox="1"/>
              <p:nvPr/>
            </p:nvSpPr>
            <p:spPr>
              <a:xfrm>
                <a:off x="10092109" y="47310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450</a:t>
                </a:r>
              </a:p>
            </p:txBody>
          </p:sp>
          <p:sp>
            <p:nvSpPr>
              <p:cNvPr id="64" name="TextBox 64"/>
              <p:cNvSpPr txBox="1"/>
              <p:nvPr/>
            </p:nvSpPr>
            <p:spPr>
              <a:xfrm>
                <a:off x="11197009" y="47310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600</a:t>
                </a:r>
              </a:p>
            </p:txBody>
          </p:sp>
          <p:sp>
            <p:nvSpPr>
              <p:cNvPr id="65" name="Line 65"/>
              <p:cNvSpPr/>
              <p:nvPr/>
            </p:nvSpPr>
            <p:spPr>
              <a:xfrm>
                <a:off x="6934200" y="2695575"/>
                <a:ext cx="9525" cy="1933575"/>
              </a:xfrm>
              <a:custGeom>
                <a:avLst/>
                <a:gdLst/>
                <a:ahLst/>
                <a:cxnLst/>
                <a:rect l="l" t="t" r="r" b="b"/>
                <a:pathLst>
                  <a:path w="9525" h="1933575">
                    <a:moveTo>
                      <a:pt x="0" y="0"/>
                    </a:moveTo>
                    <a:lnTo>
                      <a:pt x="0" y="1933575"/>
                    </a:lnTo>
                  </a:path>
                </a:pathLst>
              </a:custGeom>
              <a:noFill/>
              <a:ln w="9525">
                <a:solidFill>
                  <a:srgbClr val="556762"/>
                </a:solidFill>
              </a:ln>
            </p:spPr>
          </p:sp>
          <p:sp>
            <p:nvSpPr>
              <p:cNvPr id="66" name="Line 66"/>
              <p:cNvSpPr/>
              <p:nvPr/>
            </p:nvSpPr>
            <p:spPr>
              <a:xfrm>
                <a:off x="6934200" y="4629150"/>
                <a:ext cx="4419600" cy="9525"/>
              </a:xfrm>
              <a:custGeom>
                <a:avLst/>
                <a:gdLst/>
                <a:ahLst/>
                <a:cxnLst/>
                <a:rect l="l" t="t" r="r" b="b"/>
                <a:pathLst>
                  <a:path w="4419600" h="9525">
                    <a:moveTo>
                      <a:pt x="0" y="0"/>
                    </a:moveTo>
                    <a:lnTo>
                      <a:pt x="4419600" y="0"/>
                    </a:lnTo>
                  </a:path>
                </a:pathLst>
              </a:custGeom>
              <a:noFill/>
              <a:ln w="9525">
                <a:solidFill>
                  <a:srgbClr val="556762"/>
                </a:solidFill>
              </a:ln>
            </p:spPr>
          </p:sp>
          <p:sp>
            <p:nvSpPr>
              <p:cNvPr id="67" name="Ellipse 67"/>
              <p:cNvSpPr/>
              <p:nvPr/>
            </p:nvSpPr>
            <p:spPr>
              <a:xfrm>
                <a:off x="7442025" y="3770262"/>
                <a:ext cx="114300" cy="114300"/>
              </a:xfrm>
              <a:prstGeom prst="ellipse">
                <a:avLst/>
              </a:prstGeom>
              <a:solidFill>
                <a:schemeClr val="accent1"/>
              </a:solidFill>
              <a:ln>
                <a:noFill/>
              </a:ln>
            </p:spPr>
          </p:sp>
          <p:sp>
            <p:nvSpPr>
              <p:cNvPr id="68" name="TextBox 68"/>
              <p:cNvSpPr txBox="1"/>
              <p:nvPr/>
            </p:nvSpPr>
            <p:spPr>
              <a:xfrm>
                <a:off x="7682817" y="3615004"/>
                <a:ext cx="677056" cy="264033"/>
              </a:xfrm>
              <a:prstGeom prst="rect">
                <a:avLst/>
              </a:prstGeom>
              <a:noFill/>
              <a:ln>
                <a:noFill/>
              </a:ln>
            </p:spPr>
            <p:txBody>
              <a:bodyPr wrap="none" lIns="0" tIns="0" rIns="0" bIns="0" anchor="t" anchorCtr="0">
                <a:spAutoFit/>
              </a:bodyPr>
              <a:lstStyle/>
              <a:p>
                <a:pPr algn="l"/>
                <a:r>
                  <a:rPr lang="zh-CN" sz="1350" dirty="0">
                    <a:solidFill>
                      <a:schemeClr val="accent1"/>
                    </a:solidFill>
                    <a:latin typeface="+mn-lt"/>
                    <a:ea typeface="+mn-ea"/>
                    <a:cs typeface="+mn-cs"/>
                  </a:rPr>
                  <a:t>周期10s</a:t>
                </a:r>
              </a:p>
            </p:txBody>
          </p:sp>
          <p:sp>
            <p:nvSpPr>
              <p:cNvPr id="69" name="Ellipse 69"/>
              <p:cNvSpPr/>
              <p:nvPr/>
            </p:nvSpPr>
            <p:spPr>
              <a:xfrm>
                <a:off x="7124548" y="3166253"/>
                <a:ext cx="114300" cy="114300"/>
              </a:xfrm>
              <a:prstGeom prst="ellipse">
                <a:avLst/>
              </a:prstGeom>
              <a:solidFill>
                <a:schemeClr val="accent3"/>
              </a:solidFill>
              <a:ln>
                <a:noFill/>
              </a:ln>
            </p:spPr>
          </p:sp>
          <p:sp>
            <p:nvSpPr>
              <p:cNvPr id="70" name="TextBox 70"/>
              <p:cNvSpPr txBox="1"/>
              <p:nvPr/>
            </p:nvSpPr>
            <p:spPr>
              <a:xfrm>
                <a:off x="7289140" y="2944320"/>
                <a:ext cx="67705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周期30s</a:t>
                </a:r>
              </a:p>
            </p:txBody>
          </p:sp>
          <p:sp>
            <p:nvSpPr>
              <p:cNvPr id="71" name="Ellipse 71"/>
              <p:cNvSpPr/>
              <p:nvPr/>
            </p:nvSpPr>
            <p:spPr>
              <a:xfrm>
                <a:off x="10497074" y="4451623"/>
                <a:ext cx="114300" cy="114300"/>
              </a:xfrm>
              <a:prstGeom prst="ellipse">
                <a:avLst/>
              </a:prstGeom>
              <a:solidFill>
                <a:schemeClr val="accent2"/>
              </a:solidFill>
              <a:ln>
                <a:noFill/>
              </a:ln>
            </p:spPr>
          </p:sp>
          <p:sp>
            <p:nvSpPr>
              <p:cNvPr id="72" name="TextBox 72"/>
              <p:cNvSpPr txBox="1"/>
              <p:nvPr/>
            </p:nvSpPr>
            <p:spPr>
              <a:xfrm>
                <a:off x="9528191" y="4201116"/>
                <a:ext cx="740664"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原始事件</a:t>
                </a:r>
              </a:p>
            </p:txBody>
          </p:sp>
          <p:sp>
            <p:nvSpPr>
              <p:cNvPr id="73" name="Ellipse 73"/>
              <p:cNvSpPr/>
              <p:nvPr/>
            </p:nvSpPr>
            <p:spPr>
              <a:xfrm>
                <a:off x="7120499" y="3697538"/>
                <a:ext cx="114300" cy="114300"/>
              </a:xfrm>
              <a:prstGeom prst="ellipse">
                <a:avLst/>
              </a:prstGeom>
              <a:solidFill>
                <a:srgbClr val="83639B"/>
              </a:solidFill>
              <a:ln>
                <a:noFill/>
              </a:ln>
            </p:spPr>
          </p:sp>
          <p:sp>
            <p:nvSpPr>
              <p:cNvPr id="74" name="TextBox 74"/>
              <p:cNvSpPr txBox="1"/>
              <p:nvPr/>
            </p:nvSpPr>
            <p:spPr>
              <a:xfrm>
                <a:off x="7285091" y="4018531"/>
                <a:ext cx="1104138" cy="264033"/>
              </a:xfrm>
              <a:prstGeom prst="rect">
                <a:avLst/>
              </a:prstGeom>
              <a:noFill/>
              <a:ln>
                <a:noFill/>
              </a:ln>
            </p:spPr>
            <p:txBody>
              <a:bodyPr wrap="none" lIns="0" tIns="0" rIns="0" bIns="0" anchor="t" anchorCtr="0">
                <a:spAutoFit/>
              </a:bodyPr>
              <a:lstStyle/>
              <a:p>
                <a:pPr algn="l"/>
                <a:r>
                  <a:rPr lang="zh-CN" sz="1350" dirty="0">
                    <a:solidFill>
                      <a:srgbClr val="83639B"/>
                    </a:solidFill>
                    <a:latin typeface="+mn-lt"/>
                    <a:ea typeface="+mn-ea"/>
                    <a:cs typeface="+mn-cs"/>
                  </a:rPr>
                  <a:t>滤波限频事件</a:t>
                </a:r>
              </a:p>
            </p:txBody>
          </p:sp>
        </p:grpSp>
      </p:grpSp>
      <p:grpSp>
        <p:nvGrpSpPr>
          <p:cNvPr id="80" name="communication-result"/>
          <p:cNvGrpSpPr/>
          <p:nvPr/>
        </p:nvGrpSpPr>
        <p:grpSpPr>
          <a:xfrm>
            <a:off x="457200" y="5353050"/>
            <a:ext cx="11277600" cy="838200"/>
            <a:chOff x="457200" y="5353050"/>
            <a:chExt cx="11277600" cy="838200"/>
          </a:xfrm>
        </p:grpSpPr>
        <p:sp>
          <p:nvSpPr>
            <p:cNvPr id="77" name="Rectangle 77"/>
            <p:cNvSpPr/>
            <p:nvPr/>
          </p:nvSpPr>
          <p:spPr>
            <a:xfrm>
              <a:off x="457200" y="5353050"/>
              <a:ext cx="11277600" cy="838200"/>
            </a:xfrm>
            <a:prstGeom prst="roundRect">
              <a:avLst>
                <a:gd name="adj" fmla="val 6818"/>
              </a:avLst>
            </a:prstGeom>
            <a:solidFill>
              <a:schemeClr val="lt2"/>
            </a:solidFill>
            <a:ln>
              <a:noFill/>
            </a:ln>
          </p:spPr>
        </p:sp>
        <p:sp>
          <p:nvSpPr>
            <p:cNvPr id="78" name="TextBox 78"/>
            <p:cNvSpPr txBox="1"/>
            <p:nvPr/>
          </p:nvSpPr>
          <p:spPr>
            <a:xfrm>
              <a:off x="656082" y="5431155"/>
              <a:ext cx="539267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少发帧可能增加误差；慢周期也有竞争力。</a:t>
              </a:r>
            </a:p>
          </p:txBody>
        </p:sp>
        <p:sp>
          <p:nvSpPr>
            <p:cNvPr id="79" name="TextBox 79"/>
            <p:cNvSpPr txBox="1"/>
            <p:nvPr/>
          </p:nvSpPr>
          <p:spPr>
            <a:xfrm>
              <a:off x="659130" y="5819775"/>
              <a:ext cx="6937248"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横轴：上行+ACK帧（含尾段）；MAE相对模拟滤波量，首次接收前另报覆盖。</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092E2B"/>
            </a:gs>
          </a:gsLst>
          <a:lin ang="2700000" scaled="1"/>
        </a:gra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rgbClr val="78DFC5"/>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系统</a:t>
            </a:r>
          </a:p>
        </p:txBody>
      </p:sp>
      <p:sp>
        <p:nvSpPr>
          <p:cNvPr id="6" name="route-highlight"/>
          <p:cNvSpPr/>
          <p:nvPr/>
        </p:nvSpPr>
        <p:spPr>
          <a:xfrm>
            <a:off x="9820275" y="257175"/>
            <a:ext cx="619125" cy="295275"/>
          </a:xfrm>
          <a:prstGeom prst="roundRect">
            <a:avLst>
              <a:gd name="adj" fmla="val 12903"/>
            </a:avLst>
          </a:prstGeom>
          <a:solidFill>
            <a:srgbClr val="23554E"/>
          </a:solidFill>
          <a:ln>
            <a:noFill/>
          </a:ln>
        </p:spPr>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rgbClr val="78DFC5"/>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实施</a:t>
            </a:r>
          </a:p>
        </p:txBody>
      </p:sp>
      <p:grpSp>
        <p:nvGrpSpPr>
          <p:cNvPr id="10" name="page-title"/>
          <p:cNvGrpSpPr/>
          <p:nvPr/>
        </p:nvGrpSpPr>
        <p:grpSpPr>
          <a:xfrm>
            <a:off x="441198" y="860108"/>
            <a:ext cx="4696587" cy="616077"/>
            <a:chOff x="441198" y="860108"/>
            <a:chExt cx="4696587" cy="616077"/>
          </a:xfrm>
        </p:grpSpPr>
        <p:sp>
          <p:nvSpPr>
            <p:cNvPr id="9" name="TextBox 9"/>
            <p:cNvSpPr txBox="1"/>
            <p:nvPr/>
          </p:nvSpPr>
          <p:spPr>
            <a:xfrm>
              <a:off x="441198" y="860108"/>
              <a:ext cx="4696587"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测点增加，边界仍然存在</a:t>
              </a:r>
            </a:p>
          </p:txBody>
        </p:sp>
      </p:grpSp>
      <p:sp>
        <p:nvSpPr>
          <p:cNvPr id="11" name="source-footer"/>
          <p:cNvSpPr txBox="1"/>
          <p:nvPr/>
        </p:nvSpPr>
        <p:spPr>
          <a:xfrm>
            <a:off x="451104" y="6404610"/>
            <a:ext cx="5068519"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6场景 × 4噪声 × 20种子 = 480次合成试验；重复种子不是独立实物实验</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rgbClr val="B7CCC6"/>
                </a:solidFill>
                <a:latin typeface="+mn-lt"/>
                <a:ea typeface="+mn-ea"/>
                <a:cs typeface="+mn-cs"/>
              </a:rPr>
              <a:t>08/15</a:t>
            </a:r>
          </a:p>
        </p:txBody>
      </p:sp>
      <p:grpSp>
        <p:nvGrpSpPr>
          <p:cNvPr id="18" name="noise-boundary"/>
          <p:cNvGrpSpPr/>
          <p:nvPr/>
        </p:nvGrpSpPr>
        <p:grpSpPr>
          <a:xfrm>
            <a:off x="438150" y="1874520"/>
            <a:ext cx="3857625" cy="3609023"/>
            <a:chOff x="438150" y="1874520"/>
            <a:chExt cx="3857625" cy="3609023"/>
          </a:xfrm>
        </p:grpSpPr>
        <p:sp>
          <p:nvSpPr>
            <p:cNvPr id="13" name="TextBox 13"/>
            <p:cNvSpPr txBox="1"/>
            <p:nvPr/>
          </p:nvSpPr>
          <p:spPr>
            <a:xfrm>
              <a:off x="438150" y="1874520"/>
              <a:ext cx="2137162" cy="1047750"/>
            </a:xfrm>
            <a:prstGeom prst="rect">
              <a:avLst/>
            </a:prstGeom>
            <a:noFill/>
            <a:ln>
              <a:noFill/>
            </a:ln>
          </p:spPr>
          <p:txBody>
            <a:bodyPr wrap="none" lIns="0" tIns="0" rIns="0" bIns="0" anchor="t" anchorCtr="0">
              <a:spAutoFit/>
            </a:bodyPr>
            <a:lstStyle/>
            <a:p>
              <a:pPr algn="l"/>
              <a:r>
                <a:rPr lang="zh-CN" sz="5400" b="1" dirty="0">
                  <a:solidFill>
                    <a:srgbClr val="F3C77B"/>
                  </a:solidFill>
                  <a:latin typeface="+mn-lt"/>
                  <a:ea typeface="+mn-ea"/>
                  <a:cs typeface="+mn-cs"/>
                </a:rPr>
                <a:t>12/20</a:t>
              </a:r>
            </a:p>
          </p:txBody>
        </p:sp>
        <p:sp>
          <p:nvSpPr>
            <p:cNvPr id="14" name="TextBox 14"/>
            <p:cNvSpPr txBox="1"/>
            <p:nvPr/>
          </p:nvSpPr>
          <p:spPr>
            <a:xfrm>
              <a:off x="446532" y="2649855"/>
              <a:ext cx="2848356" cy="410718"/>
            </a:xfrm>
            <a:prstGeom prst="rect">
              <a:avLst/>
            </a:prstGeom>
            <a:noFill/>
            <a:ln>
              <a:noFill/>
            </a:ln>
          </p:spPr>
          <p:txBody>
            <a:bodyPr wrap="none" lIns="0" tIns="0" rIns="0" bIns="0" anchor="t" anchorCtr="0">
              <a:spAutoFit/>
            </a:bodyPr>
            <a:lstStyle/>
            <a:p>
              <a:pPr algn="l"/>
              <a:r>
                <a:rPr lang="zh-CN" sz="2100" b="1" dirty="0">
                  <a:solidFill>
                    <a:srgbClr val="FFFFFF"/>
                  </a:solidFill>
                  <a:latin typeface="+mn-lt"/>
                  <a:ea typeface="+mn-ea"/>
                  <a:cs typeface="+mn-cs"/>
                </a:rPr>
                <a:t>大噪声下正确提前发现</a:t>
              </a:r>
            </a:p>
          </p:txBody>
        </p:sp>
        <p:sp>
          <p:nvSpPr>
            <p:cNvPr id="15" name="TextBox 15"/>
            <p:cNvSpPr txBox="1"/>
            <p:nvPr/>
          </p:nvSpPr>
          <p:spPr>
            <a:xfrm>
              <a:off x="448056" y="3139440"/>
              <a:ext cx="3012948" cy="1018794"/>
            </a:xfrm>
            <a:prstGeom prst="rect">
              <a:avLst/>
            </a:prstGeom>
            <a:noFill/>
            <a:ln>
              <a:noFill/>
            </a:ln>
          </p:spPr>
          <p:txBody>
            <a:bodyPr wrap="none" lIns="0" tIns="0" rIns="0" bIns="0" anchor="t" anchorCtr="0">
              <a:spAutoFit/>
            </a:bodyPr>
            <a:lstStyle/>
            <a:p>
              <a:pPr algn="l">
                <a:lnSpc>
                  <a:spcPts val="2625"/>
                </a:lnSpc>
              </a:pPr>
              <a:r>
                <a:rPr lang="zh-CN" sz="1800" dirty="0">
                  <a:solidFill>
                    <a:srgbClr val="D8EAE2"/>
                  </a:solidFill>
                  <a:latin typeface="+mn-lt"/>
                  <a:ea typeface="+mn-ea"/>
                  <a:cs typeface="+mn-cs"/>
                </a:rPr>
                <a:t>两类故障均如此</a:t>
              </a:r>
              <a:br/>
              <a:r>
                <a:rPr lang="zh-CN" sz="1800" dirty="0">
                  <a:solidFill>
                    <a:srgbClr val="D8EAE2"/>
                  </a:solidFill>
                  <a:latin typeface="+mn-lt"/>
                  <a:ea typeface="+mn-ea"/>
                  <a:cs typeface="+mn-cs"/>
                </a:rPr>
                <a:t>压力点噪声σ10kPa</a:t>
              </a:r>
              <a:br/>
              <a:r>
                <a:rPr lang="zh-CN" sz="1800" dirty="0">
                  <a:solidFill>
                    <a:srgbClr val="D8EAE2"/>
                  </a:solidFill>
                  <a:latin typeface="+mn-lt"/>
                  <a:ea typeface="+mn-ea"/>
                  <a:cs typeface="+mn-cs"/>
                </a:rPr>
                <a:t>20个模拟种子，非实物识别率</a:t>
              </a:r>
            </a:p>
          </p:txBody>
        </p:sp>
        <p:sp>
          <p:nvSpPr>
            <p:cNvPr id="16" name="Line 16"/>
            <p:cNvSpPr/>
            <p:nvPr/>
          </p:nvSpPr>
          <p:spPr>
            <a:xfrm>
              <a:off x="457200" y="4438650"/>
              <a:ext cx="3838575" cy="9525"/>
            </a:xfrm>
            <a:custGeom>
              <a:avLst/>
              <a:gdLst/>
              <a:ahLst/>
              <a:cxnLst/>
              <a:rect l="l" t="t" r="r" b="b"/>
              <a:pathLst>
                <a:path w="3838575" h="9525">
                  <a:moveTo>
                    <a:pt x="0" y="0"/>
                  </a:moveTo>
                  <a:lnTo>
                    <a:pt x="3838575" y="0"/>
                  </a:lnTo>
                </a:path>
              </a:pathLst>
            </a:custGeom>
            <a:noFill/>
            <a:ln w="9525">
              <a:solidFill>
                <a:srgbClr val="46766B"/>
              </a:solidFill>
            </a:ln>
          </p:spPr>
        </p:sp>
        <p:sp>
          <p:nvSpPr>
            <p:cNvPr id="17" name="TextBox 17"/>
            <p:cNvSpPr txBox="1"/>
            <p:nvPr/>
          </p:nvSpPr>
          <p:spPr>
            <a:xfrm>
              <a:off x="445770" y="4624388"/>
              <a:ext cx="2880360" cy="859155"/>
            </a:xfrm>
            <a:prstGeom prst="rect">
              <a:avLst/>
            </a:prstGeom>
            <a:noFill/>
            <a:ln>
              <a:noFill/>
            </a:ln>
          </p:spPr>
          <p:txBody>
            <a:bodyPr wrap="none" lIns="0" tIns="0" rIns="0" bIns="0" anchor="t" anchorCtr="0">
              <a:spAutoFit/>
            </a:bodyPr>
            <a:lstStyle/>
            <a:p>
              <a:pPr algn="l">
                <a:lnSpc>
                  <a:spcPts val="3300"/>
                </a:lnSpc>
              </a:pPr>
              <a:r>
                <a:rPr lang="zh-CN" sz="2250" b="1" dirty="0">
                  <a:solidFill>
                    <a:srgbClr val="78DFC5"/>
                  </a:solidFill>
                  <a:latin typeface="+mn-lt"/>
                  <a:ea typeface="+mn-ea"/>
                  <a:cs typeface="+mn-cs"/>
                </a:rPr>
                <a:t>保留失败记录，</a:t>
              </a:r>
              <a:br/>
              <a:r>
                <a:rPr lang="zh-CN" sz="2250" b="1" dirty="0">
                  <a:solidFill>
                    <a:srgbClr val="78DFC5"/>
                  </a:solidFill>
                  <a:latin typeface="+mn-lt"/>
                  <a:ea typeface="+mn-ea"/>
                  <a:cs typeface="+mn-cs"/>
                </a:rPr>
                <a:t>据实确定方法的增量。</a:t>
              </a:r>
            </a:p>
          </p:txBody>
        </p:sp>
      </p:grpSp>
      <p:grpSp>
        <p:nvGrpSpPr>
          <p:cNvPr id="29" name="failure-mechanisms"/>
          <p:cNvGrpSpPr/>
          <p:nvPr/>
        </p:nvGrpSpPr>
        <p:grpSpPr>
          <a:xfrm>
            <a:off x="4877181" y="1724025"/>
            <a:ext cx="6857619" cy="4520184"/>
            <a:chOff x="4877181" y="1724025"/>
            <a:chExt cx="6857619" cy="4520184"/>
          </a:xfrm>
        </p:grpSpPr>
        <p:sp>
          <p:nvSpPr>
            <p:cNvPr id="19" name="Rectangle 19"/>
            <p:cNvSpPr/>
            <p:nvPr/>
          </p:nvSpPr>
          <p:spPr>
            <a:xfrm>
              <a:off x="4886325" y="1724025"/>
              <a:ext cx="6848475" cy="1190625"/>
            </a:xfrm>
            <a:prstGeom prst="roundRect">
              <a:avLst>
                <a:gd name="adj" fmla="val 6400"/>
              </a:avLst>
            </a:prstGeom>
            <a:solidFill>
              <a:schemeClr val="accent1"/>
            </a:solidFill>
            <a:ln>
              <a:noFill/>
            </a:ln>
          </p:spPr>
        </p:sp>
        <p:sp>
          <p:nvSpPr>
            <p:cNvPr id="20" name="TextBox 20"/>
            <p:cNvSpPr txBox="1"/>
            <p:nvPr/>
          </p:nvSpPr>
          <p:spPr>
            <a:xfrm>
              <a:off x="5134356" y="1882140"/>
              <a:ext cx="987552" cy="352044"/>
            </a:xfrm>
            <a:prstGeom prst="rect">
              <a:avLst/>
            </a:prstGeom>
            <a:noFill/>
            <a:ln>
              <a:noFill/>
            </a:ln>
          </p:spPr>
          <p:txBody>
            <a:bodyPr wrap="none" lIns="0" tIns="0" rIns="0" bIns="0" anchor="t" anchorCtr="0">
              <a:spAutoFit/>
            </a:bodyPr>
            <a:lstStyle/>
            <a:p>
              <a:pPr algn="l"/>
              <a:r>
                <a:rPr lang="zh-CN" sz="1800" b="1" dirty="0">
                  <a:solidFill>
                    <a:srgbClr val="78DFC5"/>
                  </a:solidFill>
                  <a:latin typeface="+mn-lt"/>
                  <a:ea typeface="+mn-ea"/>
                  <a:cs typeface="+mn-cs"/>
                </a:rPr>
                <a:t>压力漂移</a:t>
              </a:r>
            </a:p>
          </p:txBody>
        </p:sp>
        <p:sp>
          <p:nvSpPr>
            <p:cNvPr id="21" name="TextBox 21"/>
            <p:cNvSpPr txBox="1"/>
            <p:nvPr/>
          </p:nvSpPr>
          <p:spPr>
            <a:xfrm>
              <a:off x="5134356" y="2320290"/>
              <a:ext cx="3653028"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入口压力漂移可误判为局部受限。</a:t>
              </a:r>
            </a:p>
          </p:txBody>
        </p:sp>
        <p:sp>
          <p:nvSpPr>
            <p:cNvPr id="22" name="Rectangle 22"/>
            <p:cNvSpPr/>
            <p:nvPr/>
          </p:nvSpPr>
          <p:spPr>
            <a:xfrm>
              <a:off x="4886325" y="3105150"/>
              <a:ext cx="6848475" cy="1190625"/>
            </a:xfrm>
            <a:prstGeom prst="roundRect">
              <a:avLst>
                <a:gd name="adj" fmla="val 6400"/>
              </a:avLst>
            </a:prstGeom>
            <a:solidFill>
              <a:schemeClr val="accent1"/>
            </a:solidFill>
            <a:ln>
              <a:noFill/>
            </a:ln>
          </p:spPr>
        </p:sp>
        <p:sp>
          <p:nvSpPr>
            <p:cNvPr id="23" name="TextBox 23"/>
            <p:cNvSpPr txBox="1"/>
            <p:nvPr/>
          </p:nvSpPr>
          <p:spPr>
            <a:xfrm>
              <a:off x="5134356" y="3263265"/>
              <a:ext cx="987552" cy="352044"/>
            </a:xfrm>
            <a:prstGeom prst="rect">
              <a:avLst/>
            </a:prstGeom>
            <a:noFill/>
            <a:ln>
              <a:noFill/>
            </a:ln>
          </p:spPr>
          <p:txBody>
            <a:bodyPr wrap="none" lIns="0" tIns="0" rIns="0" bIns="0" anchor="t" anchorCtr="0">
              <a:spAutoFit/>
            </a:bodyPr>
            <a:lstStyle/>
            <a:p>
              <a:pPr algn="l"/>
              <a:r>
                <a:rPr lang="zh-CN" sz="1800" b="1" dirty="0">
                  <a:solidFill>
                    <a:srgbClr val="78DFC5"/>
                  </a:solidFill>
                  <a:latin typeface="+mn-lt"/>
                  <a:ea typeface="+mn-ea"/>
                  <a:cs typeface="+mn-cs"/>
                </a:rPr>
                <a:t>未知负载</a:t>
              </a:r>
            </a:p>
          </p:txBody>
        </p:sp>
        <p:sp>
          <p:nvSpPr>
            <p:cNvPr id="24" name="TextBox 24"/>
            <p:cNvSpPr txBox="1"/>
            <p:nvPr/>
          </p:nvSpPr>
          <p:spPr>
            <a:xfrm>
              <a:off x="5134356" y="3701415"/>
              <a:ext cx="3653028"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正常负载增大可与等效泄漏同形。</a:t>
              </a:r>
            </a:p>
          </p:txBody>
        </p:sp>
        <p:sp>
          <p:nvSpPr>
            <p:cNvPr id="25" name="Rectangle 25"/>
            <p:cNvSpPr/>
            <p:nvPr/>
          </p:nvSpPr>
          <p:spPr>
            <a:xfrm>
              <a:off x="4886325" y="4486275"/>
              <a:ext cx="6848475" cy="1190625"/>
            </a:xfrm>
            <a:prstGeom prst="roundRect">
              <a:avLst>
                <a:gd name="adj" fmla="val 6400"/>
              </a:avLst>
            </a:prstGeom>
            <a:solidFill>
              <a:schemeClr val="accent1"/>
            </a:solidFill>
            <a:ln>
              <a:noFill/>
            </a:ln>
          </p:spPr>
        </p:sp>
        <p:sp>
          <p:nvSpPr>
            <p:cNvPr id="26" name="TextBox 26"/>
            <p:cNvSpPr txBox="1"/>
            <p:nvPr/>
          </p:nvSpPr>
          <p:spPr>
            <a:xfrm>
              <a:off x="5134356" y="4644390"/>
              <a:ext cx="987552" cy="352044"/>
            </a:xfrm>
            <a:prstGeom prst="rect">
              <a:avLst/>
            </a:prstGeom>
            <a:noFill/>
            <a:ln>
              <a:noFill/>
            </a:ln>
          </p:spPr>
          <p:txBody>
            <a:bodyPr wrap="none" lIns="0" tIns="0" rIns="0" bIns="0" anchor="t" anchorCtr="0">
              <a:spAutoFit/>
            </a:bodyPr>
            <a:lstStyle/>
            <a:p>
              <a:pPr algn="l"/>
              <a:r>
                <a:rPr lang="zh-CN" sz="1800" b="1" dirty="0">
                  <a:solidFill>
                    <a:srgbClr val="78DFC5"/>
                  </a:solidFill>
                  <a:latin typeface="+mn-lt"/>
                  <a:ea typeface="+mn-ea"/>
                  <a:cs typeface="+mn-cs"/>
                </a:rPr>
                <a:t>模型假设</a:t>
              </a:r>
            </a:p>
          </p:txBody>
        </p:sp>
        <p:sp>
          <p:nvSpPr>
            <p:cNvPr id="27" name="TextBox 27"/>
            <p:cNvSpPr txBox="1"/>
            <p:nvPr/>
          </p:nvSpPr>
          <p:spPr>
            <a:xfrm>
              <a:off x="5134356" y="5082540"/>
              <a:ext cx="4622292"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单故障、同步及平方律不能证明田间泛化。</a:t>
              </a:r>
            </a:p>
          </p:txBody>
        </p:sp>
        <p:sp>
          <p:nvSpPr>
            <p:cNvPr id="28" name="TextBox 28"/>
            <p:cNvSpPr txBox="1"/>
            <p:nvPr/>
          </p:nvSpPr>
          <p:spPr>
            <a:xfrm>
              <a:off x="4877181" y="5892165"/>
              <a:ext cx="4864608" cy="352044"/>
            </a:xfrm>
            <a:prstGeom prst="rect">
              <a:avLst/>
            </a:prstGeom>
            <a:noFill/>
            <a:ln>
              <a:noFill/>
            </a:ln>
          </p:spPr>
          <p:txBody>
            <a:bodyPr wrap="none" lIns="0" tIns="0" rIns="0" bIns="0" anchor="t" anchorCtr="0">
              <a:spAutoFit/>
            </a:bodyPr>
            <a:lstStyle/>
            <a:p>
              <a:pPr algn="l"/>
              <a:r>
                <a:rPr lang="zh-CN" sz="1800" dirty="0">
                  <a:solidFill>
                    <a:srgbClr val="F3C77B"/>
                  </a:solidFill>
                  <a:latin typeface="+mn-lt"/>
                  <a:ea typeface="+mn-ea"/>
                  <a:cs typeface="+mn-cs"/>
                </a:rPr>
                <a:t>需落实参考标定、状态标签与独立批次实测。</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route-highlight"/>
          <p:cNvSpPr/>
          <p:nvPr/>
        </p:nvSpPr>
        <p:spPr>
          <a:xfrm>
            <a:off x="9029700" y="257175"/>
            <a:ext cx="619125" cy="295275"/>
          </a:xfrm>
          <a:prstGeom prst="roundRect">
            <a:avLst>
              <a:gd name="adj" fmla="val 12903"/>
            </a:avLst>
          </a:prstGeom>
          <a:solidFill>
            <a:schemeClr val="lt2"/>
          </a:solidFill>
          <a:ln>
            <a:noFill/>
          </a:ln>
        </p:spPr>
      </p:sp>
      <p:sp>
        <p:nvSpPr>
          <p:cNvPr id="6"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系统</a:t>
            </a:r>
          </a:p>
        </p:txBody>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把诊断结果交给使用者</a:t>
              </a:r>
            </a:p>
          </p:txBody>
        </p:sp>
      </p:grpSp>
      <p:sp>
        <p:nvSpPr>
          <p:cNvPr id="11" name="source-footer"/>
          <p:cNvSpPr txBox="1"/>
          <p:nvPr/>
        </p:nvSpPr>
        <p:spPr>
          <a:xfrm>
            <a:off x="451104" y="6404610"/>
            <a:ext cx="534314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合成回放界面示意，按当前网站功能重绘；设备接入与日志持久化为拟实施</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09/15</a:t>
            </a:r>
          </a:p>
        </p:txBody>
      </p:sp>
      <p:grpSp>
        <p:nvGrpSpPr>
          <p:cNvPr id="61" name="management-replay-ui"/>
          <p:cNvGrpSpPr/>
          <p:nvPr/>
        </p:nvGrpSpPr>
        <p:grpSpPr>
          <a:xfrm>
            <a:off x="457200" y="1743075"/>
            <a:ext cx="7267575" cy="4257675"/>
            <a:chOff x="457200" y="1743075"/>
            <a:chExt cx="7267575" cy="4257675"/>
          </a:xfrm>
        </p:grpSpPr>
        <p:sp>
          <p:nvSpPr>
            <p:cNvPr id="13" name="Rectangle 13"/>
            <p:cNvSpPr/>
            <p:nvPr/>
          </p:nvSpPr>
          <p:spPr>
            <a:xfrm>
              <a:off x="457200" y="1743075"/>
              <a:ext cx="7267575" cy="4257675"/>
            </a:xfrm>
            <a:prstGeom prst="roundRect">
              <a:avLst>
                <a:gd name="adj" fmla="val 2013"/>
              </a:avLst>
            </a:prstGeom>
            <a:solidFill>
              <a:srgbClr val="FFFFFF"/>
            </a:solidFill>
            <a:ln w="9525">
              <a:solidFill>
                <a:schemeClr val="accent6"/>
              </a:solidFill>
            </a:ln>
          </p:spPr>
        </p:sp>
        <p:sp>
          <p:nvSpPr>
            <p:cNvPr id="14" name="Rectangle 14"/>
            <p:cNvSpPr/>
            <p:nvPr/>
          </p:nvSpPr>
          <p:spPr>
            <a:xfrm>
              <a:off x="457200" y="1743075"/>
              <a:ext cx="7267575" cy="361950"/>
            </a:xfrm>
            <a:prstGeom prst="rect">
              <a:avLst/>
            </a:prstGeom>
            <a:solidFill>
              <a:srgbClr val="F0F4F1"/>
            </a:solidFill>
            <a:ln>
              <a:noFill/>
            </a:ln>
          </p:spPr>
        </p:sp>
        <p:sp>
          <p:nvSpPr>
            <p:cNvPr id="15" name="Ellipse 15"/>
            <p:cNvSpPr/>
            <p:nvPr/>
          </p:nvSpPr>
          <p:spPr>
            <a:xfrm>
              <a:off x="581025" y="1885950"/>
              <a:ext cx="76200" cy="76200"/>
            </a:xfrm>
            <a:prstGeom prst="ellipse">
              <a:avLst/>
            </a:prstGeom>
            <a:solidFill>
              <a:srgbClr val="DBA897"/>
            </a:solidFill>
            <a:ln>
              <a:noFill/>
            </a:ln>
          </p:spPr>
        </p:sp>
        <p:sp>
          <p:nvSpPr>
            <p:cNvPr id="16" name="Ellipse 16"/>
            <p:cNvSpPr/>
            <p:nvPr/>
          </p:nvSpPr>
          <p:spPr>
            <a:xfrm>
              <a:off x="714375" y="1885950"/>
              <a:ext cx="76200" cy="76200"/>
            </a:xfrm>
            <a:prstGeom prst="ellipse">
              <a:avLst/>
            </a:prstGeom>
            <a:solidFill>
              <a:srgbClr val="F3C77B"/>
            </a:solidFill>
            <a:ln>
              <a:noFill/>
            </a:ln>
          </p:spPr>
        </p:sp>
        <p:sp>
          <p:nvSpPr>
            <p:cNvPr id="17" name="Ellipse 17"/>
            <p:cNvSpPr/>
            <p:nvPr/>
          </p:nvSpPr>
          <p:spPr>
            <a:xfrm>
              <a:off x="847725" y="1885950"/>
              <a:ext cx="76200" cy="76200"/>
            </a:xfrm>
            <a:prstGeom prst="ellipse">
              <a:avLst/>
            </a:prstGeom>
            <a:solidFill>
              <a:srgbClr val="78DFC5"/>
            </a:solidFill>
            <a:ln>
              <a:noFill/>
            </a:ln>
          </p:spPr>
        </p:sp>
        <p:sp>
          <p:nvSpPr>
            <p:cNvPr id="18" name="TextBox 18"/>
            <p:cNvSpPr txBox="1"/>
            <p:nvPr/>
          </p:nvSpPr>
          <p:spPr>
            <a:xfrm>
              <a:off x="1070229" y="1851660"/>
              <a:ext cx="1651864"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滴智卫 / 双点诊断回放</a:t>
              </a:r>
            </a:p>
          </p:txBody>
        </p:sp>
        <p:sp>
          <p:nvSpPr>
            <p:cNvPr id="19" name="Rectangle 19"/>
            <p:cNvSpPr/>
            <p:nvPr/>
          </p:nvSpPr>
          <p:spPr>
            <a:xfrm>
              <a:off x="457200" y="2105025"/>
              <a:ext cx="1209675" cy="3895725"/>
            </a:xfrm>
            <a:prstGeom prst="rect">
              <a:avLst/>
            </a:prstGeom>
            <a:solidFill>
              <a:schemeClr val="accent1"/>
            </a:solidFill>
            <a:ln>
              <a:noFill/>
            </a:ln>
          </p:spPr>
        </p:sp>
        <p:sp>
          <p:nvSpPr>
            <p:cNvPr id="20" name="TextBox 20"/>
            <p:cNvSpPr txBox="1"/>
            <p:nvPr/>
          </p:nvSpPr>
          <p:spPr>
            <a:xfrm>
              <a:off x="592455" y="2286000"/>
              <a:ext cx="82296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设计演示</a:t>
              </a:r>
            </a:p>
          </p:txBody>
        </p:sp>
        <p:sp>
          <p:nvSpPr>
            <p:cNvPr id="21" name="TextBox 21"/>
            <p:cNvSpPr txBox="1"/>
            <p:nvPr/>
          </p:nvSpPr>
          <p:spPr>
            <a:xfrm>
              <a:off x="622554" y="2804160"/>
              <a:ext cx="65836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研究目标</a:t>
              </a:r>
            </a:p>
          </p:txBody>
        </p:sp>
        <p:sp>
          <p:nvSpPr>
            <p:cNvPr id="22" name="Rectangle 22"/>
            <p:cNvSpPr/>
            <p:nvPr/>
          </p:nvSpPr>
          <p:spPr>
            <a:xfrm>
              <a:off x="542925" y="3124200"/>
              <a:ext cx="1028700" cy="285750"/>
            </a:xfrm>
            <a:prstGeom prst="roundRect">
              <a:avLst>
                <a:gd name="adj" fmla="val 13333"/>
              </a:avLst>
            </a:prstGeom>
            <a:solidFill>
              <a:srgbClr val="2C6259"/>
            </a:solidFill>
            <a:ln>
              <a:noFill/>
            </a:ln>
          </p:spPr>
        </p:sp>
        <p:sp>
          <p:nvSpPr>
            <p:cNvPr id="23" name="TextBox 23"/>
            <p:cNvSpPr txBox="1"/>
            <p:nvPr/>
          </p:nvSpPr>
          <p:spPr>
            <a:xfrm>
              <a:off x="622554" y="3185160"/>
              <a:ext cx="65836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双点诊断</a:t>
              </a:r>
            </a:p>
          </p:txBody>
        </p:sp>
        <p:sp>
          <p:nvSpPr>
            <p:cNvPr id="24" name="TextBox 24"/>
            <p:cNvSpPr txBox="1"/>
            <p:nvPr/>
          </p:nvSpPr>
          <p:spPr>
            <a:xfrm>
              <a:off x="622554" y="3566160"/>
              <a:ext cx="65836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历史反例</a:t>
              </a:r>
            </a:p>
          </p:txBody>
        </p:sp>
        <p:sp>
          <p:nvSpPr>
            <p:cNvPr id="25" name="TextBox 25"/>
            <p:cNvSpPr txBox="1"/>
            <p:nvPr/>
          </p:nvSpPr>
          <p:spPr>
            <a:xfrm>
              <a:off x="622554" y="3947160"/>
              <a:ext cx="65836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通信对照</a:t>
              </a:r>
            </a:p>
          </p:txBody>
        </p:sp>
        <p:sp>
          <p:nvSpPr>
            <p:cNvPr id="26" name="TextBox 26"/>
            <p:cNvSpPr txBox="1"/>
            <p:nvPr/>
          </p:nvSpPr>
          <p:spPr>
            <a:xfrm>
              <a:off x="622554" y="4328160"/>
              <a:ext cx="65836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执行路线</a:t>
              </a:r>
            </a:p>
          </p:txBody>
        </p:sp>
        <p:sp>
          <p:nvSpPr>
            <p:cNvPr id="27" name="TextBox 27"/>
            <p:cNvSpPr txBox="1"/>
            <p:nvPr/>
          </p:nvSpPr>
          <p:spPr>
            <a:xfrm>
              <a:off x="1838706" y="2158365"/>
              <a:ext cx="273404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下游等效泄漏 · 合成回放</a:t>
              </a:r>
            </a:p>
          </p:txBody>
        </p:sp>
        <p:sp>
          <p:nvSpPr>
            <p:cNvPr id="28" name="Rectangle 28"/>
            <p:cNvSpPr/>
            <p:nvPr/>
          </p:nvSpPr>
          <p:spPr>
            <a:xfrm>
              <a:off x="1847850" y="2476500"/>
              <a:ext cx="1781175" cy="295275"/>
            </a:xfrm>
            <a:prstGeom prst="roundRect">
              <a:avLst>
                <a:gd name="adj" fmla="val 12903"/>
              </a:avLst>
            </a:prstGeom>
            <a:solidFill>
              <a:schemeClr val="lt2"/>
            </a:solidFill>
            <a:ln>
              <a:noFill/>
            </a:ln>
          </p:spPr>
        </p:sp>
        <p:sp>
          <p:nvSpPr>
            <p:cNvPr id="29" name="TextBox 29"/>
            <p:cNvSpPr txBox="1"/>
            <p:nvPr/>
          </p:nvSpPr>
          <p:spPr>
            <a:xfrm>
              <a:off x="1964817" y="2540318"/>
              <a:ext cx="1337036" cy="264033"/>
            </a:xfrm>
            <a:prstGeom prst="rect">
              <a:avLst/>
            </a:prstGeom>
            <a:noFill/>
            <a:ln>
              <a:noFill/>
            </a:ln>
          </p:spPr>
          <p:txBody>
            <a:bodyPr wrap="none" lIns="0" tIns="0" rIns="0" bIns="0" anchor="t" anchorCtr="0">
              <a:spAutoFit/>
            </a:bodyPr>
            <a:lstStyle/>
            <a:p>
              <a:pPr algn="l"/>
              <a:r>
                <a:rPr lang="el-GR" sz="1350" dirty="0">
                  <a:solidFill>
                    <a:schemeClr val="accent1"/>
                  </a:solidFill>
                  <a:latin typeface="+mn-lt"/>
                  <a:ea typeface="+mn-ea"/>
                  <a:cs typeface="+mn-cs"/>
                </a:rPr>
                <a:t>σ0.3kPa / 450s</a:t>
              </a:r>
            </a:p>
          </p:txBody>
        </p:sp>
        <p:sp>
          <p:nvSpPr>
            <p:cNvPr id="30" name="Rectangle 30"/>
            <p:cNvSpPr/>
            <p:nvPr/>
          </p:nvSpPr>
          <p:spPr>
            <a:xfrm>
              <a:off x="3733800" y="2476500"/>
              <a:ext cx="1295400" cy="295275"/>
            </a:xfrm>
            <a:prstGeom prst="roundRect">
              <a:avLst>
                <a:gd name="adj" fmla="val 12903"/>
              </a:avLst>
            </a:prstGeom>
            <a:solidFill>
              <a:schemeClr val="lt2"/>
            </a:solidFill>
            <a:ln>
              <a:noFill/>
            </a:ln>
          </p:spPr>
        </p:sp>
        <p:sp>
          <p:nvSpPr>
            <p:cNvPr id="31" name="TextBox 31"/>
            <p:cNvSpPr txBox="1"/>
            <p:nvPr/>
          </p:nvSpPr>
          <p:spPr>
            <a:xfrm>
              <a:off x="3850767" y="2540318"/>
              <a:ext cx="922401"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未接入设备</a:t>
              </a:r>
            </a:p>
          </p:txBody>
        </p:sp>
        <p:sp>
          <p:nvSpPr>
            <p:cNvPr id="32" name="Rectangle 32"/>
            <p:cNvSpPr/>
            <p:nvPr/>
          </p:nvSpPr>
          <p:spPr>
            <a:xfrm>
              <a:off x="1847850" y="2905125"/>
              <a:ext cx="1190625" cy="723900"/>
            </a:xfrm>
            <a:prstGeom prst="roundRect">
              <a:avLst>
                <a:gd name="adj" fmla="val 5263"/>
              </a:avLst>
            </a:prstGeom>
            <a:solidFill>
              <a:schemeClr val="lt2"/>
            </a:solidFill>
            <a:ln>
              <a:noFill/>
            </a:ln>
          </p:spPr>
        </p:sp>
        <p:sp>
          <p:nvSpPr>
            <p:cNvPr id="33" name="TextBox 33"/>
            <p:cNvSpPr txBox="1"/>
            <p:nvPr/>
          </p:nvSpPr>
          <p:spPr>
            <a:xfrm>
              <a:off x="1936242" y="2978468"/>
              <a:ext cx="224942"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P0</a:t>
              </a:r>
            </a:p>
          </p:txBody>
        </p:sp>
        <p:sp>
          <p:nvSpPr>
            <p:cNvPr id="34" name="TextBox 34"/>
            <p:cNvSpPr txBox="1"/>
            <p:nvPr/>
          </p:nvSpPr>
          <p:spPr>
            <a:xfrm>
              <a:off x="1933956" y="3225165"/>
              <a:ext cx="85791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113.69</a:t>
              </a:r>
            </a:p>
          </p:txBody>
        </p:sp>
        <p:sp>
          <p:nvSpPr>
            <p:cNvPr id="35" name="TextBox 35"/>
            <p:cNvSpPr txBox="1"/>
            <p:nvPr/>
          </p:nvSpPr>
          <p:spPr>
            <a:xfrm>
              <a:off x="2684602" y="2994660"/>
              <a:ext cx="283769"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mn-lt"/>
                  <a:ea typeface="+mn-ea"/>
                  <a:cs typeface="+mn-cs"/>
                </a:rPr>
                <a:t>kPa</a:t>
              </a:r>
            </a:p>
          </p:txBody>
        </p:sp>
        <p:sp>
          <p:nvSpPr>
            <p:cNvPr id="36" name="Rectangle 36"/>
            <p:cNvSpPr/>
            <p:nvPr/>
          </p:nvSpPr>
          <p:spPr>
            <a:xfrm>
              <a:off x="3152775" y="2905125"/>
              <a:ext cx="1190625" cy="723900"/>
            </a:xfrm>
            <a:prstGeom prst="roundRect">
              <a:avLst>
                <a:gd name="adj" fmla="val 5263"/>
              </a:avLst>
            </a:prstGeom>
            <a:solidFill>
              <a:schemeClr val="lt2"/>
            </a:solidFill>
            <a:ln>
              <a:noFill/>
            </a:ln>
          </p:spPr>
        </p:sp>
        <p:sp>
          <p:nvSpPr>
            <p:cNvPr id="37" name="TextBox 37"/>
            <p:cNvSpPr txBox="1"/>
            <p:nvPr/>
          </p:nvSpPr>
          <p:spPr>
            <a:xfrm>
              <a:off x="3241167" y="2978468"/>
              <a:ext cx="224942"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P1</a:t>
              </a:r>
            </a:p>
          </p:txBody>
        </p:sp>
        <p:sp>
          <p:nvSpPr>
            <p:cNvPr id="38" name="TextBox 38"/>
            <p:cNvSpPr txBox="1"/>
            <p:nvPr/>
          </p:nvSpPr>
          <p:spPr>
            <a:xfrm>
              <a:off x="3238881" y="3225165"/>
              <a:ext cx="85791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101.08</a:t>
              </a:r>
            </a:p>
          </p:txBody>
        </p:sp>
        <p:sp>
          <p:nvSpPr>
            <p:cNvPr id="39" name="TextBox 39"/>
            <p:cNvSpPr txBox="1"/>
            <p:nvPr/>
          </p:nvSpPr>
          <p:spPr>
            <a:xfrm>
              <a:off x="3989527" y="2994660"/>
              <a:ext cx="283769"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mn-lt"/>
                  <a:ea typeface="+mn-ea"/>
                  <a:cs typeface="+mn-cs"/>
                </a:rPr>
                <a:t>kPa</a:t>
              </a:r>
            </a:p>
          </p:txBody>
        </p:sp>
        <p:sp>
          <p:nvSpPr>
            <p:cNvPr id="40" name="Rectangle 40"/>
            <p:cNvSpPr/>
            <p:nvPr/>
          </p:nvSpPr>
          <p:spPr>
            <a:xfrm>
              <a:off x="4457700" y="2905125"/>
              <a:ext cx="1190625" cy="723900"/>
            </a:xfrm>
            <a:prstGeom prst="roundRect">
              <a:avLst>
                <a:gd name="adj" fmla="val 5263"/>
              </a:avLst>
            </a:prstGeom>
            <a:solidFill>
              <a:schemeClr val="lt2"/>
            </a:solidFill>
            <a:ln>
              <a:noFill/>
            </a:ln>
          </p:spPr>
        </p:sp>
        <p:sp>
          <p:nvSpPr>
            <p:cNvPr id="41" name="TextBox 41"/>
            <p:cNvSpPr txBox="1"/>
            <p:nvPr/>
          </p:nvSpPr>
          <p:spPr>
            <a:xfrm>
              <a:off x="4546092" y="2978468"/>
              <a:ext cx="157734"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Q</a:t>
              </a:r>
            </a:p>
          </p:txBody>
        </p:sp>
        <p:sp>
          <p:nvSpPr>
            <p:cNvPr id="42" name="TextBox 42"/>
            <p:cNvSpPr txBox="1"/>
            <p:nvPr/>
          </p:nvSpPr>
          <p:spPr>
            <a:xfrm>
              <a:off x="4543806" y="3225165"/>
              <a:ext cx="57803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3.97</a:t>
              </a:r>
            </a:p>
          </p:txBody>
        </p:sp>
        <p:sp>
          <p:nvSpPr>
            <p:cNvPr id="43" name="TextBox 43"/>
            <p:cNvSpPr txBox="1"/>
            <p:nvPr/>
          </p:nvSpPr>
          <p:spPr>
            <a:xfrm>
              <a:off x="5123688" y="2994660"/>
              <a:ext cx="454533"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mn-lt"/>
                  <a:ea typeface="+mn-ea"/>
                  <a:cs typeface="+mn-cs"/>
                </a:rPr>
                <a:t>L/min</a:t>
              </a:r>
            </a:p>
          </p:txBody>
        </p:sp>
        <p:sp>
          <p:nvSpPr>
            <p:cNvPr id="44" name="Line 44"/>
            <p:cNvSpPr/>
            <p:nvPr/>
          </p:nvSpPr>
          <p:spPr>
            <a:xfrm>
              <a:off x="2152650" y="4981575"/>
              <a:ext cx="5181600" cy="9525"/>
            </a:xfrm>
            <a:custGeom>
              <a:avLst/>
              <a:gdLst/>
              <a:ahLst/>
              <a:cxnLst/>
              <a:rect l="l" t="t" r="r" b="b"/>
              <a:pathLst>
                <a:path w="5181600" h="9525">
                  <a:moveTo>
                    <a:pt x="0" y="0"/>
                  </a:moveTo>
                  <a:lnTo>
                    <a:pt x="5181600" y="0"/>
                  </a:lnTo>
                </a:path>
              </a:pathLst>
            </a:custGeom>
            <a:noFill/>
            <a:ln w="9525">
              <a:solidFill>
                <a:srgbClr val="DEE7E0"/>
              </a:solidFill>
            </a:ln>
          </p:spPr>
        </p:sp>
        <p:sp>
          <p:nvSpPr>
            <p:cNvPr id="45" name="TextBox 45"/>
            <p:cNvSpPr txBox="1"/>
            <p:nvPr/>
          </p:nvSpPr>
          <p:spPr>
            <a:xfrm>
              <a:off x="1971980" y="4899660"/>
              <a:ext cx="101041"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a:t>
              </a:r>
            </a:p>
          </p:txBody>
        </p:sp>
        <p:sp>
          <p:nvSpPr>
            <p:cNvPr id="46" name="Line 46"/>
            <p:cNvSpPr/>
            <p:nvPr/>
          </p:nvSpPr>
          <p:spPr>
            <a:xfrm>
              <a:off x="2152650" y="4433888"/>
              <a:ext cx="5181600" cy="9525"/>
            </a:xfrm>
            <a:custGeom>
              <a:avLst/>
              <a:gdLst/>
              <a:ahLst/>
              <a:cxnLst/>
              <a:rect l="l" t="t" r="r" b="b"/>
              <a:pathLst>
                <a:path w="5181600" h="9525">
                  <a:moveTo>
                    <a:pt x="0" y="0"/>
                  </a:moveTo>
                  <a:lnTo>
                    <a:pt x="5181600" y="0"/>
                  </a:lnTo>
                </a:path>
              </a:pathLst>
            </a:custGeom>
            <a:noFill/>
            <a:ln w="9525">
              <a:solidFill>
                <a:srgbClr val="DEE7E0"/>
              </a:solidFill>
            </a:ln>
          </p:spPr>
        </p:sp>
        <p:sp>
          <p:nvSpPr>
            <p:cNvPr id="47" name="TextBox 47"/>
            <p:cNvSpPr txBox="1"/>
            <p:nvPr/>
          </p:nvSpPr>
          <p:spPr>
            <a:xfrm>
              <a:off x="1883131" y="4351972"/>
              <a:ext cx="189890"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15</a:t>
              </a:r>
            </a:p>
          </p:txBody>
        </p:sp>
        <p:sp>
          <p:nvSpPr>
            <p:cNvPr id="48" name="Line 48"/>
            <p:cNvSpPr/>
            <p:nvPr/>
          </p:nvSpPr>
          <p:spPr>
            <a:xfrm>
              <a:off x="2152650" y="3886200"/>
              <a:ext cx="5181600" cy="9525"/>
            </a:xfrm>
            <a:custGeom>
              <a:avLst/>
              <a:gdLst/>
              <a:ahLst/>
              <a:cxnLst/>
              <a:rect l="l" t="t" r="r" b="b"/>
              <a:pathLst>
                <a:path w="5181600" h="9525">
                  <a:moveTo>
                    <a:pt x="0" y="0"/>
                  </a:moveTo>
                  <a:lnTo>
                    <a:pt x="5181600" y="0"/>
                  </a:lnTo>
                </a:path>
              </a:pathLst>
            </a:custGeom>
            <a:noFill/>
            <a:ln w="9525">
              <a:solidFill>
                <a:srgbClr val="DEE7E0"/>
              </a:solidFill>
            </a:ln>
          </p:spPr>
        </p:sp>
        <p:sp>
          <p:nvSpPr>
            <p:cNvPr id="49" name="TextBox 49"/>
            <p:cNvSpPr txBox="1"/>
            <p:nvPr/>
          </p:nvSpPr>
          <p:spPr>
            <a:xfrm>
              <a:off x="1883131" y="3804285"/>
              <a:ext cx="189890"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30</a:t>
              </a:r>
            </a:p>
          </p:txBody>
        </p:sp>
        <p:sp>
          <p:nvSpPr>
            <p:cNvPr id="50" name="Polyline 50"/>
            <p:cNvSpPr/>
            <p:nvPr/>
          </p:nvSpPr>
          <p:spPr>
            <a:xfrm>
              <a:off x="2152650" y="4204430"/>
              <a:ext cx="5181600" cy="777145"/>
            </a:xfrm>
            <a:custGeom>
              <a:avLst/>
              <a:gdLst/>
              <a:ahLst/>
              <a:cxnLst/>
              <a:rect l="l" t="t" r="r" b="b"/>
              <a:pathLst>
                <a:path w="5181600" h="777145">
                  <a:moveTo>
                    <a:pt x="0" y="777145"/>
                  </a:moveTo>
                  <a:lnTo>
                    <a:pt x="43148" y="777145"/>
                  </a:lnTo>
                  <a:lnTo>
                    <a:pt x="86392" y="777145"/>
                  </a:lnTo>
                  <a:lnTo>
                    <a:pt x="129540" y="777145"/>
                  </a:lnTo>
                  <a:lnTo>
                    <a:pt x="172688" y="777145"/>
                  </a:lnTo>
                  <a:lnTo>
                    <a:pt x="215932" y="777145"/>
                  </a:lnTo>
                  <a:lnTo>
                    <a:pt x="259080" y="777145"/>
                  </a:lnTo>
                  <a:lnTo>
                    <a:pt x="302228" y="777145"/>
                  </a:lnTo>
                  <a:lnTo>
                    <a:pt x="345472" y="777145"/>
                  </a:lnTo>
                  <a:lnTo>
                    <a:pt x="388620" y="777145"/>
                  </a:lnTo>
                  <a:lnTo>
                    <a:pt x="431768" y="777145"/>
                  </a:lnTo>
                  <a:lnTo>
                    <a:pt x="475012" y="777145"/>
                  </a:lnTo>
                  <a:lnTo>
                    <a:pt x="518160" y="777145"/>
                  </a:lnTo>
                  <a:lnTo>
                    <a:pt x="561308" y="777145"/>
                  </a:lnTo>
                  <a:lnTo>
                    <a:pt x="604552" y="777145"/>
                  </a:lnTo>
                  <a:lnTo>
                    <a:pt x="647700" y="777145"/>
                  </a:lnTo>
                  <a:lnTo>
                    <a:pt x="690848" y="777145"/>
                  </a:lnTo>
                  <a:lnTo>
                    <a:pt x="734092" y="777145"/>
                  </a:lnTo>
                  <a:lnTo>
                    <a:pt x="777240" y="777145"/>
                  </a:lnTo>
                  <a:lnTo>
                    <a:pt x="820388" y="777145"/>
                  </a:lnTo>
                  <a:lnTo>
                    <a:pt x="863632" y="777145"/>
                  </a:lnTo>
                  <a:lnTo>
                    <a:pt x="906780" y="777145"/>
                  </a:lnTo>
                  <a:lnTo>
                    <a:pt x="949928" y="777145"/>
                  </a:lnTo>
                  <a:lnTo>
                    <a:pt x="993172" y="777145"/>
                  </a:lnTo>
                  <a:lnTo>
                    <a:pt x="1036320" y="777145"/>
                  </a:lnTo>
                  <a:lnTo>
                    <a:pt x="1079468" y="777145"/>
                  </a:lnTo>
                  <a:lnTo>
                    <a:pt x="1122712" y="777145"/>
                  </a:lnTo>
                  <a:lnTo>
                    <a:pt x="1165860" y="777145"/>
                  </a:lnTo>
                  <a:lnTo>
                    <a:pt x="1209008" y="777145"/>
                  </a:lnTo>
                  <a:lnTo>
                    <a:pt x="1252252" y="777145"/>
                  </a:lnTo>
                  <a:lnTo>
                    <a:pt x="1295400" y="777145"/>
                  </a:lnTo>
                  <a:lnTo>
                    <a:pt x="1338548" y="777145"/>
                  </a:lnTo>
                  <a:lnTo>
                    <a:pt x="1381792" y="777145"/>
                  </a:lnTo>
                  <a:lnTo>
                    <a:pt x="1424940" y="777145"/>
                  </a:lnTo>
                  <a:lnTo>
                    <a:pt x="1468088" y="777145"/>
                  </a:lnTo>
                  <a:lnTo>
                    <a:pt x="1511332" y="777145"/>
                  </a:lnTo>
                  <a:lnTo>
                    <a:pt x="1554480" y="777145"/>
                  </a:lnTo>
                  <a:lnTo>
                    <a:pt x="1597628" y="777145"/>
                  </a:lnTo>
                  <a:lnTo>
                    <a:pt x="1640872" y="777145"/>
                  </a:lnTo>
                  <a:lnTo>
                    <a:pt x="1684020" y="777145"/>
                  </a:lnTo>
                  <a:lnTo>
                    <a:pt x="1727168" y="777145"/>
                  </a:lnTo>
                  <a:lnTo>
                    <a:pt x="1770412" y="777145"/>
                  </a:lnTo>
                  <a:lnTo>
                    <a:pt x="1813560" y="777145"/>
                  </a:lnTo>
                  <a:lnTo>
                    <a:pt x="1856708" y="777145"/>
                  </a:lnTo>
                  <a:lnTo>
                    <a:pt x="1899952" y="777145"/>
                  </a:lnTo>
                  <a:lnTo>
                    <a:pt x="1943100" y="777145"/>
                  </a:lnTo>
                  <a:lnTo>
                    <a:pt x="1986248" y="777145"/>
                  </a:lnTo>
                  <a:lnTo>
                    <a:pt x="2029492" y="777145"/>
                  </a:lnTo>
                  <a:lnTo>
                    <a:pt x="2072640" y="777145"/>
                  </a:lnTo>
                  <a:lnTo>
                    <a:pt x="2115788" y="777145"/>
                  </a:lnTo>
                  <a:lnTo>
                    <a:pt x="2159032" y="777145"/>
                  </a:lnTo>
                  <a:lnTo>
                    <a:pt x="2202180" y="777145"/>
                  </a:lnTo>
                  <a:lnTo>
                    <a:pt x="2245328" y="777145"/>
                  </a:lnTo>
                  <a:lnTo>
                    <a:pt x="2288572" y="777145"/>
                  </a:lnTo>
                  <a:lnTo>
                    <a:pt x="2331720" y="777145"/>
                  </a:lnTo>
                  <a:lnTo>
                    <a:pt x="2374868" y="777145"/>
                  </a:lnTo>
                  <a:lnTo>
                    <a:pt x="2418112" y="777145"/>
                  </a:lnTo>
                  <a:lnTo>
                    <a:pt x="2461260" y="777145"/>
                  </a:lnTo>
                  <a:lnTo>
                    <a:pt x="2504408" y="777145"/>
                  </a:lnTo>
                  <a:lnTo>
                    <a:pt x="2547652" y="777145"/>
                  </a:lnTo>
                  <a:lnTo>
                    <a:pt x="2590800" y="777145"/>
                  </a:lnTo>
                  <a:lnTo>
                    <a:pt x="2633948" y="777145"/>
                  </a:lnTo>
                  <a:lnTo>
                    <a:pt x="2677192" y="777145"/>
                  </a:lnTo>
                  <a:lnTo>
                    <a:pt x="2720340" y="777145"/>
                  </a:lnTo>
                  <a:lnTo>
                    <a:pt x="2763488" y="777145"/>
                  </a:lnTo>
                  <a:lnTo>
                    <a:pt x="2806732" y="777145"/>
                  </a:lnTo>
                  <a:lnTo>
                    <a:pt x="2849880" y="777145"/>
                  </a:lnTo>
                  <a:lnTo>
                    <a:pt x="2893028" y="777145"/>
                  </a:lnTo>
                  <a:lnTo>
                    <a:pt x="2936272" y="777145"/>
                  </a:lnTo>
                  <a:lnTo>
                    <a:pt x="2979420" y="777145"/>
                  </a:lnTo>
                  <a:lnTo>
                    <a:pt x="3022568" y="777145"/>
                  </a:lnTo>
                  <a:lnTo>
                    <a:pt x="3065812" y="777145"/>
                  </a:lnTo>
                  <a:lnTo>
                    <a:pt x="3108960" y="777145"/>
                  </a:lnTo>
                  <a:lnTo>
                    <a:pt x="3152108" y="754475"/>
                  </a:lnTo>
                  <a:lnTo>
                    <a:pt x="3195352" y="731806"/>
                  </a:lnTo>
                  <a:lnTo>
                    <a:pt x="3238500" y="709231"/>
                  </a:lnTo>
                  <a:lnTo>
                    <a:pt x="3281648" y="686657"/>
                  </a:lnTo>
                  <a:lnTo>
                    <a:pt x="3324892" y="664273"/>
                  </a:lnTo>
                  <a:lnTo>
                    <a:pt x="3368040" y="641890"/>
                  </a:lnTo>
                  <a:lnTo>
                    <a:pt x="3411188" y="619506"/>
                  </a:lnTo>
                  <a:lnTo>
                    <a:pt x="3454432" y="597217"/>
                  </a:lnTo>
                  <a:lnTo>
                    <a:pt x="3497580" y="575024"/>
                  </a:lnTo>
                  <a:lnTo>
                    <a:pt x="3540728" y="552926"/>
                  </a:lnTo>
                  <a:lnTo>
                    <a:pt x="3583972" y="530828"/>
                  </a:lnTo>
                  <a:lnTo>
                    <a:pt x="3627120" y="508825"/>
                  </a:lnTo>
                  <a:lnTo>
                    <a:pt x="3670268" y="486918"/>
                  </a:lnTo>
                  <a:lnTo>
                    <a:pt x="3713512" y="465010"/>
                  </a:lnTo>
                  <a:lnTo>
                    <a:pt x="3756660" y="443198"/>
                  </a:lnTo>
                  <a:lnTo>
                    <a:pt x="3799808" y="421386"/>
                  </a:lnTo>
                  <a:lnTo>
                    <a:pt x="3843052" y="399764"/>
                  </a:lnTo>
                  <a:lnTo>
                    <a:pt x="3886200" y="378142"/>
                  </a:lnTo>
                  <a:lnTo>
                    <a:pt x="3929348" y="356521"/>
                  </a:lnTo>
                  <a:lnTo>
                    <a:pt x="3972592" y="335089"/>
                  </a:lnTo>
                  <a:lnTo>
                    <a:pt x="4015740" y="313658"/>
                  </a:lnTo>
                  <a:lnTo>
                    <a:pt x="4058888" y="292227"/>
                  </a:lnTo>
                  <a:lnTo>
                    <a:pt x="4102132" y="270986"/>
                  </a:lnTo>
                  <a:lnTo>
                    <a:pt x="4145280" y="249745"/>
                  </a:lnTo>
                  <a:lnTo>
                    <a:pt x="4188428" y="228600"/>
                  </a:lnTo>
                  <a:lnTo>
                    <a:pt x="4231672" y="207454"/>
                  </a:lnTo>
                  <a:lnTo>
                    <a:pt x="4274820" y="186404"/>
                  </a:lnTo>
                  <a:lnTo>
                    <a:pt x="4317968" y="165449"/>
                  </a:lnTo>
                  <a:lnTo>
                    <a:pt x="4361212" y="144494"/>
                  </a:lnTo>
                  <a:lnTo>
                    <a:pt x="4404360" y="123730"/>
                  </a:lnTo>
                  <a:lnTo>
                    <a:pt x="4447508" y="102870"/>
                  </a:lnTo>
                  <a:lnTo>
                    <a:pt x="4490752" y="82201"/>
                  </a:lnTo>
                  <a:lnTo>
                    <a:pt x="4533900" y="61531"/>
                  </a:lnTo>
                  <a:lnTo>
                    <a:pt x="4577048" y="40957"/>
                  </a:lnTo>
                  <a:lnTo>
                    <a:pt x="4620292" y="20479"/>
                  </a:lnTo>
                  <a:lnTo>
                    <a:pt x="4663440" y="0"/>
                  </a:lnTo>
                  <a:lnTo>
                    <a:pt x="4706588" y="0"/>
                  </a:lnTo>
                  <a:lnTo>
                    <a:pt x="4749832" y="0"/>
                  </a:lnTo>
                  <a:lnTo>
                    <a:pt x="4792980" y="0"/>
                  </a:lnTo>
                  <a:lnTo>
                    <a:pt x="4836128" y="0"/>
                  </a:lnTo>
                  <a:lnTo>
                    <a:pt x="4879372" y="0"/>
                  </a:lnTo>
                  <a:lnTo>
                    <a:pt x="4922520" y="0"/>
                  </a:lnTo>
                  <a:lnTo>
                    <a:pt x="4965668" y="0"/>
                  </a:lnTo>
                  <a:lnTo>
                    <a:pt x="5008912" y="0"/>
                  </a:lnTo>
                  <a:lnTo>
                    <a:pt x="5052060" y="0"/>
                  </a:lnTo>
                  <a:lnTo>
                    <a:pt x="5095208" y="0"/>
                  </a:lnTo>
                  <a:lnTo>
                    <a:pt x="5138452" y="0"/>
                  </a:lnTo>
                  <a:lnTo>
                    <a:pt x="5181600" y="0"/>
                  </a:lnTo>
                </a:path>
              </a:pathLst>
            </a:custGeom>
            <a:noFill/>
            <a:ln w="28575">
              <a:solidFill>
                <a:schemeClr val="accent2"/>
              </a:solidFill>
            </a:ln>
          </p:spPr>
        </p:sp>
        <p:sp>
          <p:nvSpPr>
            <p:cNvPr id="51" name="Line 51"/>
            <p:cNvSpPr/>
            <p:nvPr/>
          </p:nvSpPr>
          <p:spPr>
            <a:xfrm>
              <a:off x="2152650" y="4433888"/>
              <a:ext cx="5181600" cy="9525"/>
            </a:xfrm>
            <a:custGeom>
              <a:avLst/>
              <a:gdLst/>
              <a:ahLst/>
              <a:cxnLst/>
              <a:rect l="l" t="t" r="r" b="b"/>
              <a:pathLst>
                <a:path w="5181600" h="9525">
                  <a:moveTo>
                    <a:pt x="0" y="0"/>
                  </a:moveTo>
                  <a:lnTo>
                    <a:pt x="5181600" y="0"/>
                  </a:lnTo>
                </a:path>
              </a:pathLst>
            </a:custGeom>
            <a:noFill/>
            <a:ln w="9525">
              <a:solidFill>
                <a:schemeClr val="accent3"/>
              </a:solidFill>
              <a:custDash>
                <a:ds d="500000" sp="500000"/>
              </a:custDash>
            </a:ln>
          </p:spPr>
        </p:sp>
        <p:sp>
          <p:nvSpPr>
            <p:cNvPr id="52" name="TextBox 52"/>
            <p:cNvSpPr txBox="1"/>
            <p:nvPr/>
          </p:nvSpPr>
          <p:spPr>
            <a:xfrm>
              <a:off x="2146554" y="3661410"/>
              <a:ext cx="161147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相对健康流量偏离 / %</a:t>
              </a:r>
            </a:p>
          </p:txBody>
        </p:sp>
        <p:sp>
          <p:nvSpPr>
            <p:cNvPr id="53" name="TextBox 53"/>
            <p:cNvSpPr txBox="1"/>
            <p:nvPr/>
          </p:nvSpPr>
          <p:spPr>
            <a:xfrm>
              <a:off x="6383122" y="4218622"/>
              <a:ext cx="957224" cy="234696"/>
            </a:xfrm>
            <a:prstGeom prst="rect">
              <a:avLst/>
            </a:prstGeom>
            <a:noFill/>
            <a:ln>
              <a:noFill/>
            </a:ln>
          </p:spPr>
          <p:txBody>
            <a:bodyPr wrap="none" lIns="0" tIns="0" rIns="0" bIns="0" anchor="t" anchorCtr="0">
              <a:spAutoFit/>
            </a:bodyPr>
            <a:lstStyle/>
            <a:p>
              <a:pPr algn="r"/>
              <a:r>
                <a:rPr lang="zh-CN" sz="1200" dirty="0">
                  <a:solidFill>
                    <a:schemeClr val="accent3"/>
                  </a:solidFill>
                  <a:latin typeface="+mn-lt"/>
                  <a:ea typeface="+mn-ea"/>
                  <a:cs typeface="+mn-cs"/>
                </a:rPr>
                <a:t>15%演示判据</a:t>
              </a:r>
            </a:p>
          </p:txBody>
        </p:sp>
        <p:sp>
          <p:nvSpPr>
            <p:cNvPr id="54" name="Line 54"/>
            <p:cNvSpPr/>
            <p:nvPr/>
          </p:nvSpPr>
          <p:spPr>
            <a:xfrm>
              <a:off x="6038850" y="3886200"/>
              <a:ext cx="9525" cy="1095375"/>
            </a:xfrm>
            <a:custGeom>
              <a:avLst/>
              <a:gdLst/>
              <a:ahLst/>
              <a:cxnLst/>
              <a:rect l="l" t="t" r="r" b="b"/>
              <a:pathLst>
                <a:path w="9525" h="1095375">
                  <a:moveTo>
                    <a:pt x="0" y="0"/>
                  </a:moveTo>
                  <a:lnTo>
                    <a:pt x="0" y="1095375"/>
                  </a:lnTo>
                </a:path>
              </a:pathLst>
            </a:custGeom>
            <a:noFill/>
            <a:ln w="9525">
              <a:solidFill>
                <a:srgbClr val="556762"/>
              </a:solidFill>
              <a:custDash>
                <a:ds d="300000" sp="400000"/>
              </a:custDash>
            </a:ln>
          </p:spPr>
        </p:sp>
        <p:sp>
          <p:nvSpPr>
            <p:cNvPr id="55" name="TextBox 55"/>
            <p:cNvSpPr txBox="1"/>
            <p:nvPr/>
          </p:nvSpPr>
          <p:spPr>
            <a:xfrm>
              <a:off x="5855056" y="5099685"/>
              <a:ext cx="367589" cy="234696"/>
            </a:xfrm>
            <a:prstGeom prst="rect">
              <a:avLst/>
            </a:prstGeom>
            <a:noFill/>
            <a:ln>
              <a:noFill/>
            </a:ln>
          </p:spPr>
          <p:txBody>
            <a:bodyPr wrap="none" lIns="0" tIns="0" rIns="0" bIns="0" anchor="t" anchorCtr="0">
              <a:spAutoFit/>
            </a:bodyPr>
            <a:lstStyle/>
            <a:p>
              <a:pPr algn="ctr"/>
              <a:r>
                <a:rPr lang="en-US" sz="1200" dirty="0">
                  <a:solidFill>
                    <a:schemeClr val="accent5"/>
                  </a:solidFill>
                  <a:latin typeface="+mn-lt"/>
                  <a:ea typeface="+mn-ea"/>
                  <a:cs typeface="+mn-cs"/>
                </a:rPr>
                <a:t>450s</a:t>
              </a:r>
            </a:p>
          </p:txBody>
        </p:sp>
        <p:sp>
          <p:nvSpPr>
            <p:cNvPr id="56" name="TextBox 56"/>
            <p:cNvSpPr txBox="1"/>
            <p:nvPr/>
          </p:nvSpPr>
          <p:spPr>
            <a:xfrm>
              <a:off x="2146554" y="5099685"/>
              <a:ext cx="189890"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mn-lt"/>
                  <a:ea typeface="+mn-ea"/>
                  <a:cs typeface="+mn-cs"/>
                </a:rPr>
                <a:t>0s</a:t>
              </a:r>
            </a:p>
          </p:txBody>
        </p:sp>
        <p:sp>
          <p:nvSpPr>
            <p:cNvPr id="57" name="TextBox 57"/>
            <p:cNvSpPr txBox="1"/>
            <p:nvPr/>
          </p:nvSpPr>
          <p:spPr>
            <a:xfrm>
              <a:off x="6972757" y="5099685"/>
              <a:ext cx="367589"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mn-lt"/>
                  <a:ea typeface="+mn-ea"/>
                  <a:cs typeface="+mn-cs"/>
                </a:rPr>
                <a:t>600s</a:t>
              </a:r>
            </a:p>
          </p:txBody>
        </p:sp>
        <p:sp>
          <p:nvSpPr>
            <p:cNvPr id="58" name="Rectangle 58"/>
            <p:cNvSpPr/>
            <p:nvPr/>
          </p:nvSpPr>
          <p:spPr>
            <a:xfrm>
              <a:off x="1847850" y="5334000"/>
              <a:ext cx="5619750" cy="647700"/>
            </a:xfrm>
            <a:prstGeom prst="roundRect">
              <a:avLst>
                <a:gd name="adj" fmla="val 5882"/>
              </a:avLst>
            </a:prstGeom>
            <a:solidFill>
              <a:srgbClr val="F6ECE6"/>
            </a:solidFill>
            <a:ln>
              <a:noFill/>
            </a:ln>
          </p:spPr>
        </p:sp>
        <p:sp>
          <p:nvSpPr>
            <p:cNvPr id="59" name="TextBox 59"/>
            <p:cNvSpPr txBox="1"/>
            <p:nvPr/>
          </p:nvSpPr>
          <p:spPr>
            <a:xfrm>
              <a:off x="1953006" y="5377815"/>
              <a:ext cx="2683764" cy="352044"/>
            </a:xfrm>
            <a:prstGeom prst="rect">
              <a:avLst/>
            </a:prstGeom>
            <a:noFill/>
            <a:ln>
              <a:noFill/>
            </a:ln>
          </p:spPr>
          <p:txBody>
            <a:bodyPr wrap="none" lIns="0" tIns="0" rIns="0" bIns="0" anchor="t" anchorCtr="0">
              <a:spAutoFit/>
            </a:bodyPr>
            <a:lstStyle/>
            <a:p>
              <a:pPr algn="l"/>
              <a:r>
                <a:rPr lang="zh-CN" sz="1800" b="1" dirty="0">
                  <a:solidFill>
                    <a:schemeClr val="accent2"/>
                  </a:solidFill>
                  <a:latin typeface="+mn-lt"/>
                  <a:ea typeface="+mn-ea"/>
                  <a:cs typeface="+mn-cs"/>
                </a:rPr>
                <a:t>候选输出：等效泄漏模式</a:t>
              </a:r>
            </a:p>
          </p:txBody>
        </p:sp>
        <p:sp>
          <p:nvSpPr>
            <p:cNvPr id="60" name="TextBox 60"/>
            <p:cNvSpPr txBox="1"/>
            <p:nvPr/>
          </p:nvSpPr>
          <p:spPr>
            <a:xfrm>
              <a:off x="1956054" y="5680710"/>
              <a:ext cx="2944216"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查看证据 → 管理确认（当前为页面演示）</a:t>
              </a:r>
            </a:p>
          </p:txBody>
        </p:sp>
      </p:grpSp>
      <p:grpSp>
        <p:nvGrpSpPr>
          <p:cNvPr id="77" name="management-functions"/>
          <p:cNvGrpSpPr/>
          <p:nvPr/>
        </p:nvGrpSpPr>
        <p:grpSpPr>
          <a:xfrm>
            <a:off x="8079105" y="1868805"/>
            <a:ext cx="3655695" cy="3825240"/>
            <a:chOff x="8079105" y="1868805"/>
            <a:chExt cx="3655695" cy="3825240"/>
          </a:xfrm>
        </p:grpSpPr>
        <p:sp>
          <p:nvSpPr>
            <p:cNvPr id="62" name="TextBox 62"/>
            <p:cNvSpPr txBox="1"/>
            <p:nvPr/>
          </p:nvSpPr>
          <p:spPr>
            <a:xfrm>
              <a:off x="8079105" y="1914525"/>
              <a:ext cx="248469"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01</a:t>
              </a:r>
            </a:p>
          </p:txBody>
        </p:sp>
        <p:sp>
          <p:nvSpPr>
            <p:cNvPr id="63" name="TextBox 63"/>
            <p:cNvSpPr txBox="1"/>
            <p:nvPr/>
          </p:nvSpPr>
          <p:spPr>
            <a:xfrm>
              <a:off x="8523732" y="1868805"/>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设备与支管</a:t>
              </a:r>
            </a:p>
          </p:txBody>
        </p:sp>
        <p:sp>
          <p:nvSpPr>
            <p:cNvPr id="64" name="TextBox 64"/>
            <p:cNvSpPr txBox="1"/>
            <p:nvPr/>
          </p:nvSpPr>
          <p:spPr>
            <a:xfrm>
              <a:off x="8079105" y="2343150"/>
              <a:ext cx="243840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档案、测点示意、质量标志</a:t>
              </a:r>
            </a:p>
          </p:txBody>
        </p:sp>
        <p:sp>
          <p:nvSpPr>
            <p:cNvPr id="65" name="Line 65"/>
            <p:cNvSpPr/>
            <p:nvPr/>
          </p:nvSpPr>
          <p:spPr>
            <a:xfrm>
              <a:off x="8086725" y="2695575"/>
              <a:ext cx="3648075" cy="9525"/>
            </a:xfrm>
            <a:custGeom>
              <a:avLst/>
              <a:gdLst/>
              <a:ahLst/>
              <a:cxnLst/>
              <a:rect l="l" t="t" r="r" b="b"/>
              <a:pathLst>
                <a:path w="3648075" h="9525">
                  <a:moveTo>
                    <a:pt x="0" y="0"/>
                  </a:moveTo>
                  <a:lnTo>
                    <a:pt x="3648075" y="0"/>
                  </a:lnTo>
                </a:path>
              </a:pathLst>
            </a:custGeom>
            <a:noFill/>
            <a:ln w="9525">
              <a:solidFill>
                <a:schemeClr val="accent6"/>
              </a:solidFill>
            </a:ln>
          </p:spPr>
        </p:sp>
        <p:sp>
          <p:nvSpPr>
            <p:cNvPr id="66" name="TextBox 66"/>
            <p:cNvSpPr txBox="1"/>
            <p:nvPr/>
          </p:nvSpPr>
          <p:spPr>
            <a:xfrm>
              <a:off x="8079105" y="2933700"/>
              <a:ext cx="248469"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02</a:t>
              </a:r>
            </a:p>
          </p:txBody>
        </p:sp>
        <p:sp>
          <p:nvSpPr>
            <p:cNvPr id="67" name="TextBox 67"/>
            <p:cNvSpPr txBox="1"/>
            <p:nvPr/>
          </p:nvSpPr>
          <p:spPr>
            <a:xfrm>
              <a:off x="8523732" y="2887980"/>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趋势与证据</a:t>
              </a:r>
            </a:p>
          </p:txBody>
        </p:sp>
        <p:sp>
          <p:nvSpPr>
            <p:cNvPr id="68" name="TextBox 68"/>
            <p:cNvSpPr txBox="1"/>
            <p:nvPr/>
          </p:nvSpPr>
          <p:spPr>
            <a:xfrm>
              <a:off x="8079105" y="3362325"/>
              <a:ext cx="264033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本地量、判据、故障候选输出</a:t>
              </a:r>
            </a:p>
          </p:txBody>
        </p:sp>
        <p:sp>
          <p:nvSpPr>
            <p:cNvPr id="69" name="Line 69"/>
            <p:cNvSpPr/>
            <p:nvPr/>
          </p:nvSpPr>
          <p:spPr>
            <a:xfrm>
              <a:off x="8086725" y="3714750"/>
              <a:ext cx="3648075" cy="9525"/>
            </a:xfrm>
            <a:custGeom>
              <a:avLst/>
              <a:gdLst/>
              <a:ahLst/>
              <a:cxnLst/>
              <a:rect l="l" t="t" r="r" b="b"/>
              <a:pathLst>
                <a:path w="3648075" h="9525">
                  <a:moveTo>
                    <a:pt x="0" y="0"/>
                  </a:moveTo>
                  <a:lnTo>
                    <a:pt x="3648075" y="0"/>
                  </a:lnTo>
                </a:path>
              </a:pathLst>
            </a:custGeom>
            <a:noFill/>
            <a:ln w="9525">
              <a:solidFill>
                <a:schemeClr val="accent6"/>
              </a:solidFill>
            </a:ln>
          </p:spPr>
        </p:sp>
        <p:sp>
          <p:nvSpPr>
            <p:cNvPr id="70" name="TextBox 70"/>
            <p:cNvSpPr txBox="1"/>
            <p:nvPr/>
          </p:nvSpPr>
          <p:spPr>
            <a:xfrm>
              <a:off x="8079105" y="3952875"/>
              <a:ext cx="248469"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03</a:t>
              </a:r>
            </a:p>
          </p:txBody>
        </p:sp>
        <p:sp>
          <p:nvSpPr>
            <p:cNvPr id="71" name="TextBox 71"/>
            <p:cNvSpPr txBox="1"/>
            <p:nvPr/>
          </p:nvSpPr>
          <p:spPr>
            <a:xfrm>
              <a:off x="8523732" y="3907155"/>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事件与确认</a:t>
              </a:r>
            </a:p>
          </p:txBody>
        </p:sp>
        <p:sp>
          <p:nvSpPr>
            <p:cNvPr id="72" name="TextBox 72"/>
            <p:cNvSpPr txBox="1"/>
            <p:nvPr/>
          </p:nvSpPr>
          <p:spPr>
            <a:xfrm>
              <a:off x="8079105" y="4381500"/>
              <a:ext cx="2700909"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待检查 / 数据无效 / 节点离线</a:t>
              </a:r>
            </a:p>
          </p:txBody>
        </p:sp>
        <p:sp>
          <p:nvSpPr>
            <p:cNvPr id="73" name="Line 73"/>
            <p:cNvSpPr/>
            <p:nvPr/>
          </p:nvSpPr>
          <p:spPr>
            <a:xfrm>
              <a:off x="8086725" y="4733925"/>
              <a:ext cx="3648075" cy="9525"/>
            </a:xfrm>
            <a:custGeom>
              <a:avLst/>
              <a:gdLst/>
              <a:ahLst/>
              <a:cxnLst/>
              <a:rect l="l" t="t" r="r" b="b"/>
              <a:pathLst>
                <a:path w="3648075" h="9525">
                  <a:moveTo>
                    <a:pt x="0" y="0"/>
                  </a:moveTo>
                  <a:lnTo>
                    <a:pt x="3648075" y="0"/>
                  </a:lnTo>
                </a:path>
              </a:pathLst>
            </a:custGeom>
            <a:noFill/>
            <a:ln w="9525">
              <a:solidFill>
                <a:schemeClr val="accent6"/>
              </a:solidFill>
            </a:ln>
          </p:spPr>
        </p:sp>
        <p:sp>
          <p:nvSpPr>
            <p:cNvPr id="74" name="TextBox 74"/>
            <p:cNvSpPr txBox="1"/>
            <p:nvPr/>
          </p:nvSpPr>
          <p:spPr>
            <a:xfrm>
              <a:off x="8079105" y="4972050"/>
              <a:ext cx="248469"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04</a:t>
              </a:r>
            </a:p>
          </p:txBody>
        </p:sp>
        <p:sp>
          <p:nvSpPr>
            <p:cNvPr id="75" name="TextBox 75"/>
            <p:cNvSpPr txBox="1"/>
            <p:nvPr/>
          </p:nvSpPr>
          <p:spPr>
            <a:xfrm>
              <a:off x="8523732" y="4926330"/>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回放与导出</a:t>
              </a:r>
            </a:p>
          </p:txBody>
        </p:sp>
        <p:sp>
          <p:nvSpPr>
            <p:cNvPr id="76" name="TextBox 76"/>
            <p:cNvSpPr txBox="1"/>
            <p:nvPr/>
          </p:nvSpPr>
          <p:spPr>
            <a:xfrm>
              <a:off x="8079105" y="5400675"/>
              <a:ext cx="2842260"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日志留存、操作标签、批次导出</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7" name="route-highlight"/>
          <p:cNvSpPr/>
          <p:nvPr/>
        </p:nvSpPr>
        <p:spPr>
          <a:xfrm>
            <a:off x="10610850" y="257175"/>
            <a:ext cx="619125" cy="295275"/>
          </a:xfrm>
          <a:prstGeom prst="roundRect">
            <a:avLst>
              <a:gd name="adj" fmla="val 12903"/>
            </a:avLst>
          </a:prstGeom>
          <a:solidFill>
            <a:schemeClr val="lt2"/>
          </a:solidFill>
          <a:ln>
            <a:noFill/>
          </a:ln>
        </p:spPr>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实施</a:t>
            </a:r>
          </a:p>
        </p:txBody>
      </p:sp>
      <p:grpSp>
        <p:nvGrpSpPr>
          <p:cNvPr id="10" name="page-title"/>
          <p:cNvGrpSpPr/>
          <p:nvPr/>
        </p:nvGrpSpPr>
        <p:grpSpPr>
          <a:xfrm>
            <a:off x="441198" y="860108"/>
            <a:ext cx="4696587" cy="616077"/>
            <a:chOff x="441198" y="860108"/>
            <a:chExt cx="4696587" cy="616077"/>
          </a:xfrm>
        </p:grpSpPr>
        <p:sp>
          <p:nvSpPr>
            <p:cNvPr id="9" name="TextBox 9"/>
            <p:cNvSpPr txBox="1"/>
            <p:nvPr/>
          </p:nvSpPr>
          <p:spPr>
            <a:xfrm>
              <a:off x="441198" y="860108"/>
              <a:ext cx="4696587"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用独立实验兑现研究目标</a:t>
              </a:r>
            </a:p>
          </p:txBody>
        </p:sp>
      </p:grpSp>
      <p:sp>
        <p:nvSpPr>
          <p:cNvPr id="11" name="source-footer"/>
          <p:cNvSpPr txBox="1"/>
          <p:nvPr/>
        </p:nvSpPr>
        <p:spPr>
          <a:xfrm>
            <a:off x="451104" y="6404610"/>
            <a:ext cx="446272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实验数量与供压为设计网格，实际范围须按仪器/水路条件核定</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10/15</a:t>
            </a:r>
          </a:p>
        </p:txBody>
      </p:sp>
      <p:grpSp>
        <p:nvGrpSpPr>
          <p:cNvPr id="18" name="experiment-total"/>
          <p:cNvGrpSpPr/>
          <p:nvPr/>
        </p:nvGrpSpPr>
        <p:grpSpPr>
          <a:xfrm>
            <a:off x="438150" y="1602105"/>
            <a:ext cx="3820439" cy="2889504"/>
            <a:chOff x="438150" y="1602105"/>
            <a:chExt cx="3820439" cy="2889504"/>
          </a:xfrm>
        </p:grpSpPr>
        <p:sp>
          <p:nvSpPr>
            <p:cNvPr id="13" name="TextBox 13"/>
            <p:cNvSpPr txBox="1"/>
            <p:nvPr/>
          </p:nvSpPr>
          <p:spPr>
            <a:xfrm>
              <a:off x="446532" y="1602105"/>
              <a:ext cx="341376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主要故障实验网格（计划）</a:t>
              </a:r>
            </a:p>
          </p:txBody>
        </p:sp>
        <p:sp>
          <p:nvSpPr>
            <p:cNvPr id="14" name="TextBox 14"/>
            <p:cNvSpPr txBox="1"/>
            <p:nvPr/>
          </p:nvSpPr>
          <p:spPr>
            <a:xfrm>
              <a:off x="448056" y="2082165"/>
              <a:ext cx="3810533"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2类型 × 3供压 × 3程度 × 3独立操作</a:t>
              </a:r>
            </a:p>
          </p:txBody>
        </p:sp>
        <p:sp>
          <p:nvSpPr>
            <p:cNvPr id="15" name="TextBox 15"/>
            <p:cNvSpPr txBox="1"/>
            <p:nvPr/>
          </p:nvSpPr>
          <p:spPr>
            <a:xfrm>
              <a:off x="438150" y="2522220"/>
              <a:ext cx="1297537" cy="1047750"/>
            </a:xfrm>
            <a:prstGeom prst="rect">
              <a:avLst/>
            </a:prstGeom>
            <a:noFill/>
            <a:ln>
              <a:noFill/>
            </a:ln>
          </p:spPr>
          <p:txBody>
            <a:bodyPr wrap="none" lIns="0" tIns="0" rIns="0" bIns="0" anchor="t" anchorCtr="0">
              <a:spAutoFit/>
            </a:bodyPr>
            <a:lstStyle/>
            <a:p>
              <a:pPr algn="l"/>
              <a:r>
                <a:rPr lang="zh-CN" sz="5400" b="1" dirty="0">
                  <a:solidFill>
                    <a:schemeClr val="accent1"/>
                  </a:solidFill>
                  <a:latin typeface="+mn-lt"/>
                  <a:ea typeface="+mn-ea"/>
                  <a:cs typeface="+mn-cs"/>
                </a:rPr>
                <a:t>≥54</a:t>
              </a:r>
            </a:p>
          </p:txBody>
        </p:sp>
        <p:sp>
          <p:nvSpPr>
            <p:cNvPr id="16" name="TextBox 16"/>
            <p:cNvSpPr txBox="1"/>
            <p:nvPr/>
          </p:nvSpPr>
          <p:spPr>
            <a:xfrm>
              <a:off x="2353056" y="2863215"/>
              <a:ext cx="1229868"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次独立操作</a:t>
              </a:r>
            </a:p>
          </p:txBody>
        </p:sp>
        <p:sp>
          <p:nvSpPr>
            <p:cNvPr id="17" name="TextBox 17"/>
            <p:cNvSpPr txBox="1"/>
            <p:nvPr/>
          </p:nvSpPr>
          <p:spPr>
            <a:xfrm>
              <a:off x="448056" y="3472815"/>
              <a:ext cx="2990088" cy="1018794"/>
            </a:xfrm>
            <a:prstGeom prst="rect">
              <a:avLst/>
            </a:prstGeom>
            <a:noFill/>
            <a:ln>
              <a:noFill/>
            </a:ln>
          </p:spPr>
          <p:txBody>
            <a:bodyPr wrap="none" lIns="0" tIns="0" rIns="0" bIns="0" anchor="t" anchorCtr="0">
              <a:spAutoFit/>
            </a:bodyPr>
            <a:lstStyle/>
            <a:p>
              <a:pPr algn="l">
                <a:lnSpc>
                  <a:spcPts val="2625"/>
                </a:lnSpc>
              </a:pPr>
              <a:r>
                <a:rPr lang="zh-CN" sz="1800" dirty="0">
                  <a:solidFill>
                    <a:schemeClr val="dk1"/>
                  </a:solidFill>
                  <a:latin typeface="+mn-lt"/>
                  <a:ea typeface="+mn-ea"/>
                  <a:cs typeface="+mn-cs"/>
                </a:rPr>
                <a:t>正常 / 切换对照另做</a:t>
              </a:r>
              <a:br/>
              <a:r>
                <a:rPr lang="zh-CN" sz="1800" dirty="0">
                  <a:solidFill>
                    <a:schemeClr val="dk1"/>
                  </a:solidFill>
                  <a:latin typeface="+mn-lt"/>
                  <a:ea typeface="+mn-ea"/>
                  <a:cs typeface="+mn-cs"/>
                </a:rPr>
                <a:t>按天或批次留出验证</a:t>
              </a:r>
              <a:br/>
              <a:r>
                <a:rPr lang="zh-CN" sz="1800" dirty="0">
                  <a:solidFill>
                    <a:schemeClr val="dk1"/>
                  </a:solidFill>
                  <a:latin typeface="+mn-lt"/>
                  <a:ea typeface="+mn-ea"/>
                  <a:cs typeface="+mn-cs"/>
                </a:rPr>
                <a:t>不以相邻采样点充当独立样本</a:t>
              </a:r>
            </a:p>
          </p:txBody>
        </p:sp>
      </p:grpSp>
      <p:grpSp>
        <p:nvGrpSpPr>
          <p:cNvPr id="53" name="planned-factor-grid"/>
          <p:cNvGrpSpPr/>
          <p:nvPr/>
        </p:nvGrpSpPr>
        <p:grpSpPr>
          <a:xfrm>
            <a:off x="4878705" y="1714500"/>
            <a:ext cx="5894070" cy="3286125"/>
            <a:chOff x="4878705" y="1714500"/>
            <a:chExt cx="5894070" cy="3286125"/>
          </a:xfrm>
        </p:grpSpPr>
        <p:sp>
          <p:nvSpPr>
            <p:cNvPr id="19" name="TextBox 19"/>
            <p:cNvSpPr txBox="1"/>
            <p:nvPr/>
          </p:nvSpPr>
          <p:spPr>
            <a:xfrm>
              <a:off x="4878705" y="1714500"/>
              <a:ext cx="267062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暂拟程度 / 相对健康流量偏离</a:t>
              </a:r>
            </a:p>
          </p:txBody>
        </p:sp>
        <p:sp>
          <p:nvSpPr>
            <p:cNvPr id="20" name="TextBox 20"/>
            <p:cNvSpPr txBox="1"/>
            <p:nvPr/>
          </p:nvSpPr>
          <p:spPr>
            <a:xfrm>
              <a:off x="6492975" y="2063115"/>
              <a:ext cx="349049"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5%</a:t>
              </a:r>
            </a:p>
          </p:txBody>
        </p:sp>
        <p:sp>
          <p:nvSpPr>
            <p:cNvPr id="21" name="TextBox 21"/>
            <p:cNvSpPr txBox="1"/>
            <p:nvPr/>
          </p:nvSpPr>
          <p:spPr>
            <a:xfrm>
              <a:off x="8080357" y="2063115"/>
              <a:ext cx="488987"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10%</a:t>
              </a:r>
            </a:p>
          </p:txBody>
        </p:sp>
        <p:sp>
          <p:nvSpPr>
            <p:cNvPr id="22" name="TextBox 22"/>
            <p:cNvSpPr txBox="1"/>
            <p:nvPr/>
          </p:nvSpPr>
          <p:spPr>
            <a:xfrm>
              <a:off x="9737707" y="2063115"/>
              <a:ext cx="488987"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15%</a:t>
              </a:r>
            </a:p>
          </p:txBody>
        </p:sp>
        <p:sp>
          <p:nvSpPr>
            <p:cNvPr id="23" name="TextBox 23"/>
            <p:cNvSpPr txBox="1"/>
            <p:nvPr/>
          </p:nvSpPr>
          <p:spPr>
            <a:xfrm>
              <a:off x="4916805" y="2705100"/>
              <a:ext cx="581025" cy="293370"/>
            </a:xfrm>
            <a:prstGeom prst="rect">
              <a:avLst/>
            </a:prstGeom>
            <a:noFill/>
            <a:ln>
              <a:noFill/>
            </a:ln>
          </p:spPr>
          <p:txBody>
            <a:bodyPr wrap="none" lIns="0" tIns="0" rIns="0" bIns="0" anchor="t" anchorCtr="0">
              <a:spAutoFit/>
            </a:bodyPr>
            <a:lstStyle/>
            <a:p>
              <a:pPr algn="l"/>
              <a:r>
                <a:rPr lang="en-US" sz="1500" dirty="0">
                  <a:solidFill>
                    <a:schemeClr val="accent1"/>
                  </a:solidFill>
                  <a:latin typeface="+mn-lt"/>
                  <a:ea typeface="+mn-ea"/>
                  <a:cs typeface="+mn-cs"/>
                </a:rPr>
                <a:t>80kPa</a:t>
              </a:r>
            </a:p>
          </p:txBody>
        </p:sp>
        <p:sp>
          <p:nvSpPr>
            <p:cNvPr id="24" name="Rectangle 24"/>
            <p:cNvSpPr/>
            <p:nvPr/>
          </p:nvSpPr>
          <p:spPr>
            <a:xfrm>
              <a:off x="5991225" y="2486025"/>
              <a:ext cx="1466850" cy="723900"/>
            </a:xfrm>
            <a:prstGeom prst="roundRect">
              <a:avLst>
                <a:gd name="adj" fmla="val 6579"/>
              </a:avLst>
            </a:prstGeom>
            <a:solidFill>
              <a:schemeClr val="lt2"/>
            </a:solidFill>
            <a:ln>
              <a:noFill/>
            </a:ln>
          </p:spPr>
        </p:sp>
        <p:sp>
          <p:nvSpPr>
            <p:cNvPr id="25" name="TextBox 25"/>
            <p:cNvSpPr txBox="1"/>
            <p:nvPr/>
          </p:nvSpPr>
          <p:spPr>
            <a:xfrm>
              <a:off x="6354318" y="26355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26" name="TextBox 26"/>
            <p:cNvSpPr txBox="1"/>
            <p:nvPr/>
          </p:nvSpPr>
          <p:spPr>
            <a:xfrm>
              <a:off x="6366681" y="28860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27" name="Rectangle 27"/>
            <p:cNvSpPr/>
            <p:nvPr/>
          </p:nvSpPr>
          <p:spPr>
            <a:xfrm>
              <a:off x="7648575" y="2486025"/>
              <a:ext cx="1466850" cy="723900"/>
            </a:xfrm>
            <a:prstGeom prst="roundRect">
              <a:avLst>
                <a:gd name="adj" fmla="val 6579"/>
              </a:avLst>
            </a:prstGeom>
            <a:solidFill>
              <a:schemeClr val="lt2"/>
            </a:solidFill>
            <a:ln>
              <a:noFill/>
            </a:ln>
          </p:spPr>
        </p:sp>
        <p:sp>
          <p:nvSpPr>
            <p:cNvPr id="28" name="TextBox 28"/>
            <p:cNvSpPr txBox="1"/>
            <p:nvPr/>
          </p:nvSpPr>
          <p:spPr>
            <a:xfrm>
              <a:off x="8011668" y="26355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29" name="TextBox 29"/>
            <p:cNvSpPr txBox="1"/>
            <p:nvPr/>
          </p:nvSpPr>
          <p:spPr>
            <a:xfrm>
              <a:off x="8024031" y="28860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30" name="Rectangle 30"/>
            <p:cNvSpPr/>
            <p:nvPr/>
          </p:nvSpPr>
          <p:spPr>
            <a:xfrm>
              <a:off x="9305925" y="2486025"/>
              <a:ext cx="1466850" cy="723900"/>
            </a:xfrm>
            <a:prstGeom prst="roundRect">
              <a:avLst>
                <a:gd name="adj" fmla="val 6579"/>
              </a:avLst>
            </a:prstGeom>
            <a:solidFill>
              <a:schemeClr val="lt2"/>
            </a:solidFill>
            <a:ln>
              <a:noFill/>
            </a:ln>
          </p:spPr>
        </p:sp>
        <p:sp>
          <p:nvSpPr>
            <p:cNvPr id="31" name="TextBox 31"/>
            <p:cNvSpPr txBox="1"/>
            <p:nvPr/>
          </p:nvSpPr>
          <p:spPr>
            <a:xfrm>
              <a:off x="9669018" y="26355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32" name="TextBox 32"/>
            <p:cNvSpPr txBox="1"/>
            <p:nvPr/>
          </p:nvSpPr>
          <p:spPr>
            <a:xfrm>
              <a:off x="9681381" y="28860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33" name="TextBox 33"/>
            <p:cNvSpPr txBox="1"/>
            <p:nvPr/>
          </p:nvSpPr>
          <p:spPr>
            <a:xfrm>
              <a:off x="4916805" y="3600450"/>
              <a:ext cx="694182" cy="293370"/>
            </a:xfrm>
            <a:prstGeom prst="rect">
              <a:avLst/>
            </a:prstGeom>
            <a:noFill/>
            <a:ln>
              <a:noFill/>
            </a:ln>
          </p:spPr>
          <p:txBody>
            <a:bodyPr wrap="none" lIns="0" tIns="0" rIns="0" bIns="0" anchor="t" anchorCtr="0">
              <a:spAutoFit/>
            </a:bodyPr>
            <a:lstStyle/>
            <a:p>
              <a:pPr algn="l"/>
              <a:r>
                <a:rPr lang="en-US" sz="1500" dirty="0">
                  <a:solidFill>
                    <a:schemeClr val="accent1"/>
                  </a:solidFill>
                  <a:latin typeface="+mn-lt"/>
                  <a:ea typeface="+mn-ea"/>
                  <a:cs typeface="+mn-cs"/>
                </a:rPr>
                <a:t>120kPa</a:t>
              </a:r>
            </a:p>
          </p:txBody>
        </p:sp>
        <p:sp>
          <p:nvSpPr>
            <p:cNvPr id="34" name="Rectangle 34"/>
            <p:cNvSpPr/>
            <p:nvPr/>
          </p:nvSpPr>
          <p:spPr>
            <a:xfrm>
              <a:off x="5991225" y="3381375"/>
              <a:ext cx="1466850" cy="723900"/>
            </a:xfrm>
            <a:prstGeom prst="roundRect">
              <a:avLst>
                <a:gd name="adj" fmla="val 6579"/>
              </a:avLst>
            </a:prstGeom>
            <a:solidFill>
              <a:schemeClr val="lt2"/>
            </a:solidFill>
            <a:ln>
              <a:noFill/>
            </a:ln>
          </p:spPr>
        </p:sp>
        <p:sp>
          <p:nvSpPr>
            <p:cNvPr id="35" name="TextBox 35"/>
            <p:cNvSpPr txBox="1"/>
            <p:nvPr/>
          </p:nvSpPr>
          <p:spPr>
            <a:xfrm>
              <a:off x="6354318" y="353091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36" name="TextBox 36"/>
            <p:cNvSpPr txBox="1"/>
            <p:nvPr/>
          </p:nvSpPr>
          <p:spPr>
            <a:xfrm>
              <a:off x="6366681" y="378142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37" name="Rectangle 37"/>
            <p:cNvSpPr/>
            <p:nvPr/>
          </p:nvSpPr>
          <p:spPr>
            <a:xfrm>
              <a:off x="7648575" y="3381375"/>
              <a:ext cx="1466850" cy="723900"/>
            </a:xfrm>
            <a:prstGeom prst="roundRect">
              <a:avLst>
                <a:gd name="adj" fmla="val 6579"/>
              </a:avLst>
            </a:prstGeom>
            <a:solidFill>
              <a:schemeClr val="lt2"/>
            </a:solidFill>
            <a:ln>
              <a:noFill/>
            </a:ln>
          </p:spPr>
        </p:sp>
        <p:sp>
          <p:nvSpPr>
            <p:cNvPr id="38" name="TextBox 38"/>
            <p:cNvSpPr txBox="1"/>
            <p:nvPr/>
          </p:nvSpPr>
          <p:spPr>
            <a:xfrm>
              <a:off x="8011668" y="353091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39" name="TextBox 39"/>
            <p:cNvSpPr txBox="1"/>
            <p:nvPr/>
          </p:nvSpPr>
          <p:spPr>
            <a:xfrm>
              <a:off x="8024031" y="378142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40" name="Rectangle 40"/>
            <p:cNvSpPr/>
            <p:nvPr/>
          </p:nvSpPr>
          <p:spPr>
            <a:xfrm>
              <a:off x="9305925" y="3381375"/>
              <a:ext cx="1466850" cy="723900"/>
            </a:xfrm>
            <a:prstGeom prst="roundRect">
              <a:avLst>
                <a:gd name="adj" fmla="val 6579"/>
              </a:avLst>
            </a:prstGeom>
            <a:solidFill>
              <a:schemeClr val="lt2"/>
            </a:solidFill>
            <a:ln>
              <a:noFill/>
            </a:ln>
          </p:spPr>
        </p:sp>
        <p:sp>
          <p:nvSpPr>
            <p:cNvPr id="41" name="TextBox 41"/>
            <p:cNvSpPr txBox="1"/>
            <p:nvPr/>
          </p:nvSpPr>
          <p:spPr>
            <a:xfrm>
              <a:off x="9669018" y="353091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42" name="TextBox 42"/>
            <p:cNvSpPr txBox="1"/>
            <p:nvPr/>
          </p:nvSpPr>
          <p:spPr>
            <a:xfrm>
              <a:off x="9681381" y="378142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43" name="TextBox 43"/>
            <p:cNvSpPr txBox="1"/>
            <p:nvPr/>
          </p:nvSpPr>
          <p:spPr>
            <a:xfrm>
              <a:off x="4916805" y="4495800"/>
              <a:ext cx="694182" cy="293370"/>
            </a:xfrm>
            <a:prstGeom prst="rect">
              <a:avLst/>
            </a:prstGeom>
            <a:noFill/>
            <a:ln>
              <a:noFill/>
            </a:ln>
          </p:spPr>
          <p:txBody>
            <a:bodyPr wrap="none" lIns="0" tIns="0" rIns="0" bIns="0" anchor="t" anchorCtr="0">
              <a:spAutoFit/>
            </a:bodyPr>
            <a:lstStyle/>
            <a:p>
              <a:pPr algn="l"/>
              <a:r>
                <a:rPr lang="en-US" sz="1500" dirty="0">
                  <a:solidFill>
                    <a:schemeClr val="accent1"/>
                  </a:solidFill>
                  <a:latin typeface="+mn-lt"/>
                  <a:ea typeface="+mn-ea"/>
                  <a:cs typeface="+mn-cs"/>
                </a:rPr>
                <a:t>160kPa</a:t>
              </a:r>
            </a:p>
          </p:txBody>
        </p:sp>
        <p:sp>
          <p:nvSpPr>
            <p:cNvPr id="44" name="Rectangle 44"/>
            <p:cNvSpPr/>
            <p:nvPr/>
          </p:nvSpPr>
          <p:spPr>
            <a:xfrm>
              <a:off x="5991225" y="4276725"/>
              <a:ext cx="1466850" cy="723900"/>
            </a:xfrm>
            <a:prstGeom prst="roundRect">
              <a:avLst>
                <a:gd name="adj" fmla="val 6579"/>
              </a:avLst>
            </a:prstGeom>
            <a:solidFill>
              <a:schemeClr val="lt2"/>
            </a:solidFill>
            <a:ln>
              <a:noFill/>
            </a:ln>
          </p:spPr>
        </p:sp>
        <p:sp>
          <p:nvSpPr>
            <p:cNvPr id="45" name="TextBox 45"/>
            <p:cNvSpPr txBox="1"/>
            <p:nvPr/>
          </p:nvSpPr>
          <p:spPr>
            <a:xfrm>
              <a:off x="6354318" y="44262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46" name="TextBox 46"/>
            <p:cNvSpPr txBox="1"/>
            <p:nvPr/>
          </p:nvSpPr>
          <p:spPr>
            <a:xfrm>
              <a:off x="6366681" y="46767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47" name="Rectangle 47"/>
            <p:cNvSpPr/>
            <p:nvPr/>
          </p:nvSpPr>
          <p:spPr>
            <a:xfrm>
              <a:off x="7648575" y="4276725"/>
              <a:ext cx="1466850" cy="723900"/>
            </a:xfrm>
            <a:prstGeom prst="roundRect">
              <a:avLst>
                <a:gd name="adj" fmla="val 6579"/>
              </a:avLst>
            </a:prstGeom>
            <a:solidFill>
              <a:schemeClr val="lt2"/>
            </a:solidFill>
            <a:ln>
              <a:noFill/>
            </a:ln>
          </p:spPr>
        </p:sp>
        <p:sp>
          <p:nvSpPr>
            <p:cNvPr id="48" name="TextBox 48"/>
            <p:cNvSpPr txBox="1"/>
            <p:nvPr/>
          </p:nvSpPr>
          <p:spPr>
            <a:xfrm>
              <a:off x="8011668" y="44262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49" name="TextBox 49"/>
            <p:cNvSpPr txBox="1"/>
            <p:nvPr/>
          </p:nvSpPr>
          <p:spPr>
            <a:xfrm>
              <a:off x="8024031" y="46767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sp>
          <p:nvSpPr>
            <p:cNvPr id="50" name="Rectangle 50"/>
            <p:cNvSpPr/>
            <p:nvPr/>
          </p:nvSpPr>
          <p:spPr>
            <a:xfrm>
              <a:off x="9305925" y="4276725"/>
              <a:ext cx="1466850" cy="723900"/>
            </a:xfrm>
            <a:prstGeom prst="roundRect">
              <a:avLst>
                <a:gd name="adj" fmla="val 6579"/>
              </a:avLst>
            </a:prstGeom>
            <a:solidFill>
              <a:schemeClr val="lt2"/>
            </a:solidFill>
            <a:ln>
              <a:noFill/>
            </a:ln>
          </p:spPr>
        </p:sp>
        <p:sp>
          <p:nvSpPr>
            <p:cNvPr id="51" name="TextBox 51"/>
            <p:cNvSpPr txBox="1"/>
            <p:nvPr/>
          </p:nvSpPr>
          <p:spPr>
            <a:xfrm>
              <a:off x="9669018" y="4426268"/>
              <a:ext cx="740664"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两类故障</a:t>
              </a:r>
            </a:p>
          </p:txBody>
        </p:sp>
        <p:sp>
          <p:nvSpPr>
            <p:cNvPr id="52" name="TextBox 52"/>
            <p:cNvSpPr txBox="1"/>
            <p:nvPr/>
          </p:nvSpPr>
          <p:spPr>
            <a:xfrm>
              <a:off x="9681381" y="4676775"/>
              <a:ext cx="715937" cy="293370"/>
            </a:xfrm>
            <a:prstGeom prst="rect">
              <a:avLst/>
            </a:prstGeom>
            <a:noFill/>
            <a:ln>
              <a:noFill/>
            </a:ln>
          </p:spPr>
          <p:txBody>
            <a:bodyPr wrap="none" lIns="0" tIns="0" rIns="0" bIns="0" anchor="t" anchorCtr="0">
              <a:spAutoFit/>
            </a:bodyPr>
            <a:lstStyle/>
            <a:p>
              <a:pPr algn="ctr"/>
              <a:r>
                <a:rPr lang="zh-CN" sz="1500" b="1" dirty="0">
                  <a:solidFill>
                    <a:schemeClr val="accent1"/>
                  </a:solidFill>
                  <a:latin typeface="+mn-lt"/>
                  <a:ea typeface="+mn-ea"/>
                  <a:cs typeface="+mn-cs"/>
                </a:rPr>
                <a:t>各 ≥3次</a:t>
              </a:r>
            </a:p>
          </p:txBody>
        </p:sp>
      </p:grpSp>
      <p:grpSp>
        <p:nvGrpSpPr>
          <p:cNvPr id="57" name="validation-gates"/>
          <p:cNvGrpSpPr/>
          <p:nvPr/>
        </p:nvGrpSpPr>
        <p:grpSpPr>
          <a:xfrm>
            <a:off x="457200" y="5391150"/>
            <a:ext cx="11277600" cy="819150"/>
            <a:chOff x="457200" y="5391150"/>
            <a:chExt cx="11277600" cy="819150"/>
          </a:xfrm>
        </p:grpSpPr>
        <p:sp>
          <p:nvSpPr>
            <p:cNvPr id="54" name="Rectangle 54"/>
            <p:cNvSpPr/>
            <p:nvPr/>
          </p:nvSpPr>
          <p:spPr>
            <a:xfrm>
              <a:off x="457200" y="5391150"/>
              <a:ext cx="11277600" cy="819150"/>
            </a:xfrm>
            <a:prstGeom prst="roundRect">
              <a:avLst>
                <a:gd name="adj" fmla="val 6977"/>
              </a:avLst>
            </a:prstGeom>
            <a:solidFill>
              <a:schemeClr val="accent1"/>
            </a:solidFill>
            <a:ln>
              <a:noFill/>
            </a:ln>
          </p:spPr>
        </p:sp>
        <p:sp>
          <p:nvSpPr>
            <p:cNvPr id="55" name="TextBox 55"/>
            <p:cNvSpPr txBox="1"/>
            <p:nvPr/>
          </p:nvSpPr>
          <p:spPr>
            <a:xfrm>
              <a:off x="648081" y="5520690"/>
              <a:ext cx="4173402"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标定/台架 → 强基线/消融 → 无线/整机</a:t>
              </a:r>
            </a:p>
          </p:txBody>
        </p:sp>
        <p:sp>
          <p:nvSpPr>
            <p:cNvPr id="56" name="TextBox 56"/>
            <p:cNvSpPr txBox="1"/>
            <p:nvPr/>
          </p:nvSpPr>
          <p:spPr>
            <a:xfrm>
              <a:off x="649605" y="5867400"/>
              <a:ext cx="6497193"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拟8h连续记录及恢复检查；现场无故障标签时，只验证正常运行适应性。</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7" name="route-highlight"/>
          <p:cNvSpPr/>
          <p:nvPr/>
        </p:nvSpPr>
        <p:spPr>
          <a:xfrm>
            <a:off x="10610850" y="257175"/>
            <a:ext cx="619125" cy="295275"/>
          </a:xfrm>
          <a:prstGeom prst="roundRect">
            <a:avLst>
              <a:gd name="adj" fmla="val 12903"/>
            </a:avLst>
          </a:prstGeom>
          <a:solidFill>
            <a:schemeClr val="lt2"/>
          </a:solidFill>
          <a:ln>
            <a:noFill/>
          </a:ln>
        </p:spPr>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一年推进，按条件过关</a:t>
              </a:r>
            </a:p>
          </p:txBody>
        </p:sp>
      </p:grpSp>
      <p:sp>
        <p:nvSpPr>
          <p:cNvPr id="11" name="source-footer"/>
          <p:cNvSpPr txBox="1"/>
          <p:nvPr/>
        </p:nvSpPr>
        <p:spPr>
          <a:xfrm>
            <a:off x="451104" y="6404610"/>
            <a:ext cx="440618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2000元为启动额度估计，非报价或已获资助；论文费用另核查</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11/15</a:t>
            </a:r>
          </a:p>
        </p:txBody>
      </p:sp>
      <p:grpSp>
        <p:nvGrpSpPr>
          <p:cNvPr id="30" name="time-gates"/>
          <p:cNvGrpSpPr/>
          <p:nvPr/>
        </p:nvGrpSpPr>
        <p:grpSpPr>
          <a:xfrm>
            <a:off x="446532" y="1611630"/>
            <a:ext cx="11242767" cy="1596390"/>
            <a:chOff x="446532" y="1611630"/>
            <a:chExt cx="11242767" cy="1596390"/>
          </a:xfrm>
        </p:grpSpPr>
        <p:sp>
          <p:nvSpPr>
            <p:cNvPr id="13" name="Line 13"/>
            <p:cNvSpPr/>
            <p:nvPr/>
          </p:nvSpPr>
          <p:spPr>
            <a:xfrm>
              <a:off x="771525" y="2171700"/>
              <a:ext cx="10515600" cy="9525"/>
            </a:xfrm>
            <a:custGeom>
              <a:avLst/>
              <a:gdLst/>
              <a:ahLst/>
              <a:cxnLst/>
              <a:rect l="l" t="t" r="r" b="b"/>
              <a:pathLst>
                <a:path w="10515600" h="9525">
                  <a:moveTo>
                    <a:pt x="0" y="0"/>
                  </a:moveTo>
                  <a:lnTo>
                    <a:pt x="10515600" y="0"/>
                  </a:lnTo>
                </a:path>
              </a:pathLst>
            </a:custGeom>
            <a:noFill/>
            <a:ln w="38100">
              <a:solidFill>
                <a:schemeClr val="accent1"/>
              </a:solidFill>
            </a:ln>
          </p:spPr>
        </p:sp>
        <p:sp>
          <p:nvSpPr>
            <p:cNvPr id="14" name="Ellipse 14"/>
            <p:cNvSpPr/>
            <p:nvPr/>
          </p:nvSpPr>
          <p:spPr>
            <a:xfrm>
              <a:off x="657225" y="2047875"/>
              <a:ext cx="247650" cy="247650"/>
            </a:xfrm>
            <a:prstGeom prst="ellipse">
              <a:avLst/>
            </a:prstGeom>
            <a:solidFill>
              <a:schemeClr val="accent1"/>
            </a:solidFill>
            <a:ln>
              <a:noFill/>
            </a:ln>
          </p:spPr>
        </p:sp>
        <p:sp>
          <p:nvSpPr>
            <p:cNvPr id="15" name="TextBox 15"/>
            <p:cNvSpPr txBox="1"/>
            <p:nvPr/>
          </p:nvSpPr>
          <p:spPr>
            <a:xfrm>
              <a:off x="446532" y="1611630"/>
              <a:ext cx="165394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2027.03—04</a:t>
              </a:r>
            </a:p>
          </p:txBody>
        </p:sp>
        <p:sp>
          <p:nvSpPr>
            <p:cNvPr id="16" name="TextBox 16"/>
            <p:cNvSpPr txBox="1"/>
            <p:nvPr/>
          </p:nvSpPr>
          <p:spPr>
            <a:xfrm>
              <a:off x="448056" y="2510790"/>
              <a:ext cx="12298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标定与有线</a:t>
              </a:r>
            </a:p>
          </p:txBody>
        </p:sp>
        <p:sp>
          <p:nvSpPr>
            <p:cNvPr id="17" name="TextBox 17"/>
            <p:cNvSpPr txBox="1"/>
            <p:nvPr/>
          </p:nvSpPr>
          <p:spPr>
            <a:xfrm>
              <a:off x="449580" y="2914650"/>
              <a:ext cx="174174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测量误差/可观测性</a:t>
              </a:r>
            </a:p>
          </p:txBody>
        </p:sp>
        <p:sp>
          <p:nvSpPr>
            <p:cNvPr id="18" name="Ellipse 18"/>
            <p:cNvSpPr/>
            <p:nvPr/>
          </p:nvSpPr>
          <p:spPr>
            <a:xfrm>
              <a:off x="3581400" y="2047875"/>
              <a:ext cx="247650" cy="247650"/>
            </a:xfrm>
            <a:prstGeom prst="ellipse">
              <a:avLst/>
            </a:prstGeom>
            <a:solidFill>
              <a:schemeClr val="accent1"/>
            </a:solidFill>
            <a:ln>
              <a:noFill/>
            </a:ln>
          </p:spPr>
        </p:sp>
        <p:sp>
          <p:nvSpPr>
            <p:cNvPr id="19" name="TextBox 19"/>
            <p:cNvSpPr txBox="1"/>
            <p:nvPr/>
          </p:nvSpPr>
          <p:spPr>
            <a:xfrm>
              <a:off x="3370707" y="1611630"/>
              <a:ext cx="165394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2027.05—08</a:t>
              </a:r>
            </a:p>
          </p:txBody>
        </p:sp>
        <p:sp>
          <p:nvSpPr>
            <p:cNvPr id="20" name="TextBox 20"/>
            <p:cNvSpPr txBox="1"/>
            <p:nvPr/>
          </p:nvSpPr>
          <p:spPr>
            <a:xfrm>
              <a:off x="3372231" y="2510790"/>
              <a:ext cx="132082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台架与LoRa</a:t>
              </a:r>
            </a:p>
          </p:txBody>
        </p:sp>
        <p:sp>
          <p:nvSpPr>
            <p:cNvPr id="21" name="TextBox 21"/>
            <p:cNvSpPr txBox="1"/>
            <p:nvPr/>
          </p:nvSpPr>
          <p:spPr>
            <a:xfrm>
              <a:off x="3373755" y="2914650"/>
              <a:ext cx="174174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独立批次/整机测量</a:t>
              </a:r>
            </a:p>
          </p:txBody>
        </p:sp>
        <p:sp>
          <p:nvSpPr>
            <p:cNvPr id="22" name="Ellipse 22"/>
            <p:cNvSpPr/>
            <p:nvPr/>
          </p:nvSpPr>
          <p:spPr>
            <a:xfrm>
              <a:off x="6505575" y="2047875"/>
              <a:ext cx="247650" cy="247650"/>
            </a:xfrm>
            <a:prstGeom prst="ellipse">
              <a:avLst/>
            </a:prstGeom>
            <a:solidFill>
              <a:schemeClr val="accent1"/>
            </a:solidFill>
            <a:ln>
              <a:noFill/>
            </a:ln>
          </p:spPr>
        </p:sp>
        <p:sp>
          <p:nvSpPr>
            <p:cNvPr id="23" name="TextBox 23"/>
            <p:cNvSpPr txBox="1"/>
            <p:nvPr/>
          </p:nvSpPr>
          <p:spPr>
            <a:xfrm>
              <a:off x="6294882" y="1611630"/>
              <a:ext cx="165394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2027.09—10</a:t>
              </a:r>
            </a:p>
          </p:txBody>
        </p:sp>
        <p:sp>
          <p:nvSpPr>
            <p:cNvPr id="24" name="TextBox 24"/>
            <p:cNvSpPr txBox="1"/>
            <p:nvPr/>
          </p:nvSpPr>
          <p:spPr>
            <a:xfrm>
              <a:off x="6296406" y="2510790"/>
              <a:ext cx="12298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验证与论文</a:t>
              </a:r>
            </a:p>
          </p:txBody>
        </p:sp>
        <p:sp>
          <p:nvSpPr>
            <p:cNvPr id="25" name="TextBox 25"/>
            <p:cNvSpPr txBox="1"/>
            <p:nvPr/>
          </p:nvSpPr>
          <p:spPr>
            <a:xfrm>
              <a:off x="6297930" y="2914650"/>
              <a:ext cx="174174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冻结方法/成稿投稿</a:t>
              </a:r>
            </a:p>
          </p:txBody>
        </p:sp>
        <p:sp>
          <p:nvSpPr>
            <p:cNvPr id="26" name="Ellipse 26"/>
            <p:cNvSpPr/>
            <p:nvPr/>
          </p:nvSpPr>
          <p:spPr>
            <a:xfrm>
              <a:off x="9429750" y="2047875"/>
              <a:ext cx="247650" cy="247650"/>
            </a:xfrm>
            <a:prstGeom prst="ellipse">
              <a:avLst/>
            </a:prstGeom>
            <a:solidFill>
              <a:schemeClr val="accent1"/>
            </a:solidFill>
            <a:ln>
              <a:noFill/>
            </a:ln>
          </p:spPr>
        </p:sp>
        <p:sp>
          <p:nvSpPr>
            <p:cNvPr id="27" name="TextBox 27"/>
            <p:cNvSpPr txBox="1"/>
            <p:nvPr/>
          </p:nvSpPr>
          <p:spPr>
            <a:xfrm>
              <a:off x="9219057" y="1611630"/>
              <a:ext cx="2470242"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2027.11—2028.02</a:t>
              </a:r>
            </a:p>
          </p:txBody>
        </p:sp>
        <p:sp>
          <p:nvSpPr>
            <p:cNvPr id="28" name="TextBox 28"/>
            <p:cNvSpPr txBox="1"/>
            <p:nvPr/>
          </p:nvSpPr>
          <p:spPr>
            <a:xfrm>
              <a:off x="9220581" y="2510790"/>
              <a:ext cx="12298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结项与归档</a:t>
              </a:r>
            </a:p>
          </p:txBody>
        </p:sp>
        <p:sp>
          <p:nvSpPr>
            <p:cNvPr id="29" name="TextBox 29"/>
            <p:cNvSpPr txBox="1"/>
            <p:nvPr/>
          </p:nvSpPr>
          <p:spPr>
            <a:xfrm>
              <a:off x="9222105" y="2914650"/>
              <a:ext cx="1650873"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补实验/系统/报告</a:t>
              </a:r>
            </a:p>
          </p:txBody>
        </p:sp>
      </p:grpSp>
      <p:grpSp>
        <p:nvGrpSpPr>
          <p:cNvPr id="53" name="budget-allocation"/>
          <p:cNvGrpSpPr/>
          <p:nvPr/>
        </p:nvGrpSpPr>
        <p:grpSpPr>
          <a:xfrm>
            <a:off x="457200" y="3695700"/>
            <a:ext cx="11077575" cy="2505075"/>
            <a:chOff x="457200" y="3695700"/>
            <a:chExt cx="11077575" cy="2505075"/>
          </a:xfrm>
        </p:grpSpPr>
        <p:sp>
          <p:nvSpPr>
            <p:cNvPr id="31" name="Rectangle 31"/>
            <p:cNvSpPr/>
            <p:nvPr/>
          </p:nvSpPr>
          <p:spPr>
            <a:xfrm>
              <a:off x="457200" y="3695700"/>
              <a:ext cx="3228975" cy="2505075"/>
            </a:xfrm>
            <a:prstGeom prst="roundRect">
              <a:avLst>
                <a:gd name="adj" fmla="val 3042"/>
              </a:avLst>
            </a:prstGeom>
            <a:solidFill>
              <a:srgbClr val="092E2B"/>
            </a:solidFill>
            <a:ln>
              <a:noFill/>
            </a:ln>
          </p:spPr>
        </p:sp>
        <p:sp>
          <p:nvSpPr>
            <p:cNvPr id="32" name="TextBox 32"/>
            <p:cNvSpPr txBox="1"/>
            <p:nvPr/>
          </p:nvSpPr>
          <p:spPr>
            <a:xfrm>
              <a:off x="676656" y="3891915"/>
              <a:ext cx="1472184" cy="352044"/>
            </a:xfrm>
            <a:prstGeom prst="rect">
              <a:avLst/>
            </a:prstGeom>
            <a:noFill/>
            <a:ln>
              <a:noFill/>
            </a:ln>
          </p:spPr>
          <p:txBody>
            <a:bodyPr wrap="none" lIns="0" tIns="0" rIns="0" bIns="0" anchor="t" anchorCtr="0">
              <a:spAutoFit/>
            </a:bodyPr>
            <a:lstStyle/>
            <a:p>
              <a:pPr algn="l"/>
              <a:r>
                <a:rPr lang="zh-CN" sz="1800" b="1" dirty="0">
                  <a:solidFill>
                    <a:srgbClr val="78DFC5"/>
                  </a:solidFill>
                  <a:latin typeface="+mn-lt"/>
                  <a:ea typeface="+mn-ea"/>
                  <a:cs typeface="+mn-cs"/>
                </a:rPr>
                <a:t>启动额度估计</a:t>
              </a:r>
            </a:p>
          </p:txBody>
        </p:sp>
        <p:sp>
          <p:nvSpPr>
            <p:cNvPr id="33" name="TextBox 33"/>
            <p:cNvSpPr txBox="1"/>
            <p:nvPr/>
          </p:nvSpPr>
          <p:spPr>
            <a:xfrm>
              <a:off x="666750" y="4463415"/>
              <a:ext cx="1903933" cy="933450"/>
            </a:xfrm>
            <a:prstGeom prst="rect">
              <a:avLst/>
            </a:prstGeom>
            <a:noFill/>
            <a:ln>
              <a:noFill/>
            </a:ln>
          </p:spPr>
          <p:txBody>
            <a:bodyPr wrap="none" lIns="0" tIns="0" rIns="0" bIns="0" anchor="t" anchorCtr="0">
              <a:spAutoFit/>
            </a:bodyPr>
            <a:lstStyle/>
            <a:p>
              <a:pPr algn="l"/>
              <a:r>
                <a:rPr lang="zh-CN" sz="4800" b="1" dirty="0">
                  <a:solidFill>
                    <a:srgbClr val="FFFFFF"/>
                  </a:solidFill>
                  <a:latin typeface="+mn-lt"/>
                  <a:ea typeface="+mn-ea"/>
                  <a:cs typeface="+mn-cs"/>
                </a:rPr>
                <a:t>¥2000</a:t>
              </a:r>
            </a:p>
          </p:txBody>
        </p:sp>
        <p:sp>
          <p:nvSpPr>
            <p:cNvPr id="34" name="TextBox 34"/>
            <p:cNvSpPr txBox="1"/>
            <p:nvPr/>
          </p:nvSpPr>
          <p:spPr>
            <a:xfrm>
              <a:off x="678180" y="5267325"/>
              <a:ext cx="2301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D8EAE2"/>
                  </a:solidFill>
                  <a:latin typeface="+mn-lt"/>
                  <a:ea typeface="+mn-ea"/>
                  <a:cs typeface="+mn-cs"/>
                </a:rPr>
                <a:t>已有电脑 / 借参考仪器</a:t>
              </a:r>
              <a:br/>
              <a:r>
                <a:rPr lang="zh-CN" sz="1500" dirty="0">
                  <a:solidFill>
                    <a:srgbClr val="D8EAE2"/>
                  </a:solidFill>
                  <a:latin typeface="+mn-lt"/>
                  <a:ea typeface="+mn-ea"/>
                  <a:cs typeface="+mn-cs"/>
                </a:rPr>
                <a:t>资助后优先标定与独立实验</a:t>
              </a:r>
            </a:p>
          </p:txBody>
        </p:sp>
        <p:sp>
          <p:nvSpPr>
            <p:cNvPr id="35" name="TextBox 35"/>
            <p:cNvSpPr txBox="1"/>
            <p:nvPr/>
          </p:nvSpPr>
          <p:spPr>
            <a:xfrm>
              <a:off x="4021455" y="3848100"/>
              <a:ext cx="990124"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电子/LoRa</a:t>
              </a:r>
            </a:p>
          </p:txBody>
        </p:sp>
        <p:sp>
          <p:nvSpPr>
            <p:cNvPr id="36" name="TextBox 36"/>
            <p:cNvSpPr txBox="1"/>
            <p:nvPr/>
          </p:nvSpPr>
          <p:spPr>
            <a:xfrm>
              <a:off x="4017645" y="424338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260元</a:t>
              </a:r>
            </a:p>
          </p:txBody>
        </p:sp>
        <p:sp>
          <p:nvSpPr>
            <p:cNvPr id="37" name="Line 37"/>
            <p:cNvSpPr/>
            <p:nvPr/>
          </p:nvSpPr>
          <p:spPr>
            <a:xfrm>
              <a:off x="4029075" y="4648200"/>
              <a:ext cx="2286000" cy="9525"/>
            </a:xfrm>
            <a:custGeom>
              <a:avLst/>
              <a:gdLst/>
              <a:ahLst/>
              <a:cxnLst/>
              <a:rect l="l" t="t" r="r" b="b"/>
              <a:pathLst>
                <a:path w="2286000" h="9525">
                  <a:moveTo>
                    <a:pt x="0" y="0"/>
                  </a:moveTo>
                  <a:lnTo>
                    <a:pt x="2286000" y="0"/>
                  </a:lnTo>
                </a:path>
              </a:pathLst>
            </a:custGeom>
            <a:noFill/>
            <a:ln w="9525">
              <a:solidFill>
                <a:schemeClr val="accent6"/>
              </a:solidFill>
            </a:ln>
          </p:spPr>
        </p:sp>
        <p:sp>
          <p:nvSpPr>
            <p:cNvPr id="38" name="TextBox 38"/>
            <p:cNvSpPr txBox="1"/>
            <p:nvPr/>
          </p:nvSpPr>
          <p:spPr>
            <a:xfrm>
              <a:off x="6631305" y="3848100"/>
              <a:ext cx="93402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传感/调理</a:t>
              </a:r>
            </a:p>
          </p:txBody>
        </p:sp>
        <p:sp>
          <p:nvSpPr>
            <p:cNvPr id="39" name="TextBox 39"/>
            <p:cNvSpPr txBox="1"/>
            <p:nvPr/>
          </p:nvSpPr>
          <p:spPr>
            <a:xfrm>
              <a:off x="6627495" y="424338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500元</a:t>
              </a:r>
            </a:p>
          </p:txBody>
        </p:sp>
        <p:sp>
          <p:nvSpPr>
            <p:cNvPr id="40" name="Line 40"/>
            <p:cNvSpPr/>
            <p:nvPr/>
          </p:nvSpPr>
          <p:spPr>
            <a:xfrm>
              <a:off x="6638925" y="4648200"/>
              <a:ext cx="2286000" cy="9525"/>
            </a:xfrm>
            <a:custGeom>
              <a:avLst/>
              <a:gdLst/>
              <a:ahLst/>
              <a:cxnLst/>
              <a:rect l="l" t="t" r="r" b="b"/>
              <a:pathLst>
                <a:path w="2286000" h="9525">
                  <a:moveTo>
                    <a:pt x="0" y="0"/>
                  </a:moveTo>
                  <a:lnTo>
                    <a:pt x="2286000" y="0"/>
                  </a:lnTo>
                </a:path>
              </a:pathLst>
            </a:custGeom>
            <a:noFill/>
            <a:ln w="9525">
              <a:solidFill>
                <a:schemeClr val="accent6"/>
              </a:solidFill>
            </a:ln>
          </p:spPr>
        </p:sp>
        <p:sp>
          <p:nvSpPr>
            <p:cNvPr id="41" name="TextBox 41"/>
            <p:cNvSpPr txBox="1"/>
            <p:nvPr/>
          </p:nvSpPr>
          <p:spPr>
            <a:xfrm>
              <a:off x="9241155" y="3848100"/>
              <a:ext cx="41910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水路</a:t>
              </a:r>
            </a:p>
          </p:txBody>
        </p:sp>
        <p:sp>
          <p:nvSpPr>
            <p:cNvPr id="42" name="TextBox 42"/>
            <p:cNvSpPr txBox="1"/>
            <p:nvPr/>
          </p:nvSpPr>
          <p:spPr>
            <a:xfrm>
              <a:off x="9237345" y="424338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500元</a:t>
              </a:r>
            </a:p>
          </p:txBody>
        </p:sp>
        <p:sp>
          <p:nvSpPr>
            <p:cNvPr id="43" name="Line 43"/>
            <p:cNvSpPr/>
            <p:nvPr/>
          </p:nvSpPr>
          <p:spPr>
            <a:xfrm>
              <a:off x="9248775" y="4648200"/>
              <a:ext cx="2286000" cy="9525"/>
            </a:xfrm>
            <a:custGeom>
              <a:avLst/>
              <a:gdLst/>
              <a:ahLst/>
              <a:cxnLst/>
              <a:rect l="l" t="t" r="r" b="b"/>
              <a:pathLst>
                <a:path w="2286000" h="9525">
                  <a:moveTo>
                    <a:pt x="0" y="0"/>
                  </a:moveTo>
                  <a:lnTo>
                    <a:pt x="2286000" y="0"/>
                  </a:lnTo>
                </a:path>
              </a:pathLst>
            </a:custGeom>
            <a:noFill/>
            <a:ln w="9525">
              <a:solidFill>
                <a:schemeClr val="accent6"/>
              </a:solidFill>
            </a:ln>
          </p:spPr>
        </p:sp>
        <p:sp>
          <p:nvSpPr>
            <p:cNvPr id="44" name="TextBox 44"/>
            <p:cNvSpPr txBox="1"/>
            <p:nvPr/>
          </p:nvSpPr>
          <p:spPr>
            <a:xfrm>
              <a:off x="4021455" y="5048250"/>
              <a:ext cx="93402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供电/外壳</a:t>
              </a:r>
            </a:p>
          </p:txBody>
        </p:sp>
        <p:sp>
          <p:nvSpPr>
            <p:cNvPr id="45" name="TextBox 45"/>
            <p:cNvSpPr txBox="1"/>
            <p:nvPr/>
          </p:nvSpPr>
          <p:spPr>
            <a:xfrm>
              <a:off x="4017645" y="544353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250元</a:t>
              </a:r>
            </a:p>
          </p:txBody>
        </p:sp>
        <p:sp>
          <p:nvSpPr>
            <p:cNvPr id="46" name="Line 46"/>
            <p:cNvSpPr/>
            <p:nvPr/>
          </p:nvSpPr>
          <p:spPr>
            <a:xfrm>
              <a:off x="4029075" y="5848350"/>
              <a:ext cx="2286000" cy="9525"/>
            </a:xfrm>
            <a:custGeom>
              <a:avLst/>
              <a:gdLst/>
              <a:ahLst/>
              <a:cxnLst/>
              <a:rect l="l" t="t" r="r" b="b"/>
              <a:pathLst>
                <a:path w="2286000" h="9525">
                  <a:moveTo>
                    <a:pt x="0" y="0"/>
                  </a:moveTo>
                  <a:lnTo>
                    <a:pt x="2286000" y="0"/>
                  </a:lnTo>
                </a:path>
              </a:pathLst>
            </a:custGeom>
            <a:noFill/>
            <a:ln w="9525">
              <a:solidFill>
                <a:schemeClr val="accent6"/>
              </a:solidFill>
            </a:ln>
          </p:spPr>
        </p:sp>
        <p:sp>
          <p:nvSpPr>
            <p:cNvPr id="47" name="TextBox 47"/>
            <p:cNvSpPr txBox="1"/>
            <p:nvPr/>
          </p:nvSpPr>
          <p:spPr>
            <a:xfrm>
              <a:off x="6631305" y="5048250"/>
              <a:ext cx="41910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耗材</a:t>
              </a:r>
            </a:p>
          </p:txBody>
        </p:sp>
        <p:sp>
          <p:nvSpPr>
            <p:cNvPr id="48" name="TextBox 48"/>
            <p:cNvSpPr txBox="1"/>
            <p:nvPr/>
          </p:nvSpPr>
          <p:spPr>
            <a:xfrm>
              <a:off x="6627495" y="544353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130元</a:t>
              </a:r>
            </a:p>
          </p:txBody>
        </p:sp>
        <p:sp>
          <p:nvSpPr>
            <p:cNvPr id="49" name="Line 49"/>
            <p:cNvSpPr/>
            <p:nvPr/>
          </p:nvSpPr>
          <p:spPr>
            <a:xfrm>
              <a:off x="6638925" y="5848350"/>
              <a:ext cx="2286000" cy="9525"/>
            </a:xfrm>
            <a:custGeom>
              <a:avLst/>
              <a:gdLst/>
              <a:ahLst/>
              <a:cxnLst/>
              <a:rect l="l" t="t" r="r" b="b"/>
              <a:pathLst>
                <a:path w="2286000" h="9525">
                  <a:moveTo>
                    <a:pt x="0" y="0"/>
                  </a:moveTo>
                  <a:lnTo>
                    <a:pt x="2286000" y="0"/>
                  </a:lnTo>
                </a:path>
              </a:pathLst>
            </a:custGeom>
            <a:noFill/>
            <a:ln w="9525">
              <a:solidFill>
                <a:schemeClr val="accent6"/>
              </a:solidFill>
            </a:ln>
          </p:spPr>
        </p:sp>
        <p:sp>
          <p:nvSpPr>
            <p:cNvPr id="50" name="TextBox 50"/>
            <p:cNvSpPr txBox="1"/>
            <p:nvPr/>
          </p:nvSpPr>
          <p:spPr>
            <a:xfrm>
              <a:off x="9241155" y="5048250"/>
              <a:ext cx="93402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调研/返工</a:t>
              </a:r>
            </a:p>
          </p:txBody>
        </p:sp>
        <p:sp>
          <p:nvSpPr>
            <p:cNvPr id="51" name="TextBox 51"/>
            <p:cNvSpPr txBox="1"/>
            <p:nvPr/>
          </p:nvSpPr>
          <p:spPr>
            <a:xfrm>
              <a:off x="9237345" y="5443538"/>
              <a:ext cx="850521"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360元</a:t>
              </a:r>
            </a:p>
          </p:txBody>
        </p:sp>
        <p:sp>
          <p:nvSpPr>
            <p:cNvPr id="52" name="Line 52"/>
            <p:cNvSpPr/>
            <p:nvPr/>
          </p:nvSpPr>
          <p:spPr>
            <a:xfrm>
              <a:off x="9248775" y="5848350"/>
              <a:ext cx="2286000" cy="9525"/>
            </a:xfrm>
            <a:custGeom>
              <a:avLst/>
              <a:gdLst/>
              <a:ahLst/>
              <a:cxnLst/>
              <a:rect l="l" t="t" r="r" b="b"/>
              <a:pathLst>
                <a:path w="2286000" h="9525">
                  <a:moveTo>
                    <a:pt x="0" y="0"/>
                  </a:moveTo>
                  <a:lnTo>
                    <a:pt x="2286000" y="0"/>
                  </a:lnTo>
                </a:path>
              </a:pathLst>
            </a:custGeom>
            <a:noFill/>
            <a:ln w="9525">
              <a:solidFill>
                <a:schemeClr val="accent6"/>
              </a:solidFill>
            </a:ln>
          </p:spPr>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092E2B"/>
            </a:gs>
          </a:gsLst>
          <a:lin ang="2700000" scaled="1"/>
        </a:gra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rgbClr val="78DFC5"/>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系统</a:t>
            </a:r>
          </a:p>
        </p:txBody>
      </p:sp>
      <p:sp>
        <p:nvSpPr>
          <p:cNvPr id="6"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证据</a:t>
            </a:r>
          </a:p>
        </p:txBody>
      </p:sp>
      <p:sp>
        <p:nvSpPr>
          <p:cNvPr id="7" name="route-highlight"/>
          <p:cNvSpPr/>
          <p:nvPr/>
        </p:nvSpPr>
        <p:spPr>
          <a:xfrm>
            <a:off x="10610850" y="257175"/>
            <a:ext cx="619125" cy="295275"/>
          </a:xfrm>
          <a:prstGeom prst="roundRect">
            <a:avLst>
              <a:gd name="adj" fmla="val 12903"/>
            </a:avLst>
          </a:prstGeom>
          <a:solidFill>
            <a:srgbClr val="23554E"/>
          </a:solidFill>
          <a:ln>
            <a:noFill/>
          </a:ln>
        </p:spPr>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rgbClr val="78DFC5"/>
                </a:solidFill>
                <a:latin typeface="+mn-lt"/>
                <a:ea typeface="+mn-ea"/>
                <a:cs typeface="+mn-cs"/>
              </a:rPr>
              <a:t>实施</a:t>
            </a:r>
          </a:p>
        </p:txBody>
      </p:sp>
      <p:grpSp>
        <p:nvGrpSpPr>
          <p:cNvPr id="10" name="page-title"/>
          <p:cNvGrpSpPr/>
          <p:nvPr/>
        </p:nvGrpSpPr>
        <p:grpSpPr>
          <a:xfrm>
            <a:off x="441198" y="860108"/>
            <a:ext cx="4272534" cy="616077"/>
            <a:chOff x="441198" y="860108"/>
            <a:chExt cx="4272534" cy="616077"/>
          </a:xfrm>
        </p:grpSpPr>
        <p:sp>
          <p:nvSpPr>
            <p:cNvPr id="9" name="TextBox 9"/>
            <p:cNvSpPr txBox="1"/>
            <p:nvPr/>
          </p:nvSpPr>
          <p:spPr>
            <a:xfrm>
              <a:off x="441198" y="860108"/>
              <a:ext cx="4272534"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交付原型，也交付证据</a:t>
              </a:r>
            </a:p>
          </p:txBody>
        </p:sp>
      </p:grpSp>
      <p:sp>
        <p:nvSpPr>
          <p:cNvPr id="11" name="source-footer"/>
          <p:cNvSpPr txBox="1"/>
          <p:nvPr/>
        </p:nvSpPr>
        <p:spPr>
          <a:xfrm>
            <a:off x="451104" y="6404610"/>
            <a:ext cx="4535424" cy="234696"/>
          </a:xfrm>
          <a:prstGeom prst="rect">
            <a:avLst/>
          </a:prstGeom>
          <a:noFill/>
          <a:ln>
            <a:noFill/>
          </a:ln>
        </p:spPr>
        <p:txBody>
          <a:bodyPr wrap="none" lIns="0" tIns="0" rIns="0" bIns="0" anchor="t" anchorCtr="0">
            <a:spAutoFit/>
          </a:bodyPr>
          <a:lstStyle/>
          <a:p>
            <a:pPr algn="l"/>
            <a:r>
              <a:rPr lang="zh-CN" sz="1200" dirty="0">
                <a:solidFill>
                  <a:srgbClr val="B7CCC6"/>
                </a:solidFill>
                <a:latin typeface="+mn-lt"/>
                <a:ea typeface="+mn-ea"/>
                <a:cs typeface="+mn-cs"/>
              </a:rPr>
              <a:t>研究目标由实验兑现；立项级别、论文发表及推免认定均不保证</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rgbClr val="B7CCC6"/>
                </a:solidFill>
                <a:latin typeface="+mn-lt"/>
                <a:ea typeface="+mn-ea"/>
                <a:cs typeface="+mn-cs"/>
              </a:rPr>
              <a:t>12/15</a:t>
            </a:r>
          </a:p>
        </p:txBody>
      </p:sp>
      <p:grpSp>
        <p:nvGrpSpPr>
          <p:cNvPr id="110" name="prototype-delivery"/>
          <p:cNvGrpSpPr/>
          <p:nvPr/>
        </p:nvGrpSpPr>
        <p:grpSpPr>
          <a:xfrm>
            <a:off x="441198" y="1803082"/>
            <a:ext cx="5418582" cy="4535043"/>
            <a:chOff x="441198" y="1803082"/>
            <a:chExt cx="5418582" cy="4535043"/>
          </a:xfrm>
        </p:grpSpPr>
        <p:sp>
          <p:nvSpPr>
            <p:cNvPr id="13" name="TextBox 13"/>
            <p:cNvSpPr txBox="1"/>
            <p:nvPr/>
          </p:nvSpPr>
          <p:spPr>
            <a:xfrm>
              <a:off x="441198" y="1803082"/>
              <a:ext cx="3424428"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一个可验证的原型</a:t>
              </a:r>
            </a:p>
          </p:txBody>
        </p:sp>
        <p:sp>
          <p:nvSpPr>
            <p:cNvPr id="14" name="TextBox 14"/>
            <p:cNvSpPr txBox="1"/>
            <p:nvPr/>
          </p:nvSpPr>
          <p:spPr>
            <a:xfrm>
              <a:off x="446532" y="2497455"/>
              <a:ext cx="4106380" cy="410718"/>
            </a:xfrm>
            <a:prstGeom prst="rect">
              <a:avLst/>
            </a:prstGeom>
            <a:noFill/>
            <a:ln>
              <a:noFill/>
            </a:ln>
          </p:spPr>
          <p:txBody>
            <a:bodyPr wrap="none" lIns="0" tIns="0" rIns="0" bIns="0" anchor="t" anchorCtr="0">
              <a:spAutoFit/>
            </a:bodyPr>
            <a:lstStyle/>
            <a:p>
              <a:pPr algn="l"/>
              <a:r>
                <a:rPr lang="zh-CN" sz="2100" dirty="0">
                  <a:solidFill>
                    <a:srgbClr val="78DFC5"/>
                  </a:solidFill>
                  <a:latin typeface="+mn-lt"/>
                  <a:ea typeface="+mn-ea"/>
                  <a:cs typeface="+mn-cs"/>
                </a:rPr>
                <a:t>节点 + 接收端 + 台架 + 管理软件</a:t>
              </a:r>
            </a:p>
          </p:txBody>
        </p:sp>
        <p:sp>
          <p:nvSpPr>
            <p:cNvPr id="15" name="Polygon 15"/>
            <p:cNvSpPr/>
            <p:nvPr/>
          </p:nvSpPr>
          <p:spPr>
            <a:xfrm>
              <a:off x="792480" y="3478149"/>
              <a:ext cx="5067300" cy="1860233"/>
            </a:xfrm>
            <a:custGeom>
              <a:avLst/>
              <a:gdLst/>
              <a:ahLst/>
              <a:cxnLst/>
              <a:rect l="l" t="t" r="r" b="b"/>
              <a:pathLst>
                <a:path w="5067300" h="1860233">
                  <a:moveTo>
                    <a:pt x="0" y="372047"/>
                  </a:moveTo>
                  <a:lnTo>
                    <a:pt x="4107180" y="0"/>
                  </a:lnTo>
                  <a:lnTo>
                    <a:pt x="5067300" y="1488186"/>
                  </a:lnTo>
                  <a:lnTo>
                    <a:pt x="960120" y="1860233"/>
                  </a:lnTo>
                  <a:close/>
                </a:path>
              </a:pathLst>
            </a:custGeom>
            <a:solidFill>
              <a:srgbClr val="103B35"/>
            </a:solidFill>
            <a:ln>
              <a:noFill/>
            </a:ln>
          </p:spPr>
        </p:sp>
        <p:sp>
          <p:nvSpPr>
            <p:cNvPr id="16" name="Polygon 16"/>
            <p:cNvSpPr/>
            <p:nvPr/>
          </p:nvSpPr>
          <p:spPr>
            <a:xfrm>
              <a:off x="792480" y="3297174"/>
              <a:ext cx="5067300" cy="1860233"/>
            </a:xfrm>
            <a:custGeom>
              <a:avLst/>
              <a:gdLst/>
              <a:ahLst/>
              <a:cxnLst/>
              <a:rect l="l" t="t" r="r" b="b"/>
              <a:pathLst>
                <a:path w="5067300" h="1860233">
                  <a:moveTo>
                    <a:pt x="0" y="372047"/>
                  </a:moveTo>
                  <a:lnTo>
                    <a:pt x="4107180" y="0"/>
                  </a:lnTo>
                  <a:lnTo>
                    <a:pt x="5067300" y="1488186"/>
                  </a:lnTo>
                  <a:lnTo>
                    <a:pt x="960120" y="1860233"/>
                  </a:lnTo>
                  <a:close/>
                </a:path>
              </a:pathLst>
            </a:custGeom>
            <a:solidFill>
              <a:srgbClr val="215749"/>
            </a:solidFill>
            <a:ln w="19050">
              <a:solidFill>
                <a:srgbClr val="437966"/>
              </a:solidFill>
            </a:ln>
          </p:spPr>
        </p:sp>
        <p:sp>
          <p:nvSpPr>
            <p:cNvPr id="17" name="Line 17"/>
            <p:cNvSpPr/>
            <p:nvPr/>
          </p:nvSpPr>
          <p:spPr>
            <a:xfrm>
              <a:off x="1030910" y="3490638"/>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18" name="Ellipse 18"/>
            <p:cNvSpPr/>
            <p:nvPr/>
          </p:nvSpPr>
          <p:spPr>
            <a:xfrm>
              <a:off x="1286027" y="3740113"/>
              <a:ext cx="64770" cy="64770"/>
            </a:xfrm>
            <a:prstGeom prst="ellipse">
              <a:avLst/>
            </a:prstGeom>
            <a:solidFill>
              <a:srgbClr val="8EAF7A"/>
            </a:solidFill>
            <a:ln>
              <a:noFill/>
            </a:ln>
          </p:spPr>
        </p:sp>
        <p:sp>
          <p:nvSpPr>
            <p:cNvPr id="19" name="Ellipse 19"/>
            <p:cNvSpPr/>
            <p:nvPr/>
          </p:nvSpPr>
          <p:spPr>
            <a:xfrm>
              <a:off x="1778889" y="3695468"/>
              <a:ext cx="64770" cy="64770"/>
            </a:xfrm>
            <a:prstGeom prst="ellipse">
              <a:avLst/>
            </a:prstGeom>
            <a:solidFill>
              <a:srgbClr val="8EAF7A"/>
            </a:solidFill>
            <a:ln>
              <a:noFill/>
            </a:ln>
          </p:spPr>
        </p:sp>
        <p:sp>
          <p:nvSpPr>
            <p:cNvPr id="20" name="Ellipse 20"/>
            <p:cNvSpPr/>
            <p:nvPr/>
          </p:nvSpPr>
          <p:spPr>
            <a:xfrm>
              <a:off x="2271751" y="3650822"/>
              <a:ext cx="64770" cy="64770"/>
            </a:xfrm>
            <a:prstGeom prst="ellipse">
              <a:avLst/>
            </a:prstGeom>
            <a:solidFill>
              <a:srgbClr val="8EAF7A"/>
            </a:solidFill>
            <a:ln>
              <a:noFill/>
            </a:ln>
          </p:spPr>
        </p:sp>
        <p:sp>
          <p:nvSpPr>
            <p:cNvPr id="21" name="Ellipse 21"/>
            <p:cNvSpPr/>
            <p:nvPr/>
          </p:nvSpPr>
          <p:spPr>
            <a:xfrm>
              <a:off x="2764612" y="3606176"/>
              <a:ext cx="64770" cy="64770"/>
            </a:xfrm>
            <a:prstGeom prst="ellipse">
              <a:avLst/>
            </a:prstGeom>
            <a:solidFill>
              <a:srgbClr val="8EAF7A"/>
            </a:solidFill>
            <a:ln>
              <a:noFill/>
            </a:ln>
          </p:spPr>
        </p:sp>
        <p:sp>
          <p:nvSpPr>
            <p:cNvPr id="22" name="Ellipse 22"/>
            <p:cNvSpPr/>
            <p:nvPr/>
          </p:nvSpPr>
          <p:spPr>
            <a:xfrm>
              <a:off x="3257474" y="3561531"/>
              <a:ext cx="64770" cy="64770"/>
            </a:xfrm>
            <a:prstGeom prst="ellipse">
              <a:avLst/>
            </a:prstGeom>
            <a:solidFill>
              <a:srgbClr val="8EAF7A"/>
            </a:solidFill>
            <a:ln>
              <a:noFill/>
            </a:ln>
          </p:spPr>
        </p:sp>
        <p:sp>
          <p:nvSpPr>
            <p:cNvPr id="23" name="Ellipse 23"/>
            <p:cNvSpPr/>
            <p:nvPr/>
          </p:nvSpPr>
          <p:spPr>
            <a:xfrm>
              <a:off x="3750335" y="3516885"/>
              <a:ext cx="64770" cy="64770"/>
            </a:xfrm>
            <a:prstGeom prst="ellipse">
              <a:avLst/>
            </a:prstGeom>
            <a:solidFill>
              <a:srgbClr val="8EAF7A"/>
            </a:solidFill>
            <a:ln>
              <a:noFill/>
            </a:ln>
          </p:spPr>
        </p:sp>
        <p:sp>
          <p:nvSpPr>
            <p:cNvPr id="24" name="Ellipse 24"/>
            <p:cNvSpPr/>
            <p:nvPr/>
          </p:nvSpPr>
          <p:spPr>
            <a:xfrm>
              <a:off x="4243197" y="3472240"/>
              <a:ext cx="64770" cy="64770"/>
            </a:xfrm>
            <a:prstGeom prst="ellipse">
              <a:avLst/>
            </a:prstGeom>
            <a:solidFill>
              <a:srgbClr val="8EAF7A"/>
            </a:solidFill>
            <a:ln>
              <a:noFill/>
            </a:ln>
          </p:spPr>
        </p:sp>
        <p:sp>
          <p:nvSpPr>
            <p:cNvPr id="25" name="Ellipse 25"/>
            <p:cNvSpPr/>
            <p:nvPr/>
          </p:nvSpPr>
          <p:spPr>
            <a:xfrm>
              <a:off x="4736059" y="3427594"/>
              <a:ext cx="64770" cy="64770"/>
            </a:xfrm>
            <a:prstGeom prst="ellipse">
              <a:avLst/>
            </a:prstGeom>
            <a:solidFill>
              <a:srgbClr val="8EAF7A"/>
            </a:solidFill>
            <a:ln>
              <a:noFill/>
            </a:ln>
          </p:spPr>
        </p:sp>
        <p:sp>
          <p:nvSpPr>
            <p:cNvPr id="26" name="Line 26"/>
            <p:cNvSpPr/>
            <p:nvPr/>
          </p:nvSpPr>
          <p:spPr>
            <a:xfrm>
              <a:off x="1155725" y="3684102"/>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27" name="Ellipse 27"/>
            <p:cNvSpPr/>
            <p:nvPr/>
          </p:nvSpPr>
          <p:spPr>
            <a:xfrm>
              <a:off x="1410843" y="3933577"/>
              <a:ext cx="64770" cy="64770"/>
            </a:xfrm>
            <a:prstGeom prst="ellipse">
              <a:avLst/>
            </a:prstGeom>
            <a:solidFill>
              <a:srgbClr val="8EAF7A"/>
            </a:solidFill>
            <a:ln>
              <a:noFill/>
            </a:ln>
          </p:spPr>
        </p:sp>
        <p:sp>
          <p:nvSpPr>
            <p:cNvPr id="28" name="Ellipse 28"/>
            <p:cNvSpPr/>
            <p:nvPr/>
          </p:nvSpPr>
          <p:spPr>
            <a:xfrm>
              <a:off x="1903705" y="3888932"/>
              <a:ext cx="64770" cy="64770"/>
            </a:xfrm>
            <a:prstGeom prst="ellipse">
              <a:avLst/>
            </a:prstGeom>
            <a:solidFill>
              <a:srgbClr val="8EAF7A"/>
            </a:solidFill>
            <a:ln>
              <a:noFill/>
            </a:ln>
          </p:spPr>
        </p:sp>
        <p:sp>
          <p:nvSpPr>
            <p:cNvPr id="29" name="Ellipse 29"/>
            <p:cNvSpPr/>
            <p:nvPr/>
          </p:nvSpPr>
          <p:spPr>
            <a:xfrm>
              <a:off x="2396566" y="3844286"/>
              <a:ext cx="64770" cy="64770"/>
            </a:xfrm>
            <a:prstGeom prst="ellipse">
              <a:avLst/>
            </a:prstGeom>
            <a:solidFill>
              <a:srgbClr val="8EAF7A"/>
            </a:solidFill>
            <a:ln>
              <a:noFill/>
            </a:ln>
          </p:spPr>
        </p:sp>
        <p:sp>
          <p:nvSpPr>
            <p:cNvPr id="30" name="Ellipse 30"/>
            <p:cNvSpPr/>
            <p:nvPr/>
          </p:nvSpPr>
          <p:spPr>
            <a:xfrm>
              <a:off x="2889428" y="3799641"/>
              <a:ext cx="64770" cy="64770"/>
            </a:xfrm>
            <a:prstGeom prst="ellipse">
              <a:avLst/>
            </a:prstGeom>
            <a:solidFill>
              <a:srgbClr val="8EAF7A"/>
            </a:solidFill>
            <a:ln>
              <a:noFill/>
            </a:ln>
          </p:spPr>
        </p:sp>
        <p:sp>
          <p:nvSpPr>
            <p:cNvPr id="31" name="Ellipse 31"/>
            <p:cNvSpPr/>
            <p:nvPr/>
          </p:nvSpPr>
          <p:spPr>
            <a:xfrm>
              <a:off x="3382289" y="3754995"/>
              <a:ext cx="64770" cy="64770"/>
            </a:xfrm>
            <a:prstGeom prst="ellipse">
              <a:avLst/>
            </a:prstGeom>
            <a:solidFill>
              <a:srgbClr val="8EAF7A"/>
            </a:solidFill>
            <a:ln>
              <a:noFill/>
            </a:ln>
          </p:spPr>
        </p:sp>
        <p:sp>
          <p:nvSpPr>
            <p:cNvPr id="32" name="Ellipse 32"/>
            <p:cNvSpPr/>
            <p:nvPr/>
          </p:nvSpPr>
          <p:spPr>
            <a:xfrm>
              <a:off x="3875151" y="3710349"/>
              <a:ext cx="64770" cy="64770"/>
            </a:xfrm>
            <a:prstGeom prst="ellipse">
              <a:avLst/>
            </a:prstGeom>
            <a:solidFill>
              <a:srgbClr val="8EAF7A"/>
            </a:solidFill>
            <a:ln>
              <a:noFill/>
            </a:ln>
          </p:spPr>
        </p:sp>
        <p:sp>
          <p:nvSpPr>
            <p:cNvPr id="33" name="Ellipse 33"/>
            <p:cNvSpPr/>
            <p:nvPr/>
          </p:nvSpPr>
          <p:spPr>
            <a:xfrm>
              <a:off x="4368013" y="3665704"/>
              <a:ext cx="64770" cy="64770"/>
            </a:xfrm>
            <a:prstGeom prst="ellipse">
              <a:avLst/>
            </a:prstGeom>
            <a:solidFill>
              <a:srgbClr val="8EAF7A"/>
            </a:solidFill>
            <a:ln>
              <a:noFill/>
            </a:ln>
          </p:spPr>
        </p:sp>
        <p:sp>
          <p:nvSpPr>
            <p:cNvPr id="34" name="Ellipse 34"/>
            <p:cNvSpPr/>
            <p:nvPr/>
          </p:nvSpPr>
          <p:spPr>
            <a:xfrm>
              <a:off x="4860874" y="3621058"/>
              <a:ext cx="64770" cy="64770"/>
            </a:xfrm>
            <a:prstGeom prst="ellipse">
              <a:avLst/>
            </a:prstGeom>
            <a:solidFill>
              <a:srgbClr val="8EAF7A"/>
            </a:solidFill>
            <a:ln>
              <a:noFill/>
            </a:ln>
          </p:spPr>
        </p:sp>
        <p:sp>
          <p:nvSpPr>
            <p:cNvPr id="35" name="Line 35"/>
            <p:cNvSpPr/>
            <p:nvPr/>
          </p:nvSpPr>
          <p:spPr>
            <a:xfrm>
              <a:off x="1280541" y="3877567"/>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36" name="Ellipse 36"/>
            <p:cNvSpPr/>
            <p:nvPr/>
          </p:nvSpPr>
          <p:spPr>
            <a:xfrm>
              <a:off x="1535659" y="4127042"/>
              <a:ext cx="64770" cy="64770"/>
            </a:xfrm>
            <a:prstGeom prst="ellipse">
              <a:avLst/>
            </a:prstGeom>
            <a:solidFill>
              <a:srgbClr val="8EAF7A"/>
            </a:solidFill>
            <a:ln>
              <a:noFill/>
            </a:ln>
          </p:spPr>
        </p:sp>
        <p:sp>
          <p:nvSpPr>
            <p:cNvPr id="37" name="Ellipse 37"/>
            <p:cNvSpPr/>
            <p:nvPr/>
          </p:nvSpPr>
          <p:spPr>
            <a:xfrm>
              <a:off x="2028520" y="4082396"/>
              <a:ext cx="64770" cy="64770"/>
            </a:xfrm>
            <a:prstGeom prst="ellipse">
              <a:avLst/>
            </a:prstGeom>
            <a:solidFill>
              <a:srgbClr val="8EAF7A"/>
            </a:solidFill>
            <a:ln>
              <a:noFill/>
            </a:ln>
          </p:spPr>
        </p:sp>
        <p:sp>
          <p:nvSpPr>
            <p:cNvPr id="38" name="Ellipse 38"/>
            <p:cNvSpPr/>
            <p:nvPr/>
          </p:nvSpPr>
          <p:spPr>
            <a:xfrm>
              <a:off x="2521382" y="4037750"/>
              <a:ext cx="64770" cy="64770"/>
            </a:xfrm>
            <a:prstGeom prst="ellipse">
              <a:avLst/>
            </a:prstGeom>
            <a:solidFill>
              <a:srgbClr val="8EAF7A"/>
            </a:solidFill>
            <a:ln>
              <a:noFill/>
            </a:ln>
          </p:spPr>
        </p:sp>
        <p:sp>
          <p:nvSpPr>
            <p:cNvPr id="39" name="Ellipse 39"/>
            <p:cNvSpPr/>
            <p:nvPr/>
          </p:nvSpPr>
          <p:spPr>
            <a:xfrm>
              <a:off x="3014243" y="3993105"/>
              <a:ext cx="64770" cy="64770"/>
            </a:xfrm>
            <a:prstGeom prst="ellipse">
              <a:avLst/>
            </a:prstGeom>
            <a:solidFill>
              <a:srgbClr val="8EAF7A"/>
            </a:solidFill>
            <a:ln>
              <a:noFill/>
            </a:ln>
          </p:spPr>
        </p:sp>
        <p:sp>
          <p:nvSpPr>
            <p:cNvPr id="40" name="Ellipse 40"/>
            <p:cNvSpPr/>
            <p:nvPr/>
          </p:nvSpPr>
          <p:spPr>
            <a:xfrm>
              <a:off x="3507105" y="3948459"/>
              <a:ext cx="64770" cy="64770"/>
            </a:xfrm>
            <a:prstGeom prst="ellipse">
              <a:avLst/>
            </a:prstGeom>
            <a:solidFill>
              <a:srgbClr val="8EAF7A"/>
            </a:solidFill>
            <a:ln>
              <a:noFill/>
            </a:ln>
          </p:spPr>
        </p:sp>
        <p:sp>
          <p:nvSpPr>
            <p:cNvPr id="41" name="Ellipse 41"/>
            <p:cNvSpPr/>
            <p:nvPr/>
          </p:nvSpPr>
          <p:spPr>
            <a:xfrm>
              <a:off x="3999967" y="3903814"/>
              <a:ext cx="64770" cy="64770"/>
            </a:xfrm>
            <a:prstGeom prst="ellipse">
              <a:avLst/>
            </a:prstGeom>
            <a:solidFill>
              <a:srgbClr val="8EAF7A"/>
            </a:solidFill>
            <a:ln>
              <a:noFill/>
            </a:ln>
          </p:spPr>
        </p:sp>
        <p:sp>
          <p:nvSpPr>
            <p:cNvPr id="42" name="Ellipse 42"/>
            <p:cNvSpPr/>
            <p:nvPr/>
          </p:nvSpPr>
          <p:spPr>
            <a:xfrm>
              <a:off x="4492828" y="3859168"/>
              <a:ext cx="64770" cy="64770"/>
            </a:xfrm>
            <a:prstGeom prst="ellipse">
              <a:avLst/>
            </a:prstGeom>
            <a:solidFill>
              <a:srgbClr val="8EAF7A"/>
            </a:solidFill>
            <a:ln>
              <a:noFill/>
            </a:ln>
          </p:spPr>
        </p:sp>
        <p:sp>
          <p:nvSpPr>
            <p:cNvPr id="43" name="Ellipse 43"/>
            <p:cNvSpPr/>
            <p:nvPr/>
          </p:nvSpPr>
          <p:spPr>
            <a:xfrm>
              <a:off x="4985690" y="3814522"/>
              <a:ext cx="64770" cy="64770"/>
            </a:xfrm>
            <a:prstGeom prst="ellipse">
              <a:avLst/>
            </a:prstGeom>
            <a:solidFill>
              <a:srgbClr val="8EAF7A"/>
            </a:solidFill>
            <a:ln>
              <a:noFill/>
            </a:ln>
          </p:spPr>
        </p:sp>
        <p:sp>
          <p:nvSpPr>
            <p:cNvPr id="44" name="Line 44"/>
            <p:cNvSpPr/>
            <p:nvPr/>
          </p:nvSpPr>
          <p:spPr>
            <a:xfrm>
              <a:off x="1405357" y="4071031"/>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45" name="Ellipse 45"/>
            <p:cNvSpPr/>
            <p:nvPr/>
          </p:nvSpPr>
          <p:spPr>
            <a:xfrm>
              <a:off x="1660474" y="4320506"/>
              <a:ext cx="64770" cy="64770"/>
            </a:xfrm>
            <a:prstGeom prst="ellipse">
              <a:avLst/>
            </a:prstGeom>
            <a:solidFill>
              <a:srgbClr val="8EAF7A"/>
            </a:solidFill>
            <a:ln>
              <a:noFill/>
            </a:ln>
          </p:spPr>
        </p:sp>
        <p:sp>
          <p:nvSpPr>
            <p:cNvPr id="46" name="Ellipse 46"/>
            <p:cNvSpPr/>
            <p:nvPr/>
          </p:nvSpPr>
          <p:spPr>
            <a:xfrm>
              <a:off x="2153336" y="4275860"/>
              <a:ext cx="64770" cy="64770"/>
            </a:xfrm>
            <a:prstGeom prst="ellipse">
              <a:avLst/>
            </a:prstGeom>
            <a:solidFill>
              <a:srgbClr val="8EAF7A"/>
            </a:solidFill>
            <a:ln>
              <a:noFill/>
            </a:ln>
          </p:spPr>
        </p:sp>
        <p:sp>
          <p:nvSpPr>
            <p:cNvPr id="47" name="Ellipse 47"/>
            <p:cNvSpPr/>
            <p:nvPr/>
          </p:nvSpPr>
          <p:spPr>
            <a:xfrm>
              <a:off x="2646197" y="4231215"/>
              <a:ext cx="64770" cy="64770"/>
            </a:xfrm>
            <a:prstGeom prst="ellipse">
              <a:avLst/>
            </a:prstGeom>
            <a:solidFill>
              <a:srgbClr val="8EAF7A"/>
            </a:solidFill>
            <a:ln>
              <a:noFill/>
            </a:ln>
          </p:spPr>
        </p:sp>
        <p:sp>
          <p:nvSpPr>
            <p:cNvPr id="48" name="Ellipse 48"/>
            <p:cNvSpPr/>
            <p:nvPr/>
          </p:nvSpPr>
          <p:spPr>
            <a:xfrm>
              <a:off x="3139059" y="4186569"/>
              <a:ext cx="64770" cy="64770"/>
            </a:xfrm>
            <a:prstGeom prst="ellipse">
              <a:avLst/>
            </a:prstGeom>
            <a:solidFill>
              <a:srgbClr val="8EAF7A"/>
            </a:solidFill>
            <a:ln>
              <a:noFill/>
            </a:ln>
          </p:spPr>
        </p:sp>
        <p:sp>
          <p:nvSpPr>
            <p:cNvPr id="49" name="Ellipse 49"/>
            <p:cNvSpPr/>
            <p:nvPr/>
          </p:nvSpPr>
          <p:spPr>
            <a:xfrm>
              <a:off x="3631921" y="4141923"/>
              <a:ext cx="64770" cy="64770"/>
            </a:xfrm>
            <a:prstGeom prst="ellipse">
              <a:avLst/>
            </a:prstGeom>
            <a:solidFill>
              <a:srgbClr val="8EAF7A"/>
            </a:solidFill>
            <a:ln>
              <a:noFill/>
            </a:ln>
          </p:spPr>
        </p:sp>
        <p:sp>
          <p:nvSpPr>
            <p:cNvPr id="50" name="Ellipse 50"/>
            <p:cNvSpPr/>
            <p:nvPr/>
          </p:nvSpPr>
          <p:spPr>
            <a:xfrm>
              <a:off x="4124782" y="4097278"/>
              <a:ext cx="64770" cy="64770"/>
            </a:xfrm>
            <a:prstGeom prst="ellipse">
              <a:avLst/>
            </a:prstGeom>
            <a:solidFill>
              <a:srgbClr val="8EAF7A"/>
            </a:solidFill>
            <a:ln>
              <a:noFill/>
            </a:ln>
          </p:spPr>
        </p:sp>
        <p:sp>
          <p:nvSpPr>
            <p:cNvPr id="51" name="Ellipse 51"/>
            <p:cNvSpPr/>
            <p:nvPr/>
          </p:nvSpPr>
          <p:spPr>
            <a:xfrm>
              <a:off x="4617644" y="4052632"/>
              <a:ext cx="64770" cy="64770"/>
            </a:xfrm>
            <a:prstGeom prst="ellipse">
              <a:avLst/>
            </a:prstGeom>
            <a:solidFill>
              <a:srgbClr val="8EAF7A"/>
            </a:solidFill>
            <a:ln>
              <a:noFill/>
            </a:ln>
          </p:spPr>
        </p:sp>
        <p:sp>
          <p:nvSpPr>
            <p:cNvPr id="52" name="Ellipse 52"/>
            <p:cNvSpPr/>
            <p:nvPr/>
          </p:nvSpPr>
          <p:spPr>
            <a:xfrm>
              <a:off x="5110505" y="4007987"/>
              <a:ext cx="64770" cy="64770"/>
            </a:xfrm>
            <a:prstGeom prst="ellipse">
              <a:avLst/>
            </a:prstGeom>
            <a:solidFill>
              <a:srgbClr val="8EAF7A"/>
            </a:solidFill>
            <a:ln>
              <a:noFill/>
            </a:ln>
          </p:spPr>
        </p:sp>
        <p:sp>
          <p:nvSpPr>
            <p:cNvPr id="53" name="Line 53"/>
            <p:cNvSpPr/>
            <p:nvPr/>
          </p:nvSpPr>
          <p:spPr>
            <a:xfrm>
              <a:off x="1530172" y="4264495"/>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54" name="Ellipse 54"/>
            <p:cNvSpPr/>
            <p:nvPr/>
          </p:nvSpPr>
          <p:spPr>
            <a:xfrm>
              <a:off x="1785290" y="4513970"/>
              <a:ext cx="64770" cy="64770"/>
            </a:xfrm>
            <a:prstGeom prst="ellipse">
              <a:avLst/>
            </a:prstGeom>
            <a:solidFill>
              <a:srgbClr val="8EAF7A"/>
            </a:solidFill>
            <a:ln>
              <a:noFill/>
            </a:ln>
          </p:spPr>
        </p:sp>
        <p:sp>
          <p:nvSpPr>
            <p:cNvPr id="55" name="Ellipse 55"/>
            <p:cNvSpPr/>
            <p:nvPr/>
          </p:nvSpPr>
          <p:spPr>
            <a:xfrm>
              <a:off x="2278151" y="4469324"/>
              <a:ext cx="64770" cy="64770"/>
            </a:xfrm>
            <a:prstGeom prst="ellipse">
              <a:avLst/>
            </a:prstGeom>
            <a:solidFill>
              <a:srgbClr val="8EAF7A"/>
            </a:solidFill>
            <a:ln>
              <a:noFill/>
            </a:ln>
          </p:spPr>
        </p:sp>
        <p:sp>
          <p:nvSpPr>
            <p:cNvPr id="56" name="Ellipse 56"/>
            <p:cNvSpPr/>
            <p:nvPr/>
          </p:nvSpPr>
          <p:spPr>
            <a:xfrm>
              <a:off x="2771013" y="4424679"/>
              <a:ext cx="64770" cy="64770"/>
            </a:xfrm>
            <a:prstGeom prst="ellipse">
              <a:avLst/>
            </a:prstGeom>
            <a:solidFill>
              <a:srgbClr val="8EAF7A"/>
            </a:solidFill>
            <a:ln>
              <a:noFill/>
            </a:ln>
          </p:spPr>
        </p:sp>
        <p:sp>
          <p:nvSpPr>
            <p:cNvPr id="57" name="Ellipse 57"/>
            <p:cNvSpPr/>
            <p:nvPr/>
          </p:nvSpPr>
          <p:spPr>
            <a:xfrm>
              <a:off x="3263875" y="4380033"/>
              <a:ext cx="64770" cy="64770"/>
            </a:xfrm>
            <a:prstGeom prst="ellipse">
              <a:avLst/>
            </a:prstGeom>
            <a:solidFill>
              <a:srgbClr val="8EAF7A"/>
            </a:solidFill>
            <a:ln>
              <a:noFill/>
            </a:ln>
          </p:spPr>
        </p:sp>
        <p:sp>
          <p:nvSpPr>
            <p:cNvPr id="58" name="Ellipse 58"/>
            <p:cNvSpPr/>
            <p:nvPr/>
          </p:nvSpPr>
          <p:spPr>
            <a:xfrm>
              <a:off x="3756736" y="4335388"/>
              <a:ext cx="64770" cy="64770"/>
            </a:xfrm>
            <a:prstGeom prst="ellipse">
              <a:avLst/>
            </a:prstGeom>
            <a:solidFill>
              <a:srgbClr val="8EAF7A"/>
            </a:solidFill>
            <a:ln>
              <a:noFill/>
            </a:ln>
          </p:spPr>
        </p:sp>
        <p:sp>
          <p:nvSpPr>
            <p:cNvPr id="59" name="Ellipse 59"/>
            <p:cNvSpPr/>
            <p:nvPr/>
          </p:nvSpPr>
          <p:spPr>
            <a:xfrm>
              <a:off x="4249598" y="4290742"/>
              <a:ext cx="64770" cy="64770"/>
            </a:xfrm>
            <a:prstGeom prst="ellipse">
              <a:avLst/>
            </a:prstGeom>
            <a:solidFill>
              <a:srgbClr val="8EAF7A"/>
            </a:solidFill>
            <a:ln>
              <a:noFill/>
            </a:ln>
          </p:spPr>
        </p:sp>
        <p:sp>
          <p:nvSpPr>
            <p:cNvPr id="60" name="Ellipse 60"/>
            <p:cNvSpPr/>
            <p:nvPr/>
          </p:nvSpPr>
          <p:spPr>
            <a:xfrm>
              <a:off x="4742459" y="4246096"/>
              <a:ext cx="64770" cy="64770"/>
            </a:xfrm>
            <a:prstGeom prst="ellipse">
              <a:avLst/>
            </a:prstGeom>
            <a:solidFill>
              <a:srgbClr val="8EAF7A"/>
            </a:solidFill>
            <a:ln>
              <a:noFill/>
            </a:ln>
          </p:spPr>
        </p:sp>
        <p:sp>
          <p:nvSpPr>
            <p:cNvPr id="61" name="Ellipse 61"/>
            <p:cNvSpPr/>
            <p:nvPr/>
          </p:nvSpPr>
          <p:spPr>
            <a:xfrm>
              <a:off x="5235321" y="4201451"/>
              <a:ext cx="64770" cy="64770"/>
            </a:xfrm>
            <a:prstGeom prst="ellipse">
              <a:avLst/>
            </a:prstGeom>
            <a:solidFill>
              <a:srgbClr val="8EAF7A"/>
            </a:solidFill>
            <a:ln>
              <a:noFill/>
            </a:ln>
          </p:spPr>
        </p:sp>
        <p:sp>
          <p:nvSpPr>
            <p:cNvPr id="62" name="Line 62"/>
            <p:cNvSpPr/>
            <p:nvPr/>
          </p:nvSpPr>
          <p:spPr>
            <a:xfrm>
              <a:off x="1654988" y="4457959"/>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63" name="Ellipse 63"/>
            <p:cNvSpPr/>
            <p:nvPr/>
          </p:nvSpPr>
          <p:spPr>
            <a:xfrm>
              <a:off x="1910105" y="4707434"/>
              <a:ext cx="64770" cy="64770"/>
            </a:xfrm>
            <a:prstGeom prst="ellipse">
              <a:avLst/>
            </a:prstGeom>
            <a:solidFill>
              <a:srgbClr val="8EAF7A"/>
            </a:solidFill>
            <a:ln>
              <a:noFill/>
            </a:ln>
          </p:spPr>
        </p:sp>
        <p:sp>
          <p:nvSpPr>
            <p:cNvPr id="64" name="Ellipse 64"/>
            <p:cNvSpPr/>
            <p:nvPr/>
          </p:nvSpPr>
          <p:spPr>
            <a:xfrm>
              <a:off x="2402967" y="4662788"/>
              <a:ext cx="64770" cy="64770"/>
            </a:xfrm>
            <a:prstGeom prst="ellipse">
              <a:avLst/>
            </a:prstGeom>
            <a:solidFill>
              <a:srgbClr val="8EAF7A"/>
            </a:solidFill>
            <a:ln>
              <a:noFill/>
            </a:ln>
          </p:spPr>
        </p:sp>
        <p:sp>
          <p:nvSpPr>
            <p:cNvPr id="65" name="Ellipse 65"/>
            <p:cNvSpPr/>
            <p:nvPr/>
          </p:nvSpPr>
          <p:spPr>
            <a:xfrm>
              <a:off x="2895829" y="4618143"/>
              <a:ext cx="64770" cy="64770"/>
            </a:xfrm>
            <a:prstGeom prst="ellipse">
              <a:avLst/>
            </a:prstGeom>
            <a:solidFill>
              <a:srgbClr val="8EAF7A"/>
            </a:solidFill>
            <a:ln>
              <a:noFill/>
            </a:ln>
          </p:spPr>
        </p:sp>
        <p:sp>
          <p:nvSpPr>
            <p:cNvPr id="66" name="Ellipse 66"/>
            <p:cNvSpPr/>
            <p:nvPr/>
          </p:nvSpPr>
          <p:spPr>
            <a:xfrm>
              <a:off x="3388690" y="4573497"/>
              <a:ext cx="64770" cy="64770"/>
            </a:xfrm>
            <a:prstGeom prst="ellipse">
              <a:avLst/>
            </a:prstGeom>
            <a:solidFill>
              <a:srgbClr val="8EAF7A"/>
            </a:solidFill>
            <a:ln>
              <a:noFill/>
            </a:ln>
          </p:spPr>
        </p:sp>
        <p:sp>
          <p:nvSpPr>
            <p:cNvPr id="67" name="Ellipse 67"/>
            <p:cNvSpPr/>
            <p:nvPr/>
          </p:nvSpPr>
          <p:spPr>
            <a:xfrm>
              <a:off x="3881552" y="4528852"/>
              <a:ext cx="64770" cy="64770"/>
            </a:xfrm>
            <a:prstGeom prst="ellipse">
              <a:avLst/>
            </a:prstGeom>
            <a:solidFill>
              <a:srgbClr val="8EAF7A"/>
            </a:solidFill>
            <a:ln>
              <a:noFill/>
            </a:ln>
          </p:spPr>
        </p:sp>
        <p:sp>
          <p:nvSpPr>
            <p:cNvPr id="68" name="Ellipse 68"/>
            <p:cNvSpPr/>
            <p:nvPr/>
          </p:nvSpPr>
          <p:spPr>
            <a:xfrm>
              <a:off x="4374413" y="4484206"/>
              <a:ext cx="64770" cy="64770"/>
            </a:xfrm>
            <a:prstGeom prst="ellipse">
              <a:avLst/>
            </a:prstGeom>
            <a:solidFill>
              <a:srgbClr val="8EAF7A"/>
            </a:solidFill>
            <a:ln>
              <a:noFill/>
            </a:ln>
          </p:spPr>
        </p:sp>
        <p:sp>
          <p:nvSpPr>
            <p:cNvPr id="69" name="Ellipse 69"/>
            <p:cNvSpPr/>
            <p:nvPr/>
          </p:nvSpPr>
          <p:spPr>
            <a:xfrm>
              <a:off x="4867275" y="4439561"/>
              <a:ext cx="64770" cy="64770"/>
            </a:xfrm>
            <a:prstGeom prst="ellipse">
              <a:avLst/>
            </a:prstGeom>
            <a:solidFill>
              <a:srgbClr val="8EAF7A"/>
            </a:solidFill>
            <a:ln>
              <a:noFill/>
            </a:ln>
          </p:spPr>
        </p:sp>
        <p:sp>
          <p:nvSpPr>
            <p:cNvPr id="70" name="Ellipse 70"/>
            <p:cNvSpPr/>
            <p:nvPr/>
          </p:nvSpPr>
          <p:spPr>
            <a:xfrm>
              <a:off x="5360137" y="4394915"/>
              <a:ext cx="64770" cy="64770"/>
            </a:xfrm>
            <a:prstGeom prst="ellipse">
              <a:avLst/>
            </a:prstGeom>
            <a:solidFill>
              <a:srgbClr val="8EAF7A"/>
            </a:solidFill>
            <a:ln>
              <a:noFill/>
            </a:ln>
          </p:spPr>
        </p:sp>
        <p:sp>
          <p:nvSpPr>
            <p:cNvPr id="71" name="Line 71"/>
            <p:cNvSpPr/>
            <p:nvPr/>
          </p:nvSpPr>
          <p:spPr>
            <a:xfrm>
              <a:off x="1779803" y="4651423"/>
              <a:ext cx="3819677" cy="346003"/>
            </a:xfrm>
            <a:custGeom>
              <a:avLst/>
              <a:gdLst/>
              <a:ahLst/>
              <a:cxnLst/>
              <a:rect l="l" t="t" r="r" b="b"/>
              <a:pathLst>
                <a:path w="3819677" h="346003">
                  <a:moveTo>
                    <a:pt x="0" y="346003"/>
                  </a:moveTo>
                  <a:lnTo>
                    <a:pt x="3819677" y="0"/>
                  </a:lnTo>
                </a:path>
              </a:pathLst>
            </a:custGeom>
            <a:noFill/>
            <a:ln w="47625">
              <a:solidFill>
                <a:srgbClr val="4F8165"/>
              </a:solidFill>
            </a:ln>
          </p:spPr>
        </p:sp>
        <p:sp>
          <p:nvSpPr>
            <p:cNvPr id="72" name="Ellipse 72"/>
            <p:cNvSpPr/>
            <p:nvPr/>
          </p:nvSpPr>
          <p:spPr>
            <a:xfrm>
              <a:off x="2034921" y="4900898"/>
              <a:ext cx="64770" cy="64770"/>
            </a:xfrm>
            <a:prstGeom prst="ellipse">
              <a:avLst/>
            </a:prstGeom>
            <a:solidFill>
              <a:srgbClr val="8EAF7A"/>
            </a:solidFill>
            <a:ln>
              <a:noFill/>
            </a:ln>
          </p:spPr>
        </p:sp>
        <p:sp>
          <p:nvSpPr>
            <p:cNvPr id="73" name="Ellipse 73"/>
            <p:cNvSpPr/>
            <p:nvPr/>
          </p:nvSpPr>
          <p:spPr>
            <a:xfrm>
              <a:off x="2527783" y="4856253"/>
              <a:ext cx="64770" cy="64770"/>
            </a:xfrm>
            <a:prstGeom prst="ellipse">
              <a:avLst/>
            </a:prstGeom>
            <a:solidFill>
              <a:srgbClr val="8EAF7A"/>
            </a:solidFill>
            <a:ln>
              <a:noFill/>
            </a:ln>
          </p:spPr>
        </p:sp>
        <p:sp>
          <p:nvSpPr>
            <p:cNvPr id="74" name="Ellipse 74"/>
            <p:cNvSpPr/>
            <p:nvPr/>
          </p:nvSpPr>
          <p:spPr>
            <a:xfrm>
              <a:off x="3020644" y="4811607"/>
              <a:ext cx="64770" cy="64770"/>
            </a:xfrm>
            <a:prstGeom prst="ellipse">
              <a:avLst/>
            </a:prstGeom>
            <a:solidFill>
              <a:srgbClr val="8EAF7A"/>
            </a:solidFill>
            <a:ln>
              <a:noFill/>
            </a:ln>
          </p:spPr>
        </p:sp>
        <p:sp>
          <p:nvSpPr>
            <p:cNvPr id="75" name="Ellipse 75"/>
            <p:cNvSpPr/>
            <p:nvPr/>
          </p:nvSpPr>
          <p:spPr>
            <a:xfrm>
              <a:off x="3513506" y="4766962"/>
              <a:ext cx="64770" cy="64770"/>
            </a:xfrm>
            <a:prstGeom prst="ellipse">
              <a:avLst/>
            </a:prstGeom>
            <a:solidFill>
              <a:srgbClr val="8EAF7A"/>
            </a:solidFill>
            <a:ln>
              <a:noFill/>
            </a:ln>
          </p:spPr>
        </p:sp>
        <p:sp>
          <p:nvSpPr>
            <p:cNvPr id="76" name="Ellipse 76"/>
            <p:cNvSpPr/>
            <p:nvPr/>
          </p:nvSpPr>
          <p:spPr>
            <a:xfrm>
              <a:off x="4006367" y="4722316"/>
              <a:ext cx="64770" cy="64770"/>
            </a:xfrm>
            <a:prstGeom prst="ellipse">
              <a:avLst/>
            </a:prstGeom>
            <a:solidFill>
              <a:srgbClr val="8EAF7A"/>
            </a:solidFill>
            <a:ln>
              <a:noFill/>
            </a:ln>
          </p:spPr>
        </p:sp>
        <p:sp>
          <p:nvSpPr>
            <p:cNvPr id="77" name="Ellipse 77"/>
            <p:cNvSpPr/>
            <p:nvPr/>
          </p:nvSpPr>
          <p:spPr>
            <a:xfrm>
              <a:off x="4499229" y="4677670"/>
              <a:ext cx="64770" cy="64770"/>
            </a:xfrm>
            <a:prstGeom prst="ellipse">
              <a:avLst/>
            </a:prstGeom>
            <a:solidFill>
              <a:srgbClr val="8EAF7A"/>
            </a:solidFill>
            <a:ln>
              <a:noFill/>
            </a:ln>
          </p:spPr>
        </p:sp>
        <p:sp>
          <p:nvSpPr>
            <p:cNvPr id="78" name="Ellipse 78"/>
            <p:cNvSpPr/>
            <p:nvPr/>
          </p:nvSpPr>
          <p:spPr>
            <a:xfrm>
              <a:off x="4992091" y="4633025"/>
              <a:ext cx="64770" cy="64770"/>
            </a:xfrm>
            <a:prstGeom prst="ellipse">
              <a:avLst/>
            </a:prstGeom>
            <a:solidFill>
              <a:srgbClr val="8EAF7A"/>
            </a:solidFill>
            <a:ln>
              <a:noFill/>
            </a:ln>
          </p:spPr>
        </p:sp>
        <p:sp>
          <p:nvSpPr>
            <p:cNvPr id="79" name="Ellipse 79"/>
            <p:cNvSpPr/>
            <p:nvPr/>
          </p:nvSpPr>
          <p:spPr>
            <a:xfrm>
              <a:off x="5484952" y="4588379"/>
              <a:ext cx="64770" cy="64770"/>
            </a:xfrm>
            <a:prstGeom prst="ellipse">
              <a:avLst/>
            </a:prstGeom>
            <a:solidFill>
              <a:srgbClr val="8EAF7A"/>
            </a:solidFill>
            <a:ln>
              <a:noFill/>
            </a:ln>
          </p:spPr>
        </p:sp>
        <p:sp>
          <p:nvSpPr>
            <p:cNvPr id="80" name="Line 80"/>
            <p:cNvSpPr/>
            <p:nvPr/>
          </p:nvSpPr>
          <p:spPr>
            <a:xfrm>
              <a:off x="1033577" y="3773394"/>
              <a:ext cx="825703" cy="1279840"/>
            </a:xfrm>
            <a:custGeom>
              <a:avLst/>
              <a:gdLst/>
              <a:ahLst/>
              <a:cxnLst/>
              <a:rect l="l" t="t" r="r" b="b"/>
              <a:pathLst>
                <a:path w="825703" h="1279840">
                  <a:moveTo>
                    <a:pt x="0" y="0"/>
                  </a:moveTo>
                  <a:lnTo>
                    <a:pt x="825703" y="1279840"/>
                  </a:lnTo>
                </a:path>
              </a:pathLst>
            </a:custGeom>
            <a:noFill/>
            <a:ln w="66675">
              <a:solidFill>
                <a:srgbClr val="78DFC5"/>
              </a:solidFill>
            </a:ln>
          </p:spPr>
        </p:sp>
        <p:sp>
          <p:nvSpPr>
            <p:cNvPr id="81" name="Line 81"/>
            <p:cNvSpPr/>
            <p:nvPr/>
          </p:nvSpPr>
          <p:spPr>
            <a:xfrm>
              <a:off x="1196797" y="3684102"/>
              <a:ext cx="3778606" cy="342283"/>
            </a:xfrm>
            <a:custGeom>
              <a:avLst/>
              <a:gdLst/>
              <a:ahLst/>
              <a:cxnLst/>
              <a:rect l="l" t="t" r="r" b="b"/>
              <a:pathLst>
                <a:path w="3778606" h="342283">
                  <a:moveTo>
                    <a:pt x="0" y="342283"/>
                  </a:moveTo>
                  <a:lnTo>
                    <a:pt x="3778606" y="0"/>
                  </a:lnTo>
                </a:path>
              </a:pathLst>
            </a:custGeom>
            <a:noFill/>
            <a:ln w="28575">
              <a:solidFill>
                <a:srgbClr val="78DFC5"/>
              </a:solidFill>
            </a:ln>
          </p:spPr>
        </p:sp>
        <p:sp>
          <p:nvSpPr>
            <p:cNvPr id="82" name="Line 82"/>
            <p:cNvSpPr/>
            <p:nvPr/>
          </p:nvSpPr>
          <p:spPr>
            <a:xfrm>
              <a:off x="1446428" y="4071031"/>
              <a:ext cx="3778606" cy="342283"/>
            </a:xfrm>
            <a:custGeom>
              <a:avLst/>
              <a:gdLst/>
              <a:ahLst/>
              <a:cxnLst/>
              <a:rect l="l" t="t" r="r" b="b"/>
              <a:pathLst>
                <a:path w="3778606" h="342283">
                  <a:moveTo>
                    <a:pt x="0" y="342283"/>
                  </a:moveTo>
                  <a:lnTo>
                    <a:pt x="3778606" y="0"/>
                  </a:lnTo>
                </a:path>
              </a:pathLst>
            </a:custGeom>
            <a:noFill/>
            <a:ln w="28575">
              <a:solidFill>
                <a:srgbClr val="78DFC5"/>
              </a:solidFill>
            </a:ln>
          </p:spPr>
        </p:sp>
        <p:sp>
          <p:nvSpPr>
            <p:cNvPr id="83" name="Line 83"/>
            <p:cNvSpPr/>
            <p:nvPr/>
          </p:nvSpPr>
          <p:spPr>
            <a:xfrm>
              <a:off x="1696060" y="4457959"/>
              <a:ext cx="3778606" cy="342283"/>
            </a:xfrm>
            <a:custGeom>
              <a:avLst/>
              <a:gdLst/>
              <a:ahLst/>
              <a:cxnLst/>
              <a:rect l="l" t="t" r="r" b="b"/>
              <a:pathLst>
                <a:path w="3778606" h="342283">
                  <a:moveTo>
                    <a:pt x="0" y="342283"/>
                  </a:moveTo>
                  <a:lnTo>
                    <a:pt x="3778606" y="0"/>
                  </a:lnTo>
                </a:path>
              </a:pathLst>
            </a:custGeom>
            <a:noFill/>
            <a:ln w="28575">
              <a:solidFill>
                <a:srgbClr val="78DFC5"/>
              </a:solidFill>
            </a:ln>
          </p:spPr>
        </p:sp>
        <p:sp>
          <p:nvSpPr>
            <p:cNvPr id="84" name="Line 84"/>
            <p:cNvSpPr/>
            <p:nvPr/>
          </p:nvSpPr>
          <p:spPr>
            <a:xfrm>
              <a:off x="2021434" y="3999277"/>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85" name="Ellipse 85"/>
            <p:cNvSpPr/>
            <p:nvPr/>
          </p:nvSpPr>
          <p:spPr>
            <a:xfrm>
              <a:off x="1859509" y="3694477"/>
              <a:ext cx="323850" cy="323850"/>
            </a:xfrm>
            <a:prstGeom prst="ellipse">
              <a:avLst/>
            </a:prstGeom>
            <a:solidFill>
              <a:srgbClr val="092E2B"/>
            </a:solidFill>
            <a:ln w="19050">
              <a:solidFill>
                <a:srgbClr val="78DFC5"/>
              </a:solidFill>
            </a:ln>
          </p:spPr>
        </p:sp>
        <p:sp>
          <p:nvSpPr>
            <p:cNvPr id="86" name="TextBox 86"/>
            <p:cNvSpPr txBox="1"/>
            <p:nvPr/>
          </p:nvSpPr>
          <p:spPr>
            <a:xfrm>
              <a:off x="1908962" y="3767819"/>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P0</a:t>
              </a:r>
            </a:p>
          </p:txBody>
        </p:sp>
        <p:sp>
          <p:nvSpPr>
            <p:cNvPr id="87" name="Line 87"/>
            <p:cNvSpPr/>
            <p:nvPr/>
          </p:nvSpPr>
          <p:spPr>
            <a:xfrm>
              <a:off x="3048229" y="3906265"/>
              <a:ext cx="9525" cy="361950"/>
            </a:xfrm>
            <a:custGeom>
              <a:avLst/>
              <a:gdLst/>
              <a:ahLst/>
              <a:cxnLst/>
              <a:rect l="l" t="t" r="r" b="b"/>
              <a:pathLst>
                <a:path w="9525" h="361950">
                  <a:moveTo>
                    <a:pt x="0" y="361950"/>
                  </a:moveTo>
                  <a:lnTo>
                    <a:pt x="0" y="0"/>
                  </a:lnTo>
                </a:path>
              </a:pathLst>
            </a:custGeom>
            <a:noFill/>
            <a:ln w="19050">
              <a:solidFill>
                <a:srgbClr val="78DFC5"/>
              </a:solidFill>
            </a:ln>
          </p:spPr>
        </p:sp>
        <p:sp>
          <p:nvSpPr>
            <p:cNvPr id="88" name="Ellipse 88"/>
            <p:cNvSpPr/>
            <p:nvPr/>
          </p:nvSpPr>
          <p:spPr>
            <a:xfrm>
              <a:off x="2886304" y="3601465"/>
              <a:ext cx="323850" cy="323850"/>
            </a:xfrm>
            <a:prstGeom prst="ellipse">
              <a:avLst/>
            </a:prstGeom>
            <a:solidFill>
              <a:srgbClr val="092E2B"/>
            </a:solidFill>
            <a:ln w="19050">
              <a:solidFill>
                <a:srgbClr val="78DFC5"/>
              </a:solidFill>
            </a:ln>
          </p:spPr>
        </p:sp>
        <p:sp>
          <p:nvSpPr>
            <p:cNvPr id="89" name="TextBox 89"/>
            <p:cNvSpPr txBox="1"/>
            <p:nvPr/>
          </p:nvSpPr>
          <p:spPr>
            <a:xfrm>
              <a:off x="2935757" y="3674808"/>
              <a:ext cx="224942" cy="264033"/>
            </a:xfrm>
            <a:prstGeom prst="rect">
              <a:avLst/>
            </a:prstGeom>
            <a:noFill/>
            <a:ln>
              <a:noFill/>
            </a:ln>
          </p:spPr>
          <p:txBody>
            <a:bodyPr wrap="none" lIns="0" tIns="0" rIns="0" bIns="0" anchor="t" anchorCtr="0">
              <a:spAutoFit/>
            </a:bodyPr>
            <a:lstStyle/>
            <a:p>
              <a:pPr algn="ctr"/>
              <a:r>
                <a:rPr lang="en-US" sz="1350" dirty="0">
                  <a:solidFill>
                    <a:srgbClr val="78DFC5"/>
                  </a:solidFill>
                  <a:latin typeface="+mn-lt"/>
                  <a:ea typeface="+mn-ea"/>
                  <a:cs typeface="+mn-cs"/>
                </a:rPr>
                <a:t>P1</a:t>
              </a:r>
            </a:p>
          </p:txBody>
        </p:sp>
        <p:sp>
          <p:nvSpPr>
            <p:cNvPr id="90" name="Line 90"/>
            <p:cNvSpPr/>
            <p:nvPr/>
          </p:nvSpPr>
          <p:spPr>
            <a:xfrm>
              <a:off x="3910736" y="3828136"/>
              <a:ext cx="9525" cy="361950"/>
            </a:xfrm>
            <a:custGeom>
              <a:avLst/>
              <a:gdLst/>
              <a:ahLst/>
              <a:cxnLst/>
              <a:rect l="l" t="t" r="r" b="b"/>
              <a:pathLst>
                <a:path w="9525" h="361950">
                  <a:moveTo>
                    <a:pt x="0" y="361950"/>
                  </a:moveTo>
                  <a:lnTo>
                    <a:pt x="0" y="0"/>
                  </a:lnTo>
                </a:path>
              </a:pathLst>
            </a:custGeom>
            <a:noFill/>
            <a:ln w="19050">
              <a:solidFill>
                <a:srgbClr val="F3C77B"/>
              </a:solidFill>
            </a:ln>
          </p:spPr>
        </p:sp>
        <p:sp>
          <p:nvSpPr>
            <p:cNvPr id="91" name="Ellipse 91"/>
            <p:cNvSpPr/>
            <p:nvPr/>
          </p:nvSpPr>
          <p:spPr>
            <a:xfrm>
              <a:off x="3748811" y="3523336"/>
              <a:ext cx="323850" cy="323850"/>
            </a:xfrm>
            <a:prstGeom prst="ellipse">
              <a:avLst/>
            </a:prstGeom>
            <a:solidFill>
              <a:srgbClr val="092E2B"/>
            </a:solidFill>
            <a:ln w="19050">
              <a:solidFill>
                <a:srgbClr val="F3C77B"/>
              </a:solidFill>
            </a:ln>
          </p:spPr>
        </p:sp>
        <p:sp>
          <p:nvSpPr>
            <p:cNvPr id="92" name="TextBox 92"/>
            <p:cNvSpPr txBox="1"/>
            <p:nvPr/>
          </p:nvSpPr>
          <p:spPr>
            <a:xfrm>
              <a:off x="3831869" y="3596678"/>
              <a:ext cx="157734" cy="264033"/>
            </a:xfrm>
            <a:prstGeom prst="rect">
              <a:avLst/>
            </a:prstGeom>
            <a:noFill/>
            <a:ln>
              <a:noFill/>
            </a:ln>
          </p:spPr>
          <p:txBody>
            <a:bodyPr wrap="none" lIns="0" tIns="0" rIns="0" bIns="0" anchor="t" anchorCtr="0">
              <a:spAutoFit/>
            </a:bodyPr>
            <a:lstStyle/>
            <a:p>
              <a:pPr algn="ctr"/>
              <a:r>
                <a:rPr lang="en-US" sz="1350" dirty="0">
                  <a:solidFill>
                    <a:srgbClr val="F3C77B"/>
                  </a:solidFill>
                  <a:latin typeface="+mn-lt"/>
                  <a:ea typeface="+mn-ea"/>
                  <a:cs typeface="+mn-cs"/>
                </a:rPr>
                <a:t>Q</a:t>
              </a:r>
            </a:p>
          </p:txBody>
        </p:sp>
        <p:sp>
          <p:nvSpPr>
            <p:cNvPr id="93" name="Rectangle 93"/>
            <p:cNvSpPr/>
            <p:nvPr/>
          </p:nvSpPr>
          <p:spPr>
            <a:xfrm>
              <a:off x="2428570" y="4249906"/>
              <a:ext cx="171450" cy="133350"/>
            </a:xfrm>
            <a:prstGeom prst="rect">
              <a:avLst/>
            </a:prstGeom>
            <a:solidFill>
              <a:srgbClr val="F3C77B"/>
            </a:solidFill>
            <a:ln>
              <a:noFill/>
            </a:ln>
          </p:spPr>
        </p:sp>
        <p:sp>
          <p:nvSpPr>
            <p:cNvPr id="94" name="Line 94"/>
            <p:cNvSpPr/>
            <p:nvPr/>
          </p:nvSpPr>
          <p:spPr>
            <a:xfrm>
              <a:off x="4526813" y="4134279"/>
              <a:ext cx="95250" cy="447675"/>
            </a:xfrm>
            <a:custGeom>
              <a:avLst/>
              <a:gdLst/>
              <a:ahLst/>
              <a:cxnLst/>
              <a:rect l="l" t="t" r="r" b="b"/>
              <a:pathLst>
                <a:path w="95250" h="447675">
                  <a:moveTo>
                    <a:pt x="0" y="0"/>
                  </a:moveTo>
                  <a:lnTo>
                    <a:pt x="95250" y="447675"/>
                  </a:lnTo>
                </a:path>
              </a:pathLst>
            </a:custGeom>
            <a:noFill/>
            <a:ln w="28575">
              <a:solidFill>
                <a:srgbClr val="F3C77B"/>
              </a:solidFill>
            </a:ln>
          </p:spPr>
        </p:sp>
        <p:sp>
          <p:nvSpPr>
            <p:cNvPr id="95" name="Line 95"/>
            <p:cNvSpPr/>
            <p:nvPr/>
          </p:nvSpPr>
          <p:spPr>
            <a:xfrm>
              <a:off x="4622063" y="4581954"/>
              <a:ext cx="247650" cy="9525"/>
            </a:xfrm>
            <a:custGeom>
              <a:avLst/>
              <a:gdLst/>
              <a:ahLst/>
              <a:cxnLst/>
              <a:rect l="l" t="t" r="r" b="b"/>
              <a:pathLst>
                <a:path w="247650" h="9525">
                  <a:moveTo>
                    <a:pt x="0" y="0"/>
                  </a:moveTo>
                  <a:lnTo>
                    <a:pt x="247650" y="0"/>
                  </a:lnTo>
                </a:path>
              </a:pathLst>
            </a:custGeom>
            <a:noFill/>
            <a:ln w="28575">
              <a:solidFill>
                <a:srgbClr val="F3C77B"/>
              </a:solidFill>
            </a:ln>
          </p:spPr>
        </p:sp>
        <p:sp>
          <p:nvSpPr>
            <p:cNvPr id="96" name="Rectangle 96"/>
            <p:cNvSpPr/>
            <p:nvPr/>
          </p:nvSpPr>
          <p:spPr>
            <a:xfrm>
              <a:off x="3672840" y="5263706"/>
              <a:ext cx="1171575" cy="742950"/>
            </a:xfrm>
            <a:prstGeom prst="roundRect">
              <a:avLst>
                <a:gd name="adj" fmla="val 7692"/>
              </a:avLst>
            </a:prstGeom>
            <a:solidFill>
              <a:srgbClr val="E7F2EA"/>
            </a:solidFill>
            <a:ln>
              <a:noFill/>
            </a:ln>
          </p:spPr>
        </p:sp>
        <p:sp>
          <p:nvSpPr>
            <p:cNvPr id="97" name="Rectangle 97"/>
            <p:cNvSpPr/>
            <p:nvPr/>
          </p:nvSpPr>
          <p:spPr>
            <a:xfrm>
              <a:off x="3768090" y="5358956"/>
              <a:ext cx="666750" cy="342900"/>
            </a:xfrm>
            <a:prstGeom prst="roundRect">
              <a:avLst>
                <a:gd name="adj" fmla="val 8333"/>
              </a:avLst>
            </a:prstGeom>
            <a:solidFill>
              <a:schemeClr val="accent1"/>
            </a:solidFill>
            <a:ln>
              <a:noFill/>
            </a:ln>
          </p:spPr>
        </p:sp>
        <p:sp>
          <p:nvSpPr>
            <p:cNvPr id="98" name="Ellipse 98"/>
            <p:cNvSpPr/>
            <p:nvPr/>
          </p:nvSpPr>
          <p:spPr>
            <a:xfrm>
              <a:off x="4568190" y="5397056"/>
              <a:ext cx="95250" cy="95250"/>
            </a:xfrm>
            <a:prstGeom prst="ellipse">
              <a:avLst/>
            </a:prstGeom>
            <a:solidFill>
              <a:srgbClr val="78DFC5"/>
            </a:solidFill>
            <a:ln>
              <a:noFill/>
            </a:ln>
          </p:spPr>
        </p:sp>
        <p:sp>
          <p:nvSpPr>
            <p:cNvPr id="99" name="Line 99"/>
            <p:cNvSpPr/>
            <p:nvPr/>
          </p:nvSpPr>
          <p:spPr>
            <a:xfrm>
              <a:off x="3863340" y="5044630"/>
              <a:ext cx="9525" cy="219075"/>
            </a:xfrm>
            <a:custGeom>
              <a:avLst/>
              <a:gdLst/>
              <a:ahLst/>
              <a:cxnLst/>
              <a:rect l="l" t="t" r="r" b="b"/>
              <a:pathLst>
                <a:path w="9525" h="219075">
                  <a:moveTo>
                    <a:pt x="0" y="219075"/>
                  </a:moveTo>
                  <a:lnTo>
                    <a:pt x="0" y="0"/>
                  </a:lnTo>
                </a:path>
              </a:pathLst>
            </a:custGeom>
            <a:noFill/>
            <a:ln w="28575">
              <a:solidFill>
                <a:srgbClr val="78DFC5"/>
              </a:solidFill>
            </a:ln>
          </p:spPr>
        </p:sp>
        <p:sp>
          <p:nvSpPr>
            <p:cNvPr id="100" name="TextBox 100"/>
            <p:cNvSpPr txBox="1"/>
            <p:nvPr/>
          </p:nvSpPr>
          <p:spPr>
            <a:xfrm>
              <a:off x="3790569" y="5772340"/>
              <a:ext cx="658368"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感知节点</a:t>
              </a:r>
            </a:p>
          </p:txBody>
        </p:sp>
        <p:sp>
          <p:nvSpPr>
            <p:cNvPr id="101" name="Line 101"/>
            <p:cNvSpPr/>
            <p:nvPr/>
          </p:nvSpPr>
          <p:spPr>
            <a:xfrm>
              <a:off x="3048229" y="4334890"/>
              <a:ext cx="777011" cy="928815"/>
            </a:xfrm>
            <a:custGeom>
              <a:avLst/>
              <a:gdLst/>
              <a:ahLst/>
              <a:cxnLst/>
              <a:rect l="l" t="t" r="r" b="b"/>
              <a:pathLst>
                <a:path w="777011" h="928815">
                  <a:moveTo>
                    <a:pt x="0" y="0"/>
                  </a:moveTo>
                  <a:lnTo>
                    <a:pt x="777011" y="928815"/>
                  </a:lnTo>
                </a:path>
              </a:pathLst>
            </a:custGeom>
            <a:noFill/>
            <a:ln w="19050">
              <a:solidFill>
                <a:srgbClr val="78DFC5"/>
              </a:solidFill>
              <a:custDash>
                <a:ds d="300000" sp="250000"/>
              </a:custDash>
            </a:ln>
          </p:spPr>
        </p:sp>
        <p:sp>
          <p:nvSpPr>
            <p:cNvPr id="102" name="Rectangle 102"/>
            <p:cNvSpPr/>
            <p:nvPr/>
          </p:nvSpPr>
          <p:spPr>
            <a:xfrm>
              <a:off x="4846320" y="3669221"/>
              <a:ext cx="790575" cy="914400"/>
            </a:xfrm>
            <a:prstGeom prst="roundRect">
              <a:avLst>
                <a:gd name="adj" fmla="val 7229"/>
              </a:avLst>
            </a:prstGeom>
            <a:solidFill>
              <a:srgbClr val="CFDED7"/>
            </a:solidFill>
            <a:ln>
              <a:noFill/>
            </a:ln>
          </p:spPr>
        </p:sp>
        <p:sp>
          <p:nvSpPr>
            <p:cNvPr id="103" name="Rectangle 103"/>
            <p:cNvSpPr/>
            <p:nvPr/>
          </p:nvSpPr>
          <p:spPr>
            <a:xfrm>
              <a:off x="4989195" y="3859721"/>
              <a:ext cx="504825" cy="342900"/>
            </a:xfrm>
            <a:prstGeom prst="roundRect">
              <a:avLst>
                <a:gd name="adj" fmla="val 8333"/>
              </a:avLst>
            </a:prstGeom>
            <a:solidFill>
              <a:schemeClr val="accent1"/>
            </a:solidFill>
            <a:ln>
              <a:noFill/>
            </a:ln>
          </p:spPr>
        </p:sp>
        <p:sp>
          <p:nvSpPr>
            <p:cNvPr id="104" name="Line 104"/>
            <p:cNvSpPr/>
            <p:nvPr/>
          </p:nvSpPr>
          <p:spPr>
            <a:xfrm>
              <a:off x="5055870" y="3373946"/>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05" name="Line 105"/>
            <p:cNvSpPr/>
            <p:nvPr/>
          </p:nvSpPr>
          <p:spPr>
            <a:xfrm>
              <a:off x="5446395" y="3373946"/>
              <a:ext cx="9525" cy="295275"/>
            </a:xfrm>
            <a:custGeom>
              <a:avLst/>
              <a:gdLst/>
              <a:ahLst/>
              <a:cxnLst/>
              <a:rect l="l" t="t" r="r" b="b"/>
              <a:pathLst>
                <a:path w="9525" h="295275">
                  <a:moveTo>
                    <a:pt x="0" y="295275"/>
                  </a:moveTo>
                  <a:lnTo>
                    <a:pt x="0" y="0"/>
                  </a:lnTo>
                </a:path>
              </a:pathLst>
            </a:custGeom>
            <a:noFill/>
            <a:ln w="28575">
              <a:solidFill>
                <a:srgbClr val="78DFC5"/>
              </a:solidFill>
            </a:ln>
          </p:spPr>
        </p:sp>
        <p:sp>
          <p:nvSpPr>
            <p:cNvPr id="106" name="Ellipse 106"/>
            <p:cNvSpPr/>
            <p:nvPr/>
          </p:nvSpPr>
          <p:spPr>
            <a:xfrm>
              <a:off x="5189220" y="4316920"/>
              <a:ext cx="95250" cy="95250"/>
            </a:xfrm>
            <a:prstGeom prst="ellipse">
              <a:avLst/>
            </a:prstGeom>
            <a:solidFill>
              <a:schemeClr val="accent1"/>
            </a:solidFill>
            <a:ln>
              <a:noFill/>
            </a:ln>
          </p:spPr>
        </p:sp>
        <p:sp>
          <p:nvSpPr>
            <p:cNvPr id="107" name="TextBox 107"/>
            <p:cNvSpPr txBox="1"/>
            <p:nvPr/>
          </p:nvSpPr>
          <p:spPr>
            <a:xfrm>
              <a:off x="4842681" y="4733163"/>
              <a:ext cx="788327" cy="264033"/>
            </a:xfrm>
            <a:prstGeom prst="rect">
              <a:avLst/>
            </a:prstGeom>
            <a:noFill/>
            <a:ln>
              <a:noFill/>
            </a:ln>
          </p:spPr>
          <p:txBody>
            <a:bodyPr wrap="none" lIns="0" tIns="0" rIns="0" bIns="0" anchor="t" anchorCtr="0">
              <a:spAutoFit/>
            </a:bodyPr>
            <a:lstStyle/>
            <a:p>
              <a:pPr algn="ctr"/>
              <a:r>
                <a:rPr lang="zh-CN" sz="1350" dirty="0">
                  <a:solidFill>
                    <a:srgbClr val="E7F2EA"/>
                  </a:solidFill>
                  <a:latin typeface="+mn-lt"/>
                  <a:ea typeface="+mn-ea"/>
                  <a:cs typeface="+mn-cs"/>
                </a:rPr>
                <a:t>LoRa接收</a:t>
              </a:r>
            </a:p>
          </p:txBody>
        </p:sp>
        <p:sp>
          <p:nvSpPr>
            <p:cNvPr id="108" name="Line 108"/>
            <p:cNvSpPr/>
            <p:nvPr/>
          </p:nvSpPr>
          <p:spPr>
            <a:xfrm>
              <a:off x="4796790" y="4574096"/>
              <a:ext cx="382905" cy="727710"/>
            </a:xfrm>
            <a:custGeom>
              <a:avLst/>
              <a:gdLst/>
              <a:ahLst/>
              <a:cxnLst/>
              <a:rect l="l" t="t" r="r" b="b"/>
              <a:pathLst>
                <a:path w="382905" h="727710">
                  <a:moveTo>
                    <a:pt x="0" y="727710"/>
                  </a:moveTo>
                  <a:lnTo>
                    <a:pt x="382905" y="0"/>
                  </a:lnTo>
                </a:path>
              </a:pathLst>
            </a:custGeom>
            <a:noFill/>
            <a:ln w="19050">
              <a:solidFill>
                <a:srgbClr val="78DFC5"/>
              </a:solidFill>
              <a:custDash>
                <a:ds d="350000" sp="300000"/>
              </a:custDash>
            </a:ln>
          </p:spPr>
        </p:sp>
        <p:sp>
          <p:nvSpPr>
            <p:cNvPr id="109" name="TextBox 109"/>
            <p:cNvSpPr txBox="1"/>
            <p:nvPr/>
          </p:nvSpPr>
          <p:spPr>
            <a:xfrm>
              <a:off x="450342" y="6074092"/>
              <a:ext cx="3648456" cy="264033"/>
            </a:xfrm>
            <a:prstGeom prst="rect">
              <a:avLst/>
            </a:prstGeom>
            <a:noFill/>
            <a:ln>
              <a:noFill/>
            </a:ln>
          </p:spPr>
          <p:txBody>
            <a:bodyPr wrap="none" lIns="0" tIns="0" rIns="0" bIns="0" anchor="t" anchorCtr="0">
              <a:spAutoFit/>
            </a:bodyPr>
            <a:lstStyle/>
            <a:p>
              <a:pPr algn="l"/>
              <a:r>
                <a:rPr lang="zh-CN" sz="1350" dirty="0">
                  <a:solidFill>
                    <a:srgbClr val="B7CCC6"/>
                  </a:solidFill>
                  <a:latin typeface="+mn-lt"/>
                  <a:ea typeface="+mn-ea"/>
                  <a:cs typeface="+mn-cs"/>
                </a:rPr>
                <a:t>部署概念，非实物；基础验收为双支路台架。</a:t>
              </a:r>
            </a:p>
          </p:txBody>
        </p:sp>
      </p:grpSp>
      <p:grpSp>
        <p:nvGrpSpPr>
          <p:cNvPr id="121" name="evidence-delivery"/>
          <p:cNvGrpSpPr/>
          <p:nvPr/>
        </p:nvGrpSpPr>
        <p:grpSpPr>
          <a:xfrm>
            <a:off x="6191250" y="1812608"/>
            <a:ext cx="5543550" cy="4395787"/>
            <a:chOff x="6191250" y="1812608"/>
            <a:chExt cx="5543550" cy="4395787"/>
          </a:xfrm>
        </p:grpSpPr>
        <p:sp>
          <p:nvSpPr>
            <p:cNvPr id="111" name="Line 111"/>
            <p:cNvSpPr/>
            <p:nvPr/>
          </p:nvSpPr>
          <p:spPr>
            <a:xfrm>
              <a:off x="6191250" y="1838325"/>
              <a:ext cx="9525" cy="4000500"/>
            </a:xfrm>
            <a:custGeom>
              <a:avLst/>
              <a:gdLst/>
              <a:ahLst/>
              <a:cxnLst/>
              <a:rect l="l" t="t" r="r" b="b"/>
              <a:pathLst>
                <a:path w="9525" h="4000500">
                  <a:moveTo>
                    <a:pt x="0" y="0"/>
                  </a:moveTo>
                  <a:lnTo>
                    <a:pt x="0" y="4000500"/>
                  </a:lnTo>
                </a:path>
              </a:pathLst>
            </a:custGeom>
            <a:noFill/>
            <a:ln w="19050">
              <a:solidFill>
                <a:srgbClr val="4A776F"/>
              </a:solidFill>
            </a:ln>
          </p:spPr>
        </p:sp>
        <p:sp>
          <p:nvSpPr>
            <p:cNvPr id="112" name="TextBox 112"/>
            <p:cNvSpPr txBox="1"/>
            <p:nvPr/>
          </p:nvSpPr>
          <p:spPr>
            <a:xfrm>
              <a:off x="6537198" y="1812608"/>
              <a:ext cx="3424428" cy="616077"/>
            </a:xfrm>
            <a:prstGeom prst="rect">
              <a:avLst/>
            </a:prstGeom>
            <a:noFill/>
            <a:ln>
              <a:noFill/>
            </a:ln>
          </p:spPr>
          <p:txBody>
            <a:bodyPr wrap="none" lIns="0" tIns="0" rIns="0" bIns="0" anchor="t" anchorCtr="0">
              <a:spAutoFit/>
            </a:bodyPr>
            <a:lstStyle/>
            <a:p>
              <a:pPr algn="l"/>
              <a:r>
                <a:rPr lang="zh-CN" sz="3150" b="1" dirty="0">
                  <a:solidFill>
                    <a:srgbClr val="FFFFFF"/>
                  </a:solidFill>
                  <a:latin typeface="+mn-lt"/>
                  <a:ea typeface="+mn-ea"/>
                  <a:cs typeface="+mn-cs"/>
                </a:rPr>
                <a:t>一组可复现的证据</a:t>
              </a:r>
            </a:p>
          </p:txBody>
        </p:sp>
        <p:sp>
          <p:nvSpPr>
            <p:cNvPr id="113" name="TextBox 113"/>
            <p:cNvSpPr txBox="1"/>
            <p:nvPr/>
          </p:nvSpPr>
          <p:spPr>
            <a:xfrm>
              <a:off x="6544056" y="2520315"/>
              <a:ext cx="987552" cy="352044"/>
            </a:xfrm>
            <a:prstGeom prst="rect">
              <a:avLst/>
            </a:prstGeom>
            <a:noFill/>
            <a:ln>
              <a:noFill/>
            </a:ln>
          </p:spPr>
          <p:txBody>
            <a:bodyPr wrap="none" lIns="0" tIns="0" rIns="0" bIns="0" anchor="t" anchorCtr="0">
              <a:spAutoFit/>
            </a:bodyPr>
            <a:lstStyle/>
            <a:p>
              <a:pPr algn="l"/>
              <a:r>
                <a:rPr lang="zh-CN" sz="1800" b="1" dirty="0">
                  <a:solidFill>
                    <a:srgbClr val="F3C77B"/>
                  </a:solidFill>
                  <a:latin typeface="+mn-lt"/>
                  <a:ea typeface="+mn-ea"/>
                  <a:cs typeface="+mn-cs"/>
                </a:rPr>
                <a:t>测量依据</a:t>
              </a:r>
            </a:p>
          </p:txBody>
        </p:sp>
        <p:sp>
          <p:nvSpPr>
            <p:cNvPr id="114" name="TextBox 114"/>
            <p:cNvSpPr txBox="1"/>
            <p:nvPr/>
          </p:nvSpPr>
          <p:spPr>
            <a:xfrm>
              <a:off x="6545580" y="2933700"/>
              <a:ext cx="304419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标定、原始日志、程度与独立标签</a:t>
              </a:r>
            </a:p>
          </p:txBody>
        </p:sp>
        <p:sp>
          <p:nvSpPr>
            <p:cNvPr id="115" name="TextBox 115"/>
            <p:cNvSpPr txBox="1"/>
            <p:nvPr/>
          </p:nvSpPr>
          <p:spPr>
            <a:xfrm>
              <a:off x="6544056" y="3549015"/>
              <a:ext cx="987552" cy="352044"/>
            </a:xfrm>
            <a:prstGeom prst="rect">
              <a:avLst/>
            </a:prstGeom>
            <a:noFill/>
            <a:ln>
              <a:noFill/>
            </a:ln>
          </p:spPr>
          <p:txBody>
            <a:bodyPr wrap="none" lIns="0" tIns="0" rIns="0" bIns="0" anchor="t" anchorCtr="0">
              <a:spAutoFit/>
            </a:bodyPr>
            <a:lstStyle/>
            <a:p>
              <a:pPr algn="l"/>
              <a:r>
                <a:rPr lang="zh-CN" sz="1800" b="1" dirty="0">
                  <a:solidFill>
                    <a:srgbClr val="F3C77B"/>
                  </a:solidFill>
                  <a:latin typeface="+mn-lt"/>
                  <a:ea typeface="+mn-ea"/>
                  <a:cs typeface="+mn-cs"/>
                </a:rPr>
                <a:t>方法验证</a:t>
              </a:r>
            </a:p>
          </p:txBody>
        </p:sp>
        <p:sp>
          <p:nvSpPr>
            <p:cNvPr id="116" name="TextBox 116"/>
            <p:cNvSpPr txBox="1"/>
            <p:nvPr/>
          </p:nvSpPr>
          <p:spPr>
            <a:xfrm>
              <a:off x="6545580" y="3962400"/>
              <a:ext cx="304419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强基线、消融、提前量与失败案例</a:t>
              </a:r>
            </a:p>
          </p:txBody>
        </p:sp>
        <p:sp>
          <p:nvSpPr>
            <p:cNvPr id="117" name="TextBox 117"/>
            <p:cNvSpPr txBox="1"/>
            <p:nvPr/>
          </p:nvSpPr>
          <p:spPr>
            <a:xfrm>
              <a:off x="6544056" y="4577715"/>
              <a:ext cx="987552" cy="352044"/>
            </a:xfrm>
            <a:prstGeom prst="rect">
              <a:avLst/>
            </a:prstGeom>
            <a:noFill/>
            <a:ln>
              <a:noFill/>
            </a:ln>
          </p:spPr>
          <p:txBody>
            <a:bodyPr wrap="none" lIns="0" tIns="0" rIns="0" bIns="0" anchor="t" anchorCtr="0">
              <a:spAutoFit/>
            </a:bodyPr>
            <a:lstStyle/>
            <a:p>
              <a:pPr algn="l"/>
              <a:r>
                <a:rPr lang="zh-CN" sz="1800" b="1" dirty="0">
                  <a:solidFill>
                    <a:srgbClr val="F3C77B"/>
                  </a:solidFill>
                  <a:latin typeface="+mn-lt"/>
                  <a:ea typeface="+mn-ea"/>
                  <a:cs typeface="+mn-cs"/>
                </a:rPr>
                <a:t>研究产出</a:t>
              </a:r>
            </a:p>
          </p:txBody>
        </p:sp>
        <p:sp>
          <p:nvSpPr>
            <p:cNvPr id="118" name="TextBox 118"/>
            <p:cNvSpPr txBox="1"/>
            <p:nvPr/>
          </p:nvSpPr>
          <p:spPr>
            <a:xfrm>
              <a:off x="6545580" y="4991100"/>
              <a:ext cx="3155252"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研究/结题报告、过程记录、论文稿</a:t>
              </a:r>
            </a:p>
          </p:txBody>
        </p:sp>
        <p:sp>
          <p:nvSpPr>
            <p:cNvPr id="119" name="Rectangle 119"/>
            <p:cNvSpPr/>
            <p:nvPr/>
          </p:nvSpPr>
          <p:spPr>
            <a:xfrm>
              <a:off x="6553200" y="5810250"/>
              <a:ext cx="5181600" cy="381000"/>
            </a:xfrm>
            <a:prstGeom prst="roundRect">
              <a:avLst>
                <a:gd name="adj" fmla="val 10000"/>
              </a:avLst>
            </a:prstGeom>
            <a:solidFill>
              <a:srgbClr val="23554E"/>
            </a:solidFill>
            <a:ln>
              <a:noFill/>
            </a:ln>
          </p:spPr>
        </p:sp>
        <p:sp>
          <p:nvSpPr>
            <p:cNvPr id="120" name="TextBox 120"/>
            <p:cNvSpPr txBox="1"/>
            <p:nvPr/>
          </p:nvSpPr>
          <p:spPr>
            <a:xfrm>
              <a:off x="6717030" y="5915025"/>
              <a:ext cx="4053840" cy="293370"/>
            </a:xfrm>
            <a:prstGeom prst="rect">
              <a:avLst/>
            </a:prstGeom>
            <a:noFill/>
            <a:ln>
              <a:noFill/>
            </a:ln>
          </p:spPr>
          <p:txBody>
            <a:bodyPr wrap="none" lIns="0" tIns="0" rIns="0" bIns="0" anchor="t" anchorCtr="0">
              <a:spAutoFit/>
            </a:bodyPr>
            <a:lstStyle/>
            <a:p>
              <a:pPr algn="l"/>
              <a:r>
                <a:rPr lang="zh-CN" sz="1500" dirty="0">
                  <a:solidFill>
                    <a:srgbClr val="78DFC5"/>
                  </a:solidFill>
                  <a:latin typeface="+mn-lt"/>
                  <a:ea typeface="+mn-ea"/>
                  <a:cs typeface="+mn-cs"/>
                </a:rPr>
                <a:t>争取国家级，以真实问题、增量与条件支撑。</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route-highlight"/>
          <p:cNvSpPr/>
          <p:nvPr/>
        </p:nvSpPr>
        <p:spPr>
          <a:xfrm>
            <a:off x="9820275" y="257175"/>
            <a:ext cx="619125" cy="295275"/>
          </a:xfrm>
          <a:prstGeom prst="roundRect">
            <a:avLst>
              <a:gd name="adj" fmla="val 12903"/>
            </a:avLst>
          </a:prstGeom>
          <a:solidFill>
            <a:schemeClr val="lt2"/>
          </a:solidFill>
          <a:ln>
            <a:noFill/>
          </a:ln>
        </p:spPr>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5120640" cy="616077"/>
            <a:chOff x="441198" y="860108"/>
            <a:chExt cx="5120640" cy="616077"/>
          </a:xfrm>
        </p:grpSpPr>
        <p:sp>
          <p:nvSpPr>
            <p:cNvPr id="9" name="TextBox 9"/>
            <p:cNvSpPr txBox="1"/>
            <p:nvPr/>
          </p:nvSpPr>
          <p:spPr>
            <a:xfrm>
              <a:off x="441198" y="860108"/>
              <a:ext cx="5120640"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相同观测，可能有不同原因</a:t>
              </a:r>
            </a:p>
          </p:txBody>
        </p:sp>
      </p:grpSp>
      <p:sp>
        <p:nvSpPr>
          <p:cNvPr id="11" name="source-footer"/>
          <p:cNvSpPr txBox="1"/>
          <p:nvPr/>
        </p:nvSpPr>
        <p:spPr>
          <a:xfrm>
            <a:off x="451104" y="6404610"/>
            <a:ext cx="5020056"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旧单点反例及双点模型；原因可辨识性依赖布点、操作信息与测量质量</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13/15</a:t>
            </a:r>
          </a:p>
        </p:txBody>
      </p:sp>
      <p:grpSp>
        <p:nvGrpSpPr>
          <p:cNvPr id="33" name="cause-observation-ambiguity"/>
          <p:cNvGrpSpPr/>
          <p:nvPr/>
        </p:nvGrpSpPr>
        <p:grpSpPr>
          <a:xfrm>
            <a:off x="457200" y="1943100"/>
            <a:ext cx="11277600" cy="4267200"/>
            <a:chOff x="457200" y="1943100"/>
            <a:chExt cx="11277600" cy="4267200"/>
          </a:xfrm>
        </p:grpSpPr>
        <p:sp>
          <p:nvSpPr>
            <p:cNvPr id="13" name="Rectangle 13"/>
            <p:cNvSpPr/>
            <p:nvPr/>
          </p:nvSpPr>
          <p:spPr>
            <a:xfrm>
              <a:off x="457200" y="1943100"/>
              <a:ext cx="3171825" cy="904875"/>
            </a:xfrm>
            <a:prstGeom prst="roundRect">
              <a:avLst>
                <a:gd name="adj" fmla="val 6316"/>
              </a:avLst>
            </a:prstGeom>
            <a:solidFill>
              <a:schemeClr val="lt2"/>
            </a:solidFill>
            <a:ln>
              <a:noFill/>
            </a:ln>
          </p:spPr>
        </p:sp>
        <p:sp>
          <p:nvSpPr>
            <p:cNvPr id="14" name="TextBox 14"/>
            <p:cNvSpPr txBox="1"/>
            <p:nvPr/>
          </p:nvSpPr>
          <p:spPr>
            <a:xfrm>
              <a:off x="676656" y="2148840"/>
              <a:ext cx="186235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原因A：供压下降</a:t>
              </a:r>
            </a:p>
          </p:txBody>
        </p:sp>
        <p:sp>
          <p:nvSpPr>
            <p:cNvPr id="15" name="TextBox 15"/>
            <p:cNvSpPr txBox="1"/>
            <p:nvPr/>
          </p:nvSpPr>
          <p:spPr>
            <a:xfrm>
              <a:off x="678942" y="2502218"/>
              <a:ext cx="922401"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旧单点模型</a:t>
              </a:r>
            </a:p>
          </p:txBody>
        </p:sp>
        <p:sp>
          <p:nvSpPr>
            <p:cNvPr id="16" name="Rectangle 16"/>
            <p:cNvSpPr/>
            <p:nvPr/>
          </p:nvSpPr>
          <p:spPr>
            <a:xfrm>
              <a:off x="457200" y="3448050"/>
              <a:ext cx="3171825" cy="904875"/>
            </a:xfrm>
            <a:prstGeom prst="roundRect">
              <a:avLst>
                <a:gd name="adj" fmla="val 6316"/>
              </a:avLst>
            </a:prstGeom>
            <a:solidFill>
              <a:srgbClr val="F6ECE6"/>
            </a:solidFill>
            <a:ln>
              <a:noFill/>
            </a:ln>
          </p:spPr>
        </p:sp>
        <p:sp>
          <p:nvSpPr>
            <p:cNvPr id="17" name="TextBox 17"/>
            <p:cNvSpPr txBox="1"/>
            <p:nvPr/>
          </p:nvSpPr>
          <p:spPr>
            <a:xfrm>
              <a:off x="676656" y="3653790"/>
              <a:ext cx="1862358" cy="352044"/>
            </a:xfrm>
            <a:prstGeom prst="rect">
              <a:avLst/>
            </a:prstGeom>
            <a:noFill/>
            <a:ln>
              <a:noFill/>
            </a:ln>
          </p:spPr>
          <p:txBody>
            <a:bodyPr wrap="none" lIns="0" tIns="0" rIns="0" bIns="0" anchor="t" anchorCtr="0">
              <a:spAutoFit/>
            </a:bodyPr>
            <a:lstStyle/>
            <a:p>
              <a:pPr algn="l"/>
              <a:r>
                <a:rPr lang="zh-CN" sz="1800" b="1" dirty="0">
                  <a:solidFill>
                    <a:schemeClr val="accent2"/>
                  </a:solidFill>
                  <a:latin typeface="+mn-lt"/>
                  <a:ea typeface="+mn-ea"/>
                  <a:cs typeface="+mn-cs"/>
                </a:rPr>
                <a:t>原因B：上游节流</a:t>
              </a:r>
            </a:p>
          </p:txBody>
        </p:sp>
        <p:sp>
          <p:nvSpPr>
            <p:cNvPr id="18" name="TextBox 18"/>
            <p:cNvSpPr txBox="1"/>
            <p:nvPr/>
          </p:nvSpPr>
          <p:spPr>
            <a:xfrm>
              <a:off x="678942" y="4007168"/>
              <a:ext cx="1831086"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可映射到同一测点观测</a:t>
              </a:r>
            </a:p>
          </p:txBody>
        </p:sp>
        <p:sp>
          <p:nvSpPr>
            <p:cNvPr id="19" name="Line 19"/>
            <p:cNvSpPr/>
            <p:nvPr/>
          </p:nvSpPr>
          <p:spPr>
            <a:xfrm>
              <a:off x="3714750" y="2409825"/>
              <a:ext cx="1038225" cy="733425"/>
            </a:xfrm>
            <a:custGeom>
              <a:avLst/>
              <a:gdLst/>
              <a:ahLst/>
              <a:cxnLst/>
              <a:rect l="l" t="t" r="r" b="b"/>
              <a:pathLst>
                <a:path w="1038225" h="733425">
                  <a:moveTo>
                    <a:pt x="0" y="0"/>
                  </a:moveTo>
                  <a:lnTo>
                    <a:pt x="1038225" y="733425"/>
                  </a:lnTo>
                </a:path>
              </a:pathLst>
            </a:custGeom>
            <a:noFill/>
            <a:ln w="28575">
              <a:solidFill>
                <a:schemeClr val="accent1"/>
              </a:solidFill>
            </a:ln>
          </p:spPr>
        </p:sp>
        <p:sp>
          <p:nvSpPr>
            <p:cNvPr id="20" name="Polygon 20"/>
            <p:cNvSpPr/>
            <p:nvPr/>
          </p:nvSpPr>
          <p:spPr>
            <a:xfrm>
              <a:off x="4649623" y="3051593"/>
              <a:ext cx="103352" cy="91657"/>
            </a:xfrm>
            <a:custGeom>
              <a:avLst/>
              <a:gdLst/>
              <a:ahLst/>
              <a:cxnLst/>
              <a:rect l="l" t="t" r="r" b="b"/>
              <a:pathLst>
                <a:path w="103352" h="91657">
                  <a:moveTo>
                    <a:pt x="103352" y="91657"/>
                  </a:moveTo>
                  <a:lnTo>
                    <a:pt x="0" y="74445"/>
                  </a:lnTo>
                  <a:lnTo>
                    <a:pt x="52590" y="0"/>
                  </a:lnTo>
                  <a:close/>
                </a:path>
              </a:pathLst>
            </a:custGeom>
            <a:solidFill>
              <a:schemeClr val="accent1"/>
            </a:solidFill>
            <a:ln>
              <a:noFill/>
            </a:ln>
          </p:spPr>
        </p:sp>
        <p:sp>
          <p:nvSpPr>
            <p:cNvPr id="21" name="Line 21"/>
            <p:cNvSpPr/>
            <p:nvPr/>
          </p:nvSpPr>
          <p:spPr>
            <a:xfrm>
              <a:off x="3714750" y="3143250"/>
              <a:ext cx="1038225" cy="762000"/>
            </a:xfrm>
            <a:custGeom>
              <a:avLst/>
              <a:gdLst/>
              <a:ahLst/>
              <a:cxnLst/>
              <a:rect l="l" t="t" r="r" b="b"/>
              <a:pathLst>
                <a:path w="1038225" h="762000">
                  <a:moveTo>
                    <a:pt x="0" y="762000"/>
                  </a:moveTo>
                  <a:lnTo>
                    <a:pt x="1038225" y="0"/>
                  </a:lnTo>
                </a:path>
              </a:pathLst>
            </a:custGeom>
            <a:noFill/>
            <a:ln w="28575">
              <a:solidFill>
                <a:schemeClr val="accent2"/>
              </a:solidFill>
            </a:ln>
          </p:spPr>
        </p:sp>
        <p:sp>
          <p:nvSpPr>
            <p:cNvPr id="22" name="Polygon 22"/>
            <p:cNvSpPr/>
            <p:nvPr/>
          </p:nvSpPr>
          <p:spPr>
            <a:xfrm>
              <a:off x="4649952" y="3143250"/>
              <a:ext cx="103023" cy="92562"/>
            </a:xfrm>
            <a:custGeom>
              <a:avLst/>
              <a:gdLst/>
              <a:ahLst/>
              <a:cxnLst/>
              <a:rect l="l" t="t" r="r" b="b"/>
              <a:pathLst>
                <a:path w="103023" h="92562">
                  <a:moveTo>
                    <a:pt x="103023" y="0"/>
                  </a:moveTo>
                  <a:lnTo>
                    <a:pt x="53930" y="92562"/>
                  </a:lnTo>
                  <a:lnTo>
                    <a:pt x="0" y="19082"/>
                  </a:lnTo>
                  <a:close/>
                </a:path>
              </a:pathLst>
            </a:custGeom>
            <a:solidFill>
              <a:schemeClr val="accent2"/>
            </a:solidFill>
            <a:ln>
              <a:noFill/>
            </a:ln>
          </p:spPr>
        </p:sp>
        <p:sp>
          <p:nvSpPr>
            <p:cNvPr id="23" name="Rectangle 23"/>
            <p:cNvSpPr/>
            <p:nvPr/>
          </p:nvSpPr>
          <p:spPr>
            <a:xfrm>
              <a:off x="4905375" y="2495550"/>
              <a:ext cx="2343150" cy="1304925"/>
            </a:xfrm>
            <a:prstGeom prst="roundRect">
              <a:avLst>
                <a:gd name="adj" fmla="val 4380"/>
              </a:avLst>
            </a:prstGeom>
            <a:solidFill>
              <a:schemeClr val="accent1"/>
            </a:solidFill>
            <a:ln>
              <a:noFill/>
            </a:ln>
          </p:spPr>
        </p:sp>
        <p:sp>
          <p:nvSpPr>
            <p:cNvPr id="24" name="TextBox 24"/>
            <p:cNvSpPr txBox="1"/>
            <p:nvPr/>
          </p:nvSpPr>
          <p:spPr>
            <a:xfrm>
              <a:off x="5300567" y="2728912"/>
              <a:ext cx="1552766" cy="440055"/>
            </a:xfrm>
            <a:prstGeom prst="rect">
              <a:avLst/>
            </a:prstGeom>
            <a:noFill/>
            <a:ln>
              <a:noFill/>
            </a:ln>
          </p:spPr>
          <p:txBody>
            <a:bodyPr wrap="none" lIns="0" tIns="0" rIns="0" bIns="0" anchor="t" anchorCtr="0">
              <a:spAutoFit/>
            </a:bodyPr>
            <a:lstStyle/>
            <a:p>
              <a:pPr algn="ctr"/>
              <a:r>
                <a:rPr lang="zh-CN" sz="2250" b="1" dirty="0">
                  <a:solidFill>
                    <a:srgbClr val="FFFFFF"/>
                  </a:solidFill>
                  <a:latin typeface="+mn-lt"/>
                  <a:ea typeface="+mn-ea"/>
                  <a:cs typeface="+mn-cs"/>
                </a:rPr>
                <a:t>相同 P / Q</a:t>
              </a:r>
            </a:p>
          </p:txBody>
        </p:sp>
        <p:sp>
          <p:nvSpPr>
            <p:cNvPr id="25" name="TextBox 25"/>
            <p:cNvSpPr txBox="1"/>
            <p:nvPr/>
          </p:nvSpPr>
          <p:spPr>
            <a:xfrm>
              <a:off x="5362575" y="3286125"/>
              <a:ext cx="1428750" cy="293370"/>
            </a:xfrm>
            <a:prstGeom prst="rect">
              <a:avLst/>
            </a:prstGeom>
            <a:noFill/>
            <a:ln>
              <a:noFill/>
            </a:ln>
          </p:spPr>
          <p:txBody>
            <a:bodyPr wrap="none" lIns="0" tIns="0" rIns="0" bIns="0" anchor="t" anchorCtr="0">
              <a:spAutoFit/>
            </a:bodyPr>
            <a:lstStyle/>
            <a:p>
              <a:pPr algn="ctr"/>
              <a:r>
                <a:rPr lang="zh-CN" sz="1500" dirty="0">
                  <a:solidFill>
                    <a:srgbClr val="FFFFFF"/>
                  </a:solidFill>
                  <a:latin typeface="+mn-lt"/>
                  <a:ea typeface="+mn-ea"/>
                  <a:cs typeface="+mn-cs"/>
                </a:rPr>
                <a:t>不等于相同原因</a:t>
              </a:r>
            </a:p>
          </p:txBody>
        </p:sp>
        <p:sp>
          <p:nvSpPr>
            <p:cNvPr id="26" name="Line 26"/>
            <p:cNvSpPr/>
            <p:nvPr/>
          </p:nvSpPr>
          <p:spPr>
            <a:xfrm>
              <a:off x="7324725" y="3143250"/>
              <a:ext cx="533400" cy="9525"/>
            </a:xfrm>
            <a:custGeom>
              <a:avLst/>
              <a:gdLst/>
              <a:ahLst/>
              <a:cxnLst/>
              <a:rect l="l" t="t" r="r" b="b"/>
              <a:pathLst>
                <a:path w="533400" h="9525">
                  <a:moveTo>
                    <a:pt x="0" y="0"/>
                  </a:moveTo>
                  <a:lnTo>
                    <a:pt x="533400" y="0"/>
                  </a:lnTo>
                </a:path>
              </a:pathLst>
            </a:custGeom>
            <a:noFill/>
            <a:ln w="28575">
              <a:solidFill>
                <a:schemeClr val="accent1"/>
              </a:solidFill>
            </a:ln>
          </p:spPr>
        </p:sp>
        <p:sp>
          <p:nvSpPr>
            <p:cNvPr id="27" name="Polygon 27"/>
            <p:cNvSpPr/>
            <p:nvPr/>
          </p:nvSpPr>
          <p:spPr>
            <a:xfrm>
              <a:off x="7763781" y="309767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28" name="TextBox 28"/>
            <p:cNvSpPr txBox="1"/>
            <p:nvPr/>
          </p:nvSpPr>
          <p:spPr>
            <a:xfrm>
              <a:off x="8085582" y="2526030"/>
              <a:ext cx="2154936" cy="801243"/>
            </a:xfrm>
            <a:prstGeom prst="rect">
              <a:avLst/>
            </a:prstGeom>
            <a:noFill/>
            <a:ln>
              <a:noFill/>
            </a:ln>
          </p:spPr>
          <p:txBody>
            <a:bodyPr wrap="none" lIns="0" tIns="0" rIns="0" bIns="0" anchor="t" anchorCtr="0">
              <a:spAutoFit/>
            </a:bodyPr>
            <a:lstStyle/>
            <a:p>
              <a:pPr algn="l">
                <a:lnSpc>
                  <a:spcPts val="3075"/>
                </a:lnSpc>
              </a:pPr>
              <a:r>
                <a:rPr lang="zh-CN" sz="2100" b="1" dirty="0">
                  <a:solidFill>
                    <a:schemeClr val="accent1"/>
                  </a:solidFill>
                  <a:latin typeface="+mn-lt"/>
                  <a:ea typeface="+mn-ea"/>
                  <a:cs typeface="+mn-cs"/>
                </a:rPr>
                <a:t>增加P0</a:t>
              </a:r>
              <a:br/>
              <a:r>
                <a:rPr lang="zh-CN" sz="2100" b="1" dirty="0">
                  <a:solidFill>
                    <a:schemeClr val="accent1"/>
                  </a:solidFill>
                  <a:latin typeface="+mn-lt"/>
                  <a:ea typeface="+mn-ea"/>
                  <a:cs typeface="+mn-cs"/>
                </a:rPr>
                <a:t>有条件改善该歧义</a:t>
              </a:r>
            </a:p>
          </p:txBody>
        </p:sp>
        <p:sp>
          <p:nvSpPr>
            <p:cNvPr id="29" name="Rectangle 29"/>
            <p:cNvSpPr/>
            <p:nvPr/>
          </p:nvSpPr>
          <p:spPr>
            <a:xfrm>
              <a:off x="457200" y="4810125"/>
              <a:ext cx="11277600" cy="1400175"/>
            </a:xfrm>
            <a:prstGeom prst="roundRect">
              <a:avLst>
                <a:gd name="adj" fmla="val 4082"/>
              </a:avLst>
            </a:prstGeom>
            <a:solidFill>
              <a:schemeClr val="lt2"/>
            </a:solidFill>
            <a:ln>
              <a:noFill/>
            </a:ln>
          </p:spPr>
        </p:sp>
        <p:sp>
          <p:nvSpPr>
            <p:cNvPr id="30" name="TextBox 30"/>
            <p:cNvSpPr txBox="1"/>
            <p:nvPr/>
          </p:nvSpPr>
          <p:spPr>
            <a:xfrm>
              <a:off x="665607" y="4954905"/>
              <a:ext cx="6523482"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双点仍有歧义：未知正常负载与等效泄漏可以同形。</a:t>
              </a:r>
            </a:p>
          </p:txBody>
        </p:sp>
        <p:sp>
          <p:nvSpPr>
            <p:cNvPr id="31" name="TextBox 31"/>
            <p:cNvSpPr txBox="1"/>
            <p:nvPr/>
          </p:nvSpPr>
          <p:spPr>
            <a:xfrm>
              <a:off x="667131" y="5406390"/>
              <a:ext cx="663351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输出有限模式 / 待检查 / 数据无效；位置到监测支管或区段。</a:t>
              </a:r>
            </a:p>
          </p:txBody>
        </p:sp>
        <p:sp>
          <p:nvSpPr>
            <p:cNvPr id="32" name="TextBox 32"/>
            <p:cNvSpPr txBox="1"/>
            <p:nvPr/>
          </p:nvSpPr>
          <p:spPr>
            <a:xfrm>
              <a:off x="668655" y="5791200"/>
              <a:ext cx="465963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成立条件：信号可观测，参考可标定，操作可重复。</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7" name="route-highlight"/>
          <p:cNvSpPr/>
          <p:nvPr/>
        </p:nvSpPr>
        <p:spPr>
          <a:xfrm>
            <a:off x="10610850" y="257175"/>
            <a:ext cx="619125" cy="295275"/>
          </a:xfrm>
          <a:prstGeom prst="roundRect">
            <a:avLst>
              <a:gd name="adj" fmla="val 12903"/>
            </a:avLst>
          </a:prstGeom>
          <a:solidFill>
            <a:schemeClr val="lt2"/>
          </a:solidFill>
          <a:ln>
            <a:noFill/>
          </a:ln>
        </p:spPr>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实施</a:t>
            </a:r>
          </a:p>
        </p:txBody>
      </p:sp>
      <p:grpSp>
        <p:nvGrpSpPr>
          <p:cNvPr id="10" name="page-title"/>
          <p:cNvGrpSpPr/>
          <p:nvPr/>
        </p:nvGrpSpPr>
        <p:grpSpPr>
          <a:xfrm>
            <a:off x="441198" y="860108"/>
            <a:ext cx="5120640" cy="616077"/>
            <a:chOff x="441198" y="860108"/>
            <a:chExt cx="5120640" cy="616077"/>
          </a:xfrm>
        </p:grpSpPr>
        <p:sp>
          <p:nvSpPr>
            <p:cNvPr id="9" name="TextBox 9"/>
            <p:cNvSpPr txBox="1"/>
            <p:nvPr/>
          </p:nvSpPr>
          <p:spPr>
            <a:xfrm>
              <a:off x="441198" y="860108"/>
              <a:ext cx="5120640"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申报、结项、论文分层完成</a:t>
              </a:r>
            </a:p>
          </p:txBody>
        </p:sp>
      </p:grpSp>
      <p:sp>
        <p:nvSpPr>
          <p:cNvPr id="11" name="source-footer"/>
          <p:cNvSpPr txBox="1"/>
          <p:nvPr/>
        </p:nvSpPr>
        <p:spPr>
          <a:xfrm>
            <a:off x="451104" y="6404610"/>
            <a:ext cx="453542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当前重点：申报；结项及论文按后续真实数据和批准任务书推进</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14/15</a:t>
            </a:r>
          </a:p>
        </p:txBody>
      </p:sp>
      <p:grpSp>
        <p:nvGrpSpPr>
          <p:cNvPr id="35" name="completion-standards"/>
          <p:cNvGrpSpPr/>
          <p:nvPr/>
        </p:nvGrpSpPr>
        <p:grpSpPr>
          <a:xfrm>
            <a:off x="457200" y="1857375"/>
            <a:ext cx="11277600" cy="4333875"/>
            <a:chOff x="457200" y="1857375"/>
            <a:chExt cx="11277600" cy="4333875"/>
          </a:xfrm>
        </p:grpSpPr>
        <p:sp>
          <p:nvSpPr>
            <p:cNvPr id="13" name="Rectangle 13"/>
            <p:cNvSpPr/>
            <p:nvPr/>
          </p:nvSpPr>
          <p:spPr>
            <a:xfrm>
              <a:off x="457200" y="1857375"/>
              <a:ext cx="3524250" cy="3114675"/>
            </a:xfrm>
            <a:prstGeom prst="roundRect">
              <a:avLst>
                <a:gd name="adj" fmla="val 2446"/>
              </a:avLst>
            </a:prstGeom>
            <a:solidFill>
              <a:schemeClr val="lt2"/>
            </a:solidFill>
            <a:ln>
              <a:noFill/>
            </a:ln>
          </p:spPr>
        </p:sp>
        <p:sp>
          <p:nvSpPr>
            <p:cNvPr id="14" name="Rectangle 14"/>
            <p:cNvSpPr/>
            <p:nvPr/>
          </p:nvSpPr>
          <p:spPr>
            <a:xfrm>
              <a:off x="457200" y="1857375"/>
              <a:ext cx="3524250" cy="57150"/>
            </a:xfrm>
            <a:prstGeom prst="rect">
              <a:avLst/>
            </a:prstGeom>
            <a:solidFill>
              <a:schemeClr val="accent1"/>
            </a:solidFill>
            <a:ln>
              <a:noFill/>
            </a:ln>
          </p:spPr>
        </p:sp>
        <p:sp>
          <p:nvSpPr>
            <p:cNvPr id="15" name="TextBox 15"/>
            <p:cNvSpPr txBox="1"/>
            <p:nvPr/>
          </p:nvSpPr>
          <p:spPr>
            <a:xfrm>
              <a:off x="669798" y="2050732"/>
              <a:ext cx="880110"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申报</a:t>
              </a:r>
            </a:p>
          </p:txBody>
        </p:sp>
        <p:sp>
          <p:nvSpPr>
            <p:cNvPr id="16" name="TextBox 16"/>
            <p:cNvSpPr txBox="1"/>
            <p:nvPr/>
          </p:nvSpPr>
          <p:spPr>
            <a:xfrm>
              <a:off x="678180" y="2714625"/>
              <a:ext cx="102489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当前一个月</a:t>
              </a:r>
            </a:p>
          </p:txBody>
        </p:sp>
        <p:sp>
          <p:nvSpPr>
            <p:cNvPr id="17" name="TextBox 17"/>
            <p:cNvSpPr txBox="1"/>
            <p:nvPr/>
          </p:nvSpPr>
          <p:spPr>
            <a:xfrm>
              <a:off x="676656" y="3320415"/>
              <a:ext cx="2109978" cy="1018794"/>
            </a:xfrm>
            <a:prstGeom prst="rect">
              <a:avLst/>
            </a:prstGeom>
            <a:noFill/>
            <a:ln>
              <a:noFill/>
            </a:ln>
          </p:spPr>
          <p:txBody>
            <a:bodyPr wrap="none" lIns="0" tIns="0" rIns="0" bIns="0" anchor="t" anchorCtr="0">
              <a:spAutoFit/>
            </a:bodyPr>
            <a:lstStyle/>
            <a:p>
              <a:pPr algn="l">
                <a:lnSpc>
                  <a:spcPts val="2625"/>
                </a:lnSpc>
              </a:pPr>
              <a:r>
                <a:rPr lang="zh-CN" sz="1800" dirty="0">
                  <a:solidFill>
                    <a:schemeClr val="dk1"/>
                  </a:solidFill>
                  <a:latin typeface="+mn-lt"/>
                  <a:ea typeface="+mn-ea"/>
                  <a:cs typeface="+mn-cs"/>
                </a:rPr>
                <a:t>九节模板 / 四工作包</a:t>
              </a:r>
              <a:br/>
              <a:r>
                <a:rPr lang="zh-CN" sz="1800" dirty="0">
                  <a:solidFill>
                    <a:schemeClr val="dk1"/>
                  </a:solidFill>
                  <a:latin typeface="+mn-lt"/>
                  <a:ea typeface="+mn-ea"/>
                  <a:cs typeface="+mn-cs"/>
                </a:rPr>
                <a:t>模型与反例</a:t>
              </a:r>
              <a:br/>
              <a:r>
                <a:rPr lang="zh-CN" sz="1800" dirty="0">
                  <a:solidFill>
                    <a:schemeClr val="dk1"/>
                  </a:solidFill>
                  <a:latin typeface="+mn-lt"/>
                  <a:ea typeface="+mn-ea"/>
                  <a:cs typeface="+mn-cs"/>
                </a:rPr>
                <a:t>实验资源计划</a:t>
              </a:r>
            </a:p>
          </p:txBody>
        </p:sp>
        <p:sp>
          <p:nvSpPr>
            <p:cNvPr id="18" name="Line 18"/>
            <p:cNvSpPr/>
            <p:nvPr/>
          </p:nvSpPr>
          <p:spPr>
            <a:xfrm>
              <a:off x="4029075" y="3390900"/>
              <a:ext cx="238125" cy="9525"/>
            </a:xfrm>
            <a:custGeom>
              <a:avLst/>
              <a:gdLst/>
              <a:ahLst/>
              <a:cxnLst/>
              <a:rect l="l" t="t" r="r" b="b"/>
              <a:pathLst>
                <a:path w="238125" h="9525">
                  <a:moveTo>
                    <a:pt x="0" y="0"/>
                  </a:moveTo>
                  <a:lnTo>
                    <a:pt x="238125" y="0"/>
                  </a:lnTo>
                </a:path>
              </a:pathLst>
            </a:custGeom>
            <a:noFill/>
            <a:ln w="19050">
              <a:solidFill>
                <a:schemeClr val="accent1"/>
              </a:solidFill>
            </a:ln>
          </p:spPr>
        </p:sp>
        <p:sp>
          <p:nvSpPr>
            <p:cNvPr id="19" name="Polygon 19"/>
            <p:cNvSpPr/>
            <p:nvPr/>
          </p:nvSpPr>
          <p:spPr>
            <a:xfrm>
              <a:off x="4172856" y="334532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20" name="Rectangle 20"/>
            <p:cNvSpPr/>
            <p:nvPr/>
          </p:nvSpPr>
          <p:spPr>
            <a:xfrm>
              <a:off x="4333875" y="1857375"/>
              <a:ext cx="3524250" cy="3114675"/>
            </a:xfrm>
            <a:prstGeom prst="roundRect">
              <a:avLst>
                <a:gd name="adj" fmla="val 2446"/>
              </a:avLst>
            </a:prstGeom>
            <a:solidFill>
              <a:schemeClr val="lt2"/>
            </a:solidFill>
            <a:ln>
              <a:noFill/>
            </a:ln>
          </p:spPr>
        </p:sp>
        <p:sp>
          <p:nvSpPr>
            <p:cNvPr id="21" name="Rectangle 21"/>
            <p:cNvSpPr/>
            <p:nvPr/>
          </p:nvSpPr>
          <p:spPr>
            <a:xfrm>
              <a:off x="4333875" y="1857375"/>
              <a:ext cx="3524250" cy="57150"/>
            </a:xfrm>
            <a:prstGeom prst="rect">
              <a:avLst/>
            </a:prstGeom>
            <a:solidFill>
              <a:schemeClr val="accent3"/>
            </a:solidFill>
            <a:ln>
              <a:noFill/>
            </a:ln>
          </p:spPr>
        </p:sp>
        <p:sp>
          <p:nvSpPr>
            <p:cNvPr id="22" name="TextBox 22"/>
            <p:cNvSpPr txBox="1"/>
            <p:nvPr/>
          </p:nvSpPr>
          <p:spPr>
            <a:xfrm>
              <a:off x="4546473" y="2050732"/>
              <a:ext cx="880110" cy="616077"/>
            </a:xfrm>
            <a:prstGeom prst="rect">
              <a:avLst/>
            </a:prstGeom>
            <a:noFill/>
            <a:ln>
              <a:noFill/>
            </a:ln>
          </p:spPr>
          <p:txBody>
            <a:bodyPr wrap="none" lIns="0" tIns="0" rIns="0" bIns="0" anchor="t" anchorCtr="0">
              <a:spAutoFit/>
            </a:bodyPr>
            <a:lstStyle/>
            <a:p>
              <a:pPr algn="l"/>
              <a:r>
                <a:rPr lang="zh-CN" sz="3150" b="1" dirty="0">
                  <a:solidFill>
                    <a:schemeClr val="accent3"/>
                  </a:solidFill>
                  <a:latin typeface="+mn-lt"/>
                  <a:ea typeface="+mn-ea"/>
                  <a:cs typeface="+mn-cs"/>
                </a:rPr>
                <a:t>结项</a:t>
              </a:r>
            </a:p>
          </p:txBody>
        </p:sp>
        <p:sp>
          <p:nvSpPr>
            <p:cNvPr id="23" name="TextBox 23"/>
            <p:cNvSpPr txBox="1"/>
            <p:nvPr/>
          </p:nvSpPr>
          <p:spPr>
            <a:xfrm>
              <a:off x="4554855" y="2714625"/>
              <a:ext cx="1681162"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2027.03—2028.02</a:t>
              </a:r>
            </a:p>
          </p:txBody>
        </p:sp>
        <p:sp>
          <p:nvSpPr>
            <p:cNvPr id="24" name="TextBox 24"/>
            <p:cNvSpPr txBox="1"/>
            <p:nvPr/>
          </p:nvSpPr>
          <p:spPr>
            <a:xfrm>
              <a:off x="4553331" y="3320415"/>
              <a:ext cx="2109978" cy="1018794"/>
            </a:xfrm>
            <a:prstGeom prst="rect">
              <a:avLst/>
            </a:prstGeom>
            <a:noFill/>
            <a:ln>
              <a:noFill/>
            </a:ln>
          </p:spPr>
          <p:txBody>
            <a:bodyPr wrap="none" lIns="0" tIns="0" rIns="0" bIns="0" anchor="t" anchorCtr="0">
              <a:spAutoFit/>
            </a:bodyPr>
            <a:lstStyle/>
            <a:p>
              <a:pPr algn="l">
                <a:lnSpc>
                  <a:spcPts val="2625"/>
                </a:lnSpc>
              </a:pPr>
              <a:r>
                <a:rPr lang="zh-CN" sz="1800" dirty="0">
                  <a:solidFill>
                    <a:schemeClr val="dk1"/>
                  </a:solidFill>
                  <a:latin typeface="+mn-lt"/>
                  <a:ea typeface="+mn-ea"/>
                  <a:cs typeface="+mn-cs"/>
                </a:rPr>
                <a:t>实物系统 / 独立实测</a:t>
              </a:r>
              <a:br/>
              <a:r>
                <a:rPr lang="zh-CN" sz="1800" dirty="0">
                  <a:solidFill>
                    <a:schemeClr val="dk1"/>
                  </a:solidFill>
                  <a:latin typeface="+mn-lt"/>
                  <a:ea typeface="+mn-ea"/>
                  <a:cs typeface="+mn-cs"/>
                </a:rPr>
                <a:t>方法对照</a:t>
              </a:r>
              <a:br/>
              <a:r>
                <a:rPr lang="zh-CN" sz="1800" dirty="0">
                  <a:solidFill>
                    <a:schemeClr val="dk1"/>
                  </a:solidFill>
                  <a:latin typeface="+mn-lt"/>
                  <a:ea typeface="+mn-ea"/>
                  <a:cs typeface="+mn-cs"/>
                </a:rPr>
                <a:t>报告和过程记录</a:t>
              </a:r>
            </a:p>
          </p:txBody>
        </p:sp>
        <p:sp>
          <p:nvSpPr>
            <p:cNvPr id="25" name="Line 25"/>
            <p:cNvSpPr/>
            <p:nvPr/>
          </p:nvSpPr>
          <p:spPr>
            <a:xfrm>
              <a:off x="7905750" y="3390900"/>
              <a:ext cx="238125" cy="9525"/>
            </a:xfrm>
            <a:custGeom>
              <a:avLst/>
              <a:gdLst/>
              <a:ahLst/>
              <a:cxnLst/>
              <a:rect l="l" t="t" r="r" b="b"/>
              <a:pathLst>
                <a:path w="238125" h="9525">
                  <a:moveTo>
                    <a:pt x="0" y="0"/>
                  </a:moveTo>
                  <a:lnTo>
                    <a:pt x="238125" y="0"/>
                  </a:lnTo>
                </a:path>
              </a:pathLst>
            </a:custGeom>
            <a:noFill/>
            <a:ln w="19050">
              <a:solidFill>
                <a:schemeClr val="accent1"/>
              </a:solidFill>
            </a:ln>
          </p:spPr>
        </p:sp>
        <p:sp>
          <p:nvSpPr>
            <p:cNvPr id="26" name="Polygon 26"/>
            <p:cNvSpPr/>
            <p:nvPr/>
          </p:nvSpPr>
          <p:spPr>
            <a:xfrm>
              <a:off x="8049531" y="3345326"/>
              <a:ext cx="94344" cy="91147"/>
            </a:xfrm>
            <a:custGeom>
              <a:avLst/>
              <a:gdLst/>
              <a:ahLst/>
              <a:cxnLst/>
              <a:rect l="l" t="t" r="r" b="b"/>
              <a:pathLst>
                <a:path w="94344" h="91147">
                  <a:moveTo>
                    <a:pt x="94344" y="45574"/>
                  </a:moveTo>
                  <a:lnTo>
                    <a:pt x="0" y="91147"/>
                  </a:lnTo>
                  <a:lnTo>
                    <a:pt x="0" y="0"/>
                  </a:lnTo>
                  <a:close/>
                </a:path>
              </a:pathLst>
            </a:custGeom>
            <a:solidFill>
              <a:schemeClr val="accent1"/>
            </a:solidFill>
            <a:ln>
              <a:noFill/>
            </a:ln>
          </p:spPr>
        </p:sp>
        <p:sp>
          <p:nvSpPr>
            <p:cNvPr id="27" name="Rectangle 27"/>
            <p:cNvSpPr/>
            <p:nvPr/>
          </p:nvSpPr>
          <p:spPr>
            <a:xfrm>
              <a:off x="8210550" y="1857375"/>
              <a:ext cx="3524250" cy="3114675"/>
            </a:xfrm>
            <a:prstGeom prst="roundRect">
              <a:avLst>
                <a:gd name="adj" fmla="val 2446"/>
              </a:avLst>
            </a:prstGeom>
            <a:solidFill>
              <a:schemeClr val="lt2"/>
            </a:solidFill>
            <a:ln>
              <a:noFill/>
            </a:ln>
          </p:spPr>
        </p:sp>
        <p:sp>
          <p:nvSpPr>
            <p:cNvPr id="28" name="Rectangle 28"/>
            <p:cNvSpPr/>
            <p:nvPr/>
          </p:nvSpPr>
          <p:spPr>
            <a:xfrm>
              <a:off x="8210550" y="1857375"/>
              <a:ext cx="3524250" cy="57150"/>
            </a:xfrm>
            <a:prstGeom prst="rect">
              <a:avLst/>
            </a:prstGeom>
            <a:solidFill>
              <a:schemeClr val="accent2"/>
            </a:solidFill>
            <a:ln>
              <a:noFill/>
            </a:ln>
          </p:spPr>
        </p:sp>
        <p:sp>
          <p:nvSpPr>
            <p:cNvPr id="29" name="TextBox 29"/>
            <p:cNvSpPr txBox="1"/>
            <p:nvPr/>
          </p:nvSpPr>
          <p:spPr>
            <a:xfrm>
              <a:off x="8423148" y="2050732"/>
              <a:ext cx="880110" cy="616077"/>
            </a:xfrm>
            <a:prstGeom prst="rect">
              <a:avLst/>
            </a:prstGeom>
            <a:noFill/>
            <a:ln>
              <a:noFill/>
            </a:ln>
          </p:spPr>
          <p:txBody>
            <a:bodyPr wrap="none" lIns="0" tIns="0" rIns="0" bIns="0" anchor="t" anchorCtr="0">
              <a:spAutoFit/>
            </a:bodyPr>
            <a:lstStyle/>
            <a:p>
              <a:pPr algn="l"/>
              <a:r>
                <a:rPr lang="zh-CN" sz="3150" b="1" dirty="0">
                  <a:solidFill>
                    <a:schemeClr val="accent2"/>
                  </a:solidFill>
                  <a:latin typeface="+mn-lt"/>
                  <a:ea typeface="+mn-ea"/>
                  <a:cs typeface="+mn-cs"/>
                </a:rPr>
                <a:t>论文</a:t>
              </a:r>
            </a:p>
          </p:txBody>
        </p:sp>
        <p:sp>
          <p:nvSpPr>
            <p:cNvPr id="30" name="TextBox 30"/>
            <p:cNvSpPr txBox="1"/>
            <p:nvPr/>
          </p:nvSpPr>
          <p:spPr>
            <a:xfrm>
              <a:off x="8431530" y="2714625"/>
              <a:ext cx="1428750" cy="293370"/>
            </a:xfrm>
            <a:prstGeom prst="rect">
              <a:avLst/>
            </a:prstGeom>
            <a:noFill/>
            <a:ln>
              <a:noFill/>
            </a:ln>
          </p:spPr>
          <p:txBody>
            <a:bodyPr wrap="none" lIns="0" tIns="0" rIns="0" bIns="0" anchor="t" anchorCtr="0">
              <a:spAutoFit/>
            </a:bodyPr>
            <a:lstStyle/>
            <a:p>
              <a:pPr algn="l"/>
              <a:r>
                <a:rPr lang="zh-CN" sz="1500" dirty="0">
                  <a:solidFill>
                    <a:schemeClr val="accent5"/>
                  </a:solidFill>
                  <a:latin typeface="+mn-lt"/>
                  <a:ea typeface="+mn-ea"/>
                  <a:cs typeface="+mn-cs"/>
                </a:rPr>
                <a:t>由真实证据提炼</a:t>
              </a:r>
            </a:p>
          </p:txBody>
        </p:sp>
        <p:sp>
          <p:nvSpPr>
            <p:cNvPr id="31" name="TextBox 31"/>
            <p:cNvSpPr txBox="1"/>
            <p:nvPr/>
          </p:nvSpPr>
          <p:spPr>
            <a:xfrm>
              <a:off x="8430006" y="3320415"/>
              <a:ext cx="2109978" cy="1018794"/>
            </a:xfrm>
            <a:prstGeom prst="rect">
              <a:avLst/>
            </a:prstGeom>
            <a:noFill/>
            <a:ln>
              <a:noFill/>
            </a:ln>
          </p:spPr>
          <p:txBody>
            <a:bodyPr wrap="none" lIns="0" tIns="0" rIns="0" bIns="0" anchor="t" anchorCtr="0">
              <a:spAutoFit/>
            </a:bodyPr>
            <a:lstStyle/>
            <a:p>
              <a:pPr algn="l">
                <a:lnSpc>
                  <a:spcPts val="2625"/>
                </a:lnSpc>
              </a:pPr>
              <a:r>
                <a:rPr lang="zh-CN" sz="1800" dirty="0">
                  <a:solidFill>
                    <a:schemeClr val="dk1"/>
                  </a:solidFill>
                  <a:latin typeface="+mn-lt"/>
                  <a:ea typeface="+mn-ea"/>
                  <a:cs typeface="+mn-cs"/>
                </a:rPr>
                <a:t>一个主问题 / 强基线</a:t>
              </a:r>
              <a:br/>
              <a:r>
                <a:rPr lang="zh-CN" sz="1800" dirty="0">
                  <a:solidFill>
                    <a:schemeClr val="dk1"/>
                  </a:solidFill>
                  <a:latin typeface="+mn-lt"/>
                  <a:ea typeface="+mn-ea"/>
                  <a:cs typeface="+mn-cs"/>
                </a:rPr>
                <a:t>独立数据与消融</a:t>
              </a:r>
              <a:br/>
              <a:r>
                <a:rPr lang="zh-CN" sz="1800" dirty="0">
                  <a:solidFill>
                    <a:schemeClr val="dk1"/>
                  </a:solidFill>
                  <a:latin typeface="+mn-lt"/>
                  <a:ea typeface="+mn-ea"/>
                  <a:cs typeface="+mn-cs"/>
                </a:rPr>
                <a:t>可复现的研究贡献</a:t>
              </a:r>
            </a:p>
          </p:txBody>
        </p:sp>
        <p:sp>
          <p:nvSpPr>
            <p:cNvPr id="32" name="Rectangle 32"/>
            <p:cNvSpPr/>
            <p:nvPr/>
          </p:nvSpPr>
          <p:spPr>
            <a:xfrm>
              <a:off x="457200" y="5372100"/>
              <a:ext cx="11277600" cy="819150"/>
            </a:xfrm>
            <a:prstGeom prst="roundRect">
              <a:avLst>
                <a:gd name="adj" fmla="val 6977"/>
              </a:avLst>
            </a:prstGeom>
            <a:solidFill>
              <a:schemeClr val="accent1"/>
            </a:solidFill>
            <a:ln>
              <a:noFill/>
            </a:ln>
          </p:spPr>
        </p:sp>
        <p:sp>
          <p:nvSpPr>
            <p:cNvPr id="33" name="TextBox 33"/>
            <p:cNvSpPr txBox="1"/>
            <p:nvPr/>
          </p:nvSpPr>
          <p:spPr>
            <a:xfrm>
              <a:off x="657606" y="5492115"/>
              <a:ext cx="5349240"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mn-lt"/>
                  <a:ea typeface="+mn-ea"/>
                  <a:cs typeface="+mn-cs"/>
                </a:rPr>
                <a:t>论文优先：渐进故障辨识边界；可靠通信为备选。</a:t>
              </a:r>
            </a:p>
          </p:txBody>
        </p:sp>
        <p:sp>
          <p:nvSpPr>
            <p:cNvPr id="34" name="TextBox 34"/>
            <p:cNvSpPr txBox="1"/>
            <p:nvPr/>
          </p:nvSpPr>
          <p:spPr>
            <a:xfrm>
              <a:off x="659130" y="5857875"/>
              <a:ext cx="6275070" cy="293370"/>
            </a:xfrm>
            <a:prstGeom prst="rect">
              <a:avLst/>
            </a:prstGeom>
            <a:noFill/>
            <a:ln>
              <a:noFill/>
            </a:ln>
          </p:spPr>
          <p:txBody>
            <a:bodyPr wrap="none" lIns="0" tIns="0" rIns="0" bIns="0" anchor="t" anchorCtr="0">
              <a:spAutoFit/>
            </a:bodyPr>
            <a:lstStyle/>
            <a:p>
              <a:pPr algn="l"/>
              <a:r>
                <a:rPr lang="zh-CN" sz="1500" dirty="0">
                  <a:solidFill>
                    <a:srgbClr val="D8EAE2"/>
                  </a:solidFill>
                  <a:latin typeface="+mn-lt"/>
                  <a:ea typeface="+mn-ea"/>
                  <a:cs typeface="+mn-cs"/>
                </a:rPr>
                <a:t>发表、收录与未来加分需要另行确认；立项材料不承诺已经取得成果。</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header-mark"/>
          <p:cNvSpPr/>
          <p:nvPr/>
        </p:nvSpPr>
        <p:spPr>
          <a:xfrm>
            <a:off x="457200" y="333375"/>
            <a:ext cx="76200" cy="180975"/>
          </a:xfrm>
          <a:prstGeom prst="rect">
            <a:avLst/>
          </a:prstGeom>
          <a:solidFill>
            <a:schemeClr val="accent1"/>
          </a:solidFill>
          <a:ln>
            <a:noFill/>
          </a:ln>
        </p:spPr>
      </p:sp>
      <p:sp>
        <p:nvSpPr>
          <p:cNvPr id="3" name="page-kicker"/>
          <p:cNvSpPr txBox="1"/>
          <p:nvPr/>
        </p:nvSpPr>
        <p:spPr>
          <a:xfrm>
            <a:off x="641604" y="356235"/>
            <a:ext cx="1651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滴智卫 / 创新训练申报</a:t>
            </a:r>
          </a:p>
        </p:txBody>
      </p:sp>
      <p:sp>
        <p:nvSpPr>
          <p:cNvPr id="4" name="page-route-0"/>
          <p:cNvSpPr txBox="1"/>
          <p:nvPr/>
        </p:nvSpPr>
        <p:spPr>
          <a:xfrm>
            <a:off x="8356854"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5" name="page-route-1"/>
          <p:cNvSpPr txBox="1"/>
          <p:nvPr/>
        </p:nvSpPr>
        <p:spPr>
          <a:xfrm>
            <a:off x="914742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6" name="route-highlight"/>
          <p:cNvSpPr/>
          <p:nvPr/>
        </p:nvSpPr>
        <p:spPr>
          <a:xfrm>
            <a:off x="9820275" y="257175"/>
            <a:ext cx="619125" cy="295275"/>
          </a:xfrm>
          <a:prstGeom prst="roundRect">
            <a:avLst>
              <a:gd name="adj" fmla="val 12903"/>
            </a:avLst>
          </a:prstGeom>
          <a:solidFill>
            <a:schemeClr val="lt2"/>
          </a:solidFill>
          <a:ln>
            <a:noFill/>
          </a:ln>
        </p:spPr>
      </p:sp>
      <p:sp>
        <p:nvSpPr>
          <p:cNvPr id="7" name="page-route-2"/>
          <p:cNvSpPr txBox="1"/>
          <p:nvPr/>
        </p:nvSpPr>
        <p:spPr>
          <a:xfrm>
            <a:off x="9938004" y="337185"/>
            <a:ext cx="33528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证据</a:t>
            </a:r>
          </a:p>
        </p:txBody>
      </p:sp>
      <p:sp>
        <p:nvSpPr>
          <p:cNvPr id="8" name="page-route-3"/>
          <p:cNvSpPr txBox="1"/>
          <p:nvPr/>
        </p:nvSpPr>
        <p:spPr>
          <a:xfrm>
            <a:off x="10728579" y="337185"/>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10" name="page-title"/>
          <p:cNvGrpSpPr/>
          <p:nvPr/>
        </p:nvGrpSpPr>
        <p:grpSpPr>
          <a:xfrm>
            <a:off x="441198" y="860108"/>
            <a:ext cx="3424428" cy="616077"/>
            <a:chOff x="441198" y="860108"/>
            <a:chExt cx="3424428" cy="616077"/>
          </a:xfrm>
        </p:grpSpPr>
        <p:sp>
          <p:nvSpPr>
            <p:cNvPr id="9" name="TextBox 9"/>
            <p:cNvSpPr txBox="1"/>
            <p:nvPr/>
          </p:nvSpPr>
          <p:spPr>
            <a:xfrm>
              <a:off x="441198" y="860108"/>
              <a:ext cx="3424428"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n-lt"/>
                  <a:ea typeface="+mn-ea"/>
                  <a:cs typeface="+mn-cs"/>
                </a:rPr>
                <a:t>来源与可复现记录</a:t>
              </a:r>
            </a:p>
          </p:txBody>
        </p:sp>
      </p:grpSp>
      <p:sp>
        <p:nvSpPr>
          <p:cNvPr id="11" name="source-footer"/>
          <p:cNvSpPr txBox="1"/>
          <p:nvPr/>
        </p:nvSpPr>
        <p:spPr>
          <a:xfrm>
            <a:off x="451104" y="6404610"/>
            <a:ext cx="356616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完整链接与原始合成数据见仓库、协议及证据清单</a:t>
            </a:r>
          </a:p>
        </p:txBody>
      </p:sp>
      <p:sp>
        <p:nvSpPr>
          <p:cNvPr id="12" name="page-number"/>
          <p:cNvSpPr txBox="1"/>
          <p:nvPr/>
        </p:nvSpPr>
        <p:spPr>
          <a:xfrm>
            <a:off x="11284458" y="6404610"/>
            <a:ext cx="456438"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15/15</a:t>
            </a:r>
          </a:p>
        </p:txBody>
      </p:sp>
      <p:grpSp>
        <p:nvGrpSpPr>
          <p:cNvPr id="24" name="literature-register"/>
          <p:cNvGrpSpPr/>
          <p:nvPr/>
        </p:nvGrpSpPr>
        <p:grpSpPr>
          <a:xfrm>
            <a:off x="446532" y="1611630"/>
            <a:ext cx="2756589" cy="3916871"/>
            <a:chOff x="446532" y="1611630"/>
            <a:chExt cx="2756589" cy="3916871"/>
          </a:xfrm>
        </p:grpSpPr>
        <p:sp>
          <p:nvSpPr>
            <p:cNvPr id="13" name="TextBox 13"/>
            <p:cNvSpPr txBox="1"/>
            <p:nvPr/>
          </p:nvSpPr>
          <p:spPr>
            <a:xfrm>
              <a:off x="446532" y="161163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研究文献</a:t>
              </a:r>
            </a:p>
          </p:txBody>
        </p:sp>
        <p:sp>
          <p:nvSpPr>
            <p:cNvPr id="14" name="TextBox 14"/>
            <p:cNvSpPr txBox="1"/>
            <p:nvPr/>
          </p:nvSpPr>
          <p:spPr>
            <a:xfrm>
              <a:off x="449580" y="2105025"/>
              <a:ext cx="2442972"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滴灌堵塞综述 / AWM 2022</a:t>
              </a:r>
            </a:p>
          </p:txBody>
        </p:sp>
        <p:sp>
          <p:nvSpPr>
            <p:cNvPr id="15" name="TextBox 15"/>
            <p:cNvSpPr txBox="1"/>
            <p:nvPr/>
          </p:nvSpPr>
          <p:spPr>
            <a:xfrm>
              <a:off x="450342" y="2406968"/>
              <a:ext cx="2703424"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10.1016/j.agwat.2022.107873</a:t>
              </a:r>
            </a:p>
          </p:txBody>
        </p:sp>
        <p:sp>
          <p:nvSpPr>
            <p:cNvPr id="16" name="TextBox 16"/>
            <p:cNvSpPr txBox="1"/>
            <p:nvPr/>
          </p:nvSpPr>
          <p:spPr>
            <a:xfrm>
              <a:off x="449580" y="2819400"/>
              <a:ext cx="2666552"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HydroNeuro / Sensors 2026</a:t>
              </a:r>
            </a:p>
          </p:txBody>
        </p:sp>
        <p:sp>
          <p:nvSpPr>
            <p:cNvPr id="17" name="TextBox 17"/>
            <p:cNvSpPr txBox="1"/>
            <p:nvPr/>
          </p:nvSpPr>
          <p:spPr>
            <a:xfrm>
              <a:off x="450342" y="3121342"/>
              <a:ext cx="1712957"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10.3390/s26103010</a:t>
              </a:r>
            </a:p>
          </p:txBody>
        </p:sp>
        <p:sp>
          <p:nvSpPr>
            <p:cNvPr id="18" name="TextBox 18"/>
            <p:cNvSpPr txBox="1"/>
            <p:nvPr/>
          </p:nvSpPr>
          <p:spPr>
            <a:xfrm>
              <a:off x="449580" y="3533775"/>
              <a:ext cx="2424827"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可控灌溉平台 / Land 2026</a:t>
              </a:r>
            </a:p>
          </p:txBody>
        </p:sp>
        <p:sp>
          <p:nvSpPr>
            <p:cNvPr id="19" name="TextBox 19"/>
            <p:cNvSpPr txBox="1"/>
            <p:nvPr/>
          </p:nvSpPr>
          <p:spPr>
            <a:xfrm>
              <a:off x="450342" y="3835718"/>
              <a:ext cx="1967389"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10.3390/land15030464</a:t>
              </a:r>
            </a:p>
          </p:txBody>
        </p:sp>
        <p:sp>
          <p:nvSpPr>
            <p:cNvPr id="20" name="TextBox 20"/>
            <p:cNvSpPr txBox="1"/>
            <p:nvPr/>
          </p:nvSpPr>
          <p:spPr>
            <a:xfrm>
              <a:off x="449580" y="4248150"/>
              <a:ext cx="2753541"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农业事件通信 / Sensors 2021</a:t>
              </a:r>
            </a:p>
          </p:txBody>
        </p:sp>
        <p:sp>
          <p:nvSpPr>
            <p:cNvPr id="21" name="TextBox 21"/>
            <p:cNvSpPr txBox="1"/>
            <p:nvPr/>
          </p:nvSpPr>
          <p:spPr>
            <a:xfrm>
              <a:off x="450342" y="4550092"/>
              <a:ext cx="1712957"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10.3390/s21165541</a:t>
              </a:r>
            </a:p>
          </p:txBody>
        </p:sp>
        <p:sp>
          <p:nvSpPr>
            <p:cNvPr id="22" name="TextBox 22"/>
            <p:cNvSpPr txBox="1"/>
            <p:nvPr/>
          </p:nvSpPr>
          <p:spPr>
            <a:xfrm>
              <a:off x="449580" y="4962525"/>
              <a:ext cx="2421636" cy="293370"/>
            </a:xfrm>
            <a:prstGeom prst="rect">
              <a:avLst/>
            </a:prstGeom>
            <a:noFill/>
            <a:ln>
              <a:noFill/>
            </a:ln>
          </p:spPr>
          <p:txBody>
            <a:bodyPr wrap="none" lIns="0" tIns="0" rIns="0" bIns="0" anchor="t" anchorCtr="0">
              <a:spAutoFit/>
            </a:bodyPr>
            <a:lstStyle/>
            <a:p>
              <a:pPr algn="l"/>
              <a:r>
                <a:rPr lang="zh-CN" sz="1500" dirty="0">
                  <a:solidFill>
                    <a:schemeClr val="dk1"/>
                  </a:solidFill>
                  <a:latin typeface="+mn-lt"/>
                  <a:ea typeface="+mn-ea"/>
                  <a:cs typeface="+mn-cs"/>
                </a:rPr>
                <a:t>长期事件通信 / IFAC 2025</a:t>
              </a:r>
            </a:p>
          </p:txBody>
        </p:sp>
        <p:sp>
          <p:nvSpPr>
            <p:cNvPr id="23" name="TextBox 23"/>
            <p:cNvSpPr txBox="1"/>
            <p:nvPr/>
          </p:nvSpPr>
          <p:spPr>
            <a:xfrm>
              <a:off x="450342" y="5264468"/>
              <a:ext cx="2676163"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10.1016/j.ifacol.2025.11.761</a:t>
              </a:r>
            </a:p>
          </p:txBody>
        </p:sp>
      </p:grpSp>
      <p:grpSp>
        <p:nvGrpSpPr>
          <p:cNvPr id="34" name="policy-reproduction"/>
          <p:cNvGrpSpPr/>
          <p:nvPr/>
        </p:nvGrpSpPr>
        <p:grpSpPr>
          <a:xfrm>
            <a:off x="7067550" y="1743075"/>
            <a:ext cx="4667250" cy="4429125"/>
            <a:chOff x="7067550" y="1743075"/>
            <a:chExt cx="4667250" cy="4429125"/>
          </a:xfrm>
        </p:grpSpPr>
        <p:sp>
          <p:nvSpPr>
            <p:cNvPr id="25" name="Rectangle 25"/>
            <p:cNvSpPr/>
            <p:nvPr/>
          </p:nvSpPr>
          <p:spPr>
            <a:xfrm>
              <a:off x="7067550" y="1743075"/>
              <a:ext cx="4667250" cy="4429125"/>
            </a:xfrm>
            <a:prstGeom prst="roundRect">
              <a:avLst>
                <a:gd name="adj" fmla="val 1720"/>
              </a:avLst>
            </a:prstGeom>
            <a:solidFill>
              <a:schemeClr val="lt2"/>
            </a:solidFill>
            <a:ln>
              <a:noFill/>
            </a:ln>
          </p:spPr>
        </p:sp>
        <p:sp>
          <p:nvSpPr>
            <p:cNvPr id="26" name="TextBox 26"/>
            <p:cNvSpPr txBox="1"/>
            <p:nvPr/>
          </p:nvSpPr>
          <p:spPr>
            <a:xfrm>
              <a:off x="7285482" y="1916430"/>
              <a:ext cx="200025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制度与复现文件</a:t>
              </a:r>
            </a:p>
          </p:txBody>
        </p:sp>
        <p:sp>
          <p:nvSpPr>
            <p:cNvPr id="27" name="TextBox 27"/>
            <p:cNvSpPr txBox="1"/>
            <p:nvPr/>
          </p:nvSpPr>
          <p:spPr>
            <a:xfrm>
              <a:off x="7289292" y="2445068"/>
              <a:ext cx="320268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塔大实施细则</a:t>
              </a:r>
              <a:br/>
              <a:r>
                <a:rPr lang="en-US" sz="1350" dirty="0">
                  <a:solidFill>
                    <a:schemeClr val="dk1"/>
                  </a:solidFill>
                  <a:latin typeface="+mn-lt"/>
                  <a:ea typeface="+mn-ea"/>
                  <a:cs typeface="+mn-cs"/>
                </a:rPr>
                <a:t>jwc.taru.edu.cn/info/1035/3872.htm</a:t>
              </a:r>
            </a:p>
          </p:txBody>
        </p:sp>
        <p:sp>
          <p:nvSpPr>
            <p:cNvPr id="28" name="TextBox 28"/>
            <p:cNvSpPr txBox="1"/>
            <p:nvPr/>
          </p:nvSpPr>
          <p:spPr>
            <a:xfrm>
              <a:off x="7288530" y="332422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新增诊断</a:t>
              </a:r>
            </a:p>
          </p:txBody>
        </p:sp>
        <p:sp>
          <p:nvSpPr>
            <p:cNvPr id="29" name="TextBox 29"/>
            <p:cNvSpPr txBox="1"/>
            <p:nvPr/>
          </p:nvSpPr>
          <p:spPr>
            <a:xfrm>
              <a:off x="7289292" y="3654742"/>
              <a:ext cx="3584614"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diagnosis_feasibility.py / DIAGNOSIS.md</a:t>
              </a:r>
            </a:p>
          </p:txBody>
        </p:sp>
        <p:sp>
          <p:nvSpPr>
            <p:cNvPr id="30" name="TextBox 30"/>
            <p:cNvSpPr txBox="1"/>
            <p:nvPr/>
          </p:nvSpPr>
          <p:spPr>
            <a:xfrm>
              <a:off x="7288530" y="414337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公平通信</a:t>
              </a:r>
            </a:p>
          </p:txBody>
        </p:sp>
        <p:sp>
          <p:nvSpPr>
            <p:cNvPr id="31" name="TextBox 31"/>
            <p:cNvSpPr txBox="1"/>
            <p:nvPr/>
          </p:nvSpPr>
          <p:spPr>
            <a:xfrm>
              <a:off x="7289292" y="4473892"/>
              <a:ext cx="2612555"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communication_feasibility.py</a:t>
              </a:r>
            </a:p>
          </p:txBody>
        </p:sp>
        <p:sp>
          <p:nvSpPr>
            <p:cNvPr id="32" name="TextBox 32"/>
            <p:cNvSpPr txBox="1"/>
            <p:nvPr/>
          </p:nvSpPr>
          <p:spPr>
            <a:xfrm>
              <a:off x="7288530" y="496252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原始证据</a:t>
              </a:r>
            </a:p>
          </p:txBody>
        </p:sp>
        <p:sp>
          <p:nvSpPr>
            <p:cNvPr id="33" name="TextBox 33"/>
            <p:cNvSpPr txBox="1"/>
            <p:nvPr/>
          </p:nvSpPr>
          <p:spPr>
            <a:xfrm>
              <a:off x="7289292" y="5293042"/>
              <a:ext cx="3294069"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summary.json / trials.csv / 证据清单</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rip-research">
  <a:themeElements>
    <a:clrScheme name="drip-research">
      <a:dk1>
        <a:srgbClr val="20332F"/>
      </a:dk1>
      <a:lt1>
        <a:srgbClr val="FAF9F5"/>
      </a:lt1>
      <a:dk2>
        <a:srgbClr val="20332F"/>
      </a:dk2>
      <a:lt2>
        <a:srgbClr val="EEF3EF"/>
      </a:lt2>
      <a:accent1>
        <a:srgbClr val="164C45"/>
      </a:accent1>
      <a:accent2>
        <a:srgbClr val="B4512B"/>
      </a:accent2>
      <a:accent3>
        <a:srgbClr val="426B91"/>
      </a:accent3>
      <a:accent4>
        <a:srgbClr val="164C45"/>
      </a:accent4>
      <a:accent5>
        <a:srgbClr val="556762"/>
      </a:accent5>
      <a:accent6>
        <a:srgbClr val="C7D2CB"/>
      </a:accent6>
      <a:hlink>
        <a:srgbClr val="B4512B"/>
      </a:hlink>
      <a:folHlink>
        <a:srgbClr val="426B91"/>
      </a:folHlink>
    </a:clrScheme>
    <a:fontScheme name="drip-research">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ip-resear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rip-research">
  <a:themeElements>
    <a:clrScheme name="drip-research">
      <a:dk1>
        <a:srgbClr val="20332F"/>
      </a:dk1>
      <a:lt1>
        <a:srgbClr val="FAF9F5"/>
      </a:lt1>
      <a:dk2>
        <a:srgbClr val="20332F"/>
      </a:dk2>
      <a:lt2>
        <a:srgbClr val="EEF3EF"/>
      </a:lt2>
      <a:accent1>
        <a:srgbClr val="164C45"/>
      </a:accent1>
      <a:accent2>
        <a:srgbClr val="B4512B"/>
      </a:accent2>
      <a:accent3>
        <a:srgbClr val="426B91"/>
      </a:accent3>
      <a:accent4>
        <a:srgbClr val="164C45"/>
      </a:accent4>
      <a:accent5>
        <a:srgbClr val="556762"/>
      </a:accent5>
      <a:accent6>
        <a:srgbClr val="C7D2CB"/>
      </a:accent6>
      <a:hlink>
        <a:srgbClr val="B4512B"/>
      </a:hlink>
      <a:folHlink>
        <a:srgbClr val="426B91"/>
      </a:folHlink>
    </a:clrScheme>
    <a:fontScheme name="drip-research">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ip-resear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2026-10-02T18:33:01Z</dcterms:created>
  <dcterms:modified xsi:type="dcterms:W3CDTF">2026-10-02T18:33:01Z</dcterms:modified>
  <cp:category/>
  <cp:contentStatus/>
</cp:coreProperties>
</file>