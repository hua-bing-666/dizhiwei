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项目研究轮灌操作变化和水力异常可能混淆，以及短时告警在无线链路中可能丢失的问题。我们拟完成建模与异常感知、可靠事件通信、系统集成与分层验证三个工作包，实施期为二〇二七年三月至二〇二八年二月。前期已经完成的是文献、模型和合成回放，还没有实物或田间实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压力与流量的变化可能来自正常操作，也可能来自泄漏或水力受限。我们首先检验单测点能够看到多大异常，并比较固定阈值、切换等待和状态辅助等方法。随后在相同本地检测器下比较通信策略，避免用检测差异制造通信优势。目标是改善异常监测与告警信息质量，暂不承担自动灌溉控制或增产承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滴灌堵塞综述提示压力和流量间接监测的局限，因此不能承诺逐滴头早期堵塞识别。HydroNeuro已经研究阀态与嵌入式异常感知，并非没有鲁棒性研究。灌溉模拟平台说明可控水路实验有可参考路径。农业事件通信也已有长期研究。本项目拟检验连续切换和短时异常，在强基线、相同告警确认规则下研究适用边界；这些是候选贡献，尚未被实物数据证明。</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工作包建立模型并通过标定和实验确定测点可观测范围，评估异常判别与强基线。第二工作包研究固定采样下的通信策略，加入事件缓存、确认和去重，检验开销与告警及时性。第三工作包完成节点、接收端和水路台架集成，用带标签数据、软件、报告与演示兑现任务。研究问题保持聚焦，项目工作量覆盖建模、方法、实现和验证，论文再选择证据最充分的主贡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型包含共同供水阻力和两条支路，A支路记录压力和流量，压力点位于等效上游节流之后。负载用平方根压力关系描述，动态用一阶响应近似。模型能够检验供压、负载和测点假设的作用，但不是水锤或计算流体力学求解。当共同阻力为零时，B支路开关可以不影响A，这说明轮灌扰动不能被当作必然现场事实。</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同一组模型参数下的正常轮灌和切换期间等效泄漏，B支路在一百八十到二百九十九秒开启，异常在一百九十到二百七十九秒发生。曲线是模拟压力，用于设计需要采集的工况，不能作为真实设备性能或田间识别率。下一步应先标定压力与流量，并用独立操作记录标记异常时间，再判断模拟响应是否接近真实水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通信回放包含八类场景、二十个种子、三种丢包率和四种策略，共一千九百二十次合成回放。这里展示百分之十随机丢包加十五秒阻断的正常和噪声场景，各策略使用相同检测器、滤波载荷和确认规则。滤波限频可能形成有用取舍，但较慢周期也有竞争力；原始事件在较大噪声下频繁发送，却得到更小的远端重构误差。误差相对本地模拟滤波值，帧数包含上行和确认、以及尾段清队列，不能推出真实能耗。</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抗检验说明当前方法有真实的模型内失败案例。弱等效泄漏在二十个噪声种子中均未被候选检测器命中，阀态缺失会使正常切换产生误报，较大噪声下每试次平均有二点七次误报。加入事件保留和确认后，百分之三十随机丢包加十五秒阻断仍不能保证所有短时告警在演示设定的二十秒内到达。通信可靠性也不能补救本地漏检。因此我们保留失败案例、强基线和测量边界，而不承诺所有工况准确识别。</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原型先完成压力和流量的有线原始采集，再实现本地检测和事件缓存。LoRa接收端返回确认并记录日志，网站用于展示、工况回放和证据追踪。数据包含启动会话、序号、时间、测量和事件编号，以便区分重启、重传和丢包。超时、去重、掉电恢复与溢出记录属于必须验证的工程任务。当前网站只展示模型和合成结果，尚未连接真实传感器。</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验先从参考标定、五类核心工况和独立操作标签开始，每个核心条件计划至少三次独立重复。方法参数由小试确定，验证按天或批次留出，避免相邻序列混入训练与测试。无线实验分别记录故障到本地发现、本地告警到远端收到两段延迟，并测量完整供电边界。计划至少八小时连续台架记录。真实现场必须取得许可，只有正常运行数据时不报告田间故障准确率。数量和时长是计划指标，提交前由导师核对资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四月先解决标定和可观测性，五到八月完成主要台架、真实LoRa和整机测量，九十月冻结方法并形成论文稿，余下时间补关键实验和结项材料。二千元是启动额度估算，不是采购报价，假设已有电脑并能借参考压力和电流测量仪器。获得资助后优先扩展实验条件和独立批次，第二节点或现场试验按资源落实。论文费用不包含在当前启动预算内。</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项目拟交付一个监测节点、一个接收端、一套双支路台架，以及带标定和标签的数据、检测与通信对照、复现程序和回放软件。调研与研究报告、过程记录和论文稿共同组成成果体系。我们按争取国家级的目标组织研究深度，但立项仍取决于评审和条件，不能以页面数量保证。结项以任务书和系统研究成果为依据，论文从证据充分的问题中提炼贡献，已有工作和未来目标分别陈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单测点存在结构性歧义：在本模型中，可以构造上游节流与供压下降，使测点压力和流量相同。因此主要输出应是异常及建议检查，原因分类仅在有证据的条件下开展。共同阻力为零的反例又说明正常切换对测点的影响依赖实际水路。是否可行最终取决于可观测信号、标定质量和独立重复，而不是图形看起来像工程系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申报阶段交付的是有证据的前期分析和可执行任务体系，现阶段不需要把所有研究结果提前做完。大创结项需要拿出系统、独立实测、对照研究和过程材料。论文则要选择一个有证据的主问题，优先考察可靠告警约束下的通信取舍。若新检测没有超过强基线，就不强行包装算法创新；只有接线和界面展示，也不足以支撑高水平方法论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学校实施细则和二〇二六申报通知用于理解项目与验收流程，本批要求下发后还要核对。主要技术依据包括堵塞检测综述、HydroNeuro、灌溉模拟平台和两项事件通信研究。所有模型结果均有本地程序和JSON或CSV记录，网站提供查看入口。这里列出的论文证明已有研究路径，不能代替本项目的创新与实物验证。</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rip-researc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rip-researc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304544"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创新训练申报方案</a:t>
            </a:r>
          </a:p>
        </p:txBody>
      </p:sp>
      <p:sp>
        <p:nvSpPr>
          <p:cNvPr id="3" name="Line 3"/>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4"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5"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01 / 15</a:t>
            </a:r>
          </a:p>
        </p:txBody>
      </p:sp>
      <p:grpSp>
        <p:nvGrpSpPr>
          <p:cNvPr id="10" name="cover-claim"/>
          <p:cNvGrpSpPr/>
          <p:nvPr/>
        </p:nvGrpSpPr>
        <p:grpSpPr>
          <a:xfrm>
            <a:off x="438150" y="1828800"/>
            <a:ext cx="5181600" cy="3937825"/>
            <a:chOff x="438150" y="1828800"/>
            <a:chExt cx="5181600" cy="3937825"/>
          </a:xfrm>
        </p:grpSpPr>
        <p:sp>
          <p:nvSpPr>
            <p:cNvPr id="6" name="TextBox 6"/>
            <p:cNvSpPr txBox="1"/>
            <p:nvPr/>
          </p:nvSpPr>
          <p:spPr>
            <a:xfrm>
              <a:off x="438150" y="1828800"/>
              <a:ext cx="5181600" cy="1676400"/>
            </a:xfrm>
            <a:prstGeom prst="rect">
              <a:avLst/>
            </a:prstGeom>
            <a:noFill/>
            <a:ln>
              <a:noFill/>
            </a:ln>
          </p:spPr>
          <p:txBody>
            <a:bodyPr wrap="none" lIns="0" tIns="0" rIns="0" bIns="0" anchor="t" anchorCtr="0">
              <a:spAutoFit/>
            </a:bodyPr>
            <a:lstStyle/>
            <a:p>
              <a:pPr algn="l">
                <a:lnSpc>
                  <a:spcPts val="6300"/>
                </a:lnSpc>
              </a:pPr>
              <a:r>
                <a:rPr lang="zh-CN" sz="4500" b="1" dirty="0">
                  <a:solidFill>
                    <a:schemeClr val="accent1"/>
                  </a:solidFill>
                  <a:latin typeface="+mn-lt"/>
                  <a:ea typeface="+mn-ea"/>
                  <a:cs typeface="+mn-cs"/>
                </a:rPr>
                <a:t>让轮灌监测看得清</a:t>
              </a:r>
              <a:br/>
              <a:r>
                <a:rPr lang="zh-CN" sz="4500" b="1" dirty="0">
                  <a:solidFill>
                    <a:schemeClr val="accent1"/>
                  </a:solidFill>
                  <a:latin typeface="+mn-lt"/>
                  <a:ea typeface="+mn-ea"/>
                  <a:cs typeface="+mn-cs"/>
                </a:rPr>
                <a:t>让短时告警报得可靠</a:t>
              </a:r>
            </a:p>
          </p:txBody>
        </p:sp>
        <p:sp>
          <p:nvSpPr>
            <p:cNvPr id="7" name="TextBox 7"/>
            <p:cNvSpPr txBox="1"/>
            <p:nvPr/>
          </p:nvSpPr>
          <p:spPr>
            <a:xfrm>
              <a:off x="448056" y="3758565"/>
              <a:ext cx="3904488" cy="704469"/>
            </a:xfrm>
            <a:prstGeom prst="rect">
              <a:avLst/>
            </a:prstGeom>
            <a:noFill/>
            <a:ln>
              <a:noFill/>
            </a:ln>
          </p:spPr>
          <p:txBody>
            <a:bodyPr wrap="none" lIns="0" tIns="0" rIns="0" bIns="0" anchor="t" anchorCtr="0">
              <a:spAutoFit/>
            </a:bodyPr>
            <a:lstStyle/>
            <a:p>
              <a:pPr algn="l">
                <a:lnSpc>
                  <a:spcPts val="2775"/>
                </a:lnSpc>
              </a:pPr>
              <a:r>
                <a:rPr lang="zh-CN" sz="1800" dirty="0">
                  <a:solidFill>
                    <a:schemeClr val="dk1"/>
                  </a:solidFill>
                  <a:latin typeface="+mn-lt"/>
                  <a:ea typeface="+mn-ea"/>
                  <a:cs typeface="+mn-cs"/>
                </a:rPr>
                <a:t>面向棉田轮灌工况的滴灌支管异常监测</a:t>
              </a:r>
              <a:br/>
              <a:r>
                <a:rPr lang="zh-CN" sz="1800" dirty="0">
                  <a:solidFill>
                    <a:schemeClr val="dk1"/>
                  </a:solidFill>
                  <a:latin typeface="+mn-lt"/>
                  <a:ea typeface="+mn-ea"/>
                  <a:cs typeface="+mn-cs"/>
                </a:rPr>
                <a:t>与事件触发 LoRa 通信方法研究</a:t>
              </a:r>
            </a:p>
          </p:txBody>
        </p:sp>
        <p:sp>
          <p:nvSpPr>
            <p:cNvPr id="8" name="TextBox 8"/>
            <p:cNvSpPr txBox="1"/>
            <p:nvPr/>
          </p:nvSpPr>
          <p:spPr>
            <a:xfrm>
              <a:off x="448056" y="4911090"/>
              <a:ext cx="419823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2027.03—2028.02｜争取较高级别立项</a:t>
              </a:r>
            </a:p>
          </p:txBody>
        </p:sp>
        <p:sp>
          <p:nvSpPr>
            <p:cNvPr id="9" name="TextBox 9"/>
            <p:cNvSpPr txBox="1"/>
            <p:nvPr/>
          </p:nvSpPr>
          <p:spPr>
            <a:xfrm>
              <a:off x="450342" y="5502592"/>
              <a:ext cx="40119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前期基础：文献、模型与合成回放；尚无实物数据</a:t>
              </a:r>
            </a:p>
          </p:txBody>
        </p:sp>
      </p:grpSp>
      <p:grpSp>
        <p:nvGrpSpPr>
          <p:cNvPr id="22" name="cover-system"/>
          <p:cNvGrpSpPr/>
          <p:nvPr/>
        </p:nvGrpSpPr>
        <p:grpSpPr>
          <a:xfrm>
            <a:off x="8724900" y="2097405"/>
            <a:ext cx="2705100" cy="2841879"/>
            <a:chOff x="8724900" y="2097405"/>
            <a:chExt cx="2705100" cy="2841879"/>
          </a:xfrm>
        </p:grpSpPr>
        <p:sp>
          <p:nvSpPr>
            <p:cNvPr id="11" name="Line 11"/>
            <p:cNvSpPr/>
            <p:nvPr/>
          </p:nvSpPr>
          <p:spPr>
            <a:xfrm>
              <a:off x="8724900" y="2714625"/>
              <a:ext cx="1276350" cy="9525"/>
            </a:xfrm>
            <a:custGeom>
              <a:avLst/>
              <a:gdLst/>
              <a:ahLst/>
              <a:cxnLst/>
              <a:rect l="l" t="t" r="r" b="b"/>
              <a:pathLst>
                <a:path w="1276350" h="9525">
                  <a:moveTo>
                    <a:pt x="0" y="0"/>
                  </a:moveTo>
                  <a:lnTo>
                    <a:pt x="1276350" y="0"/>
                  </a:lnTo>
                </a:path>
              </a:pathLst>
            </a:custGeom>
            <a:noFill/>
            <a:ln w="38100">
              <a:solidFill>
                <a:schemeClr val="accent1"/>
              </a:solidFill>
            </a:ln>
          </p:spPr>
        </p:sp>
        <p:sp>
          <p:nvSpPr>
            <p:cNvPr id="12" name="Line 12"/>
            <p:cNvSpPr/>
            <p:nvPr/>
          </p:nvSpPr>
          <p:spPr>
            <a:xfrm>
              <a:off x="10001250" y="2714625"/>
              <a:ext cx="9525" cy="1285875"/>
            </a:xfrm>
            <a:custGeom>
              <a:avLst/>
              <a:gdLst/>
              <a:ahLst/>
              <a:cxnLst/>
              <a:rect l="l" t="t" r="r" b="b"/>
              <a:pathLst>
                <a:path w="9525" h="1285875">
                  <a:moveTo>
                    <a:pt x="0" y="0"/>
                  </a:moveTo>
                  <a:lnTo>
                    <a:pt x="0" y="1285875"/>
                  </a:lnTo>
                </a:path>
              </a:pathLst>
            </a:custGeom>
            <a:noFill/>
            <a:ln w="38100">
              <a:solidFill>
                <a:schemeClr val="accent1"/>
              </a:solidFill>
            </a:ln>
          </p:spPr>
        </p:sp>
        <p:sp>
          <p:nvSpPr>
            <p:cNvPr id="13" name="Line 13"/>
            <p:cNvSpPr/>
            <p:nvPr/>
          </p:nvSpPr>
          <p:spPr>
            <a:xfrm>
              <a:off x="10001250" y="2714625"/>
              <a:ext cx="1428750" cy="9525"/>
            </a:xfrm>
            <a:custGeom>
              <a:avLst/>
              <a:gdLst/>
              <a:ahLst/>
              <a:cxnLst/>
              <a:rect l="l" t="t" r="r" b="b"/>
              <a:pathLst>
                <a:path w="1428750" h="9525">
                  <a:moveTo>
                    <a:pt x="0" y="0"/>
                  </a:moveTo>
                  <a:lnTo>
                    <a:pt x="1428750" y="0"/>
                  </a:lnTo>
                </a:path>
              </a:pathLst>
            </a:custGeom>
            <a:noFill/>
            <a:ln w="38100">
              <a:solidFill>
                <a:schemeClr val="accent1"/>
              </a:solidFill>
            </a:ln>
          </p:spPr>
        </p:sp>
        <p:sp>
          <p:nvSpPr>
            <p:cNvPr id="14" name="Line 14"/>
            <p:cNvSpPr/>
            <p:nvPr/>
          </p:nvSpPr>
          <p:spPr>
            <a:xfrm>
              <a:off x="10001250" y="4000500"/>
              <a:ext cx="1428750" cy="9525"/>
            </a:xfrm>
            <a:custGeom>
              <a:avLst/>
              <a:gdLst/>
              <a:ahLst/>
              <a:cxnLst/>
              <a:rect l="l" t="t" r="r" b="b"/>
              <a:pathLst>
                <a:path w="1428750" h="9525">
                  <a:moveTo>
                    <a:pt x="0" y="0"/>
                  </a:moveTo>
                  <a:lnTo>
                    <a:pt x="1428750" y="0"/>
                  </a:lnTo>
                </a:path>
              </a:pathLst>
            </a:custGeom>
            <a:noFill/>
            <a:ln w="38100">
              <a:solidFill>
                <a:schemeClr val="accent1"/>
              </a:solidFill>
            </a:ln>
          </p:spPr>
        </p:sp>
        <p:sp>
          <p:nvSpPr>
            <p:cNvPr id="15" name="Ellipse 15"/>
            <p:cNvSpPr/>
            <p:nvPr/>
          </p:nvSpPr>
          <p:spPr>
            <a:xfrm>
              <a:off x="10372725" y="2514600"/>
              <a:ext cx="400050" cy="400050"/>
            </a:xfrm>
            <a:prstGeom prst="ellipse">
              <a:avLst/>
            </a:prstGeom>
            <a:solidFill>
              <a:schemeClr val="lt1"/>
            </a:solidFill>
            <a:ln w="28575">
              <a:solidFill>
                <a:schemeClr val="accent1"/>
              </a:solidFill>
            </a:ln>
          </p:spPr>
        </p:sp>
        <p:sp>
          <p:nvSpPr>
            <p:cNvPr id="16" name="Ellipse 16"/>
            <p:cNvSpPr/>
            <p:nvPr/>
          </p:nvSpPr>
          <p:spPr>
            <a:xfrm>
              <a:off x="10372725" y="3800475"/>
              <a:ext cx="400050" cy="400050"/>
            </a:xfrm>
            <a:prstGeom prst="ellipse">
              <a:avLst/>
            </a:prstGeom>
            <a:solidFill>
              <a:schemeClr val="lt1"/>
            </a:solidFill>
            <a:ln w="28575">
              <a:solidFill>
                <a:schemeClr val="accent1"/>
              </a:solidFill>
            </a:ln>
          </p:spPr>
        </p:sp>
        <p:sp>
          <p:nvSpPr>
            <p:cNvPr id="17" name="TextBox 17"/>
            <p:cNvSpPr txBox="1"/>
            <p:nvPr/>
          </p:nvSpPr>
          <p:spPr>
            <a:xfrm>
              <a:off x="10493197" y="2596515"/>
              <a:ext cx="159106"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P</a:t>
              </a:r>
            </a:p>
          </p:txBody>
        </p:sp>
        <p:sp>
          <p:nvSpPr>
            <p:cNvPr id="18" name="TextBox 18"/>
            <p:cNvSpPr txBox="1"/>
            <p:nvPr/>
          </p:nvSpPr>
          <p:spPr>
            <a:xfrm>
              <a:off x="10467594" y="3882390"/>
              <a:ext cx="210312"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Q</a:t>
              </a:r>
            </a:p>
          </p:txBody>
        </p:sp>
        <p:sp>
          <p:nvSpPr>
            <p:cNvPr id="19" name="TextBox 19"/>
            <p:cNvSpPr txBox="1"/>
            <p:nvPr/>
          </p:nvSpPr>
          <p:spPr>
            <a:xfrm>
              <a:off x="8942832" y="2097405"/>
              <a:ext cx="58674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感知</a:t>
              </a:r>
            </a:p>
          </p:txBody>
        </p:sp>
        <p:sp>
          <p:nvSpPr>
            <p:cNvPr id="20" name="TextBox 20"/>
            <p:cNvSpPr txBox="1"/>
            <p:nvPr/>
          </p:nvSpPr>
          <p:spPr>
            <a:xfrm>
              <a:off x="10193274" y="4587240"/>
              <a:ext cx="987552" cy="352044"/>
            </a:xfrm>
            <a:prstGeom prst="rect">
              <a:avLst/>
            </a:prstGeom>
            <a:noFill/>
            <a:ln>
              <a:noFill/>
            </a:ln>
          </p:spPr>
          <p:txBody>
            <a:bodyPr wrap="none" lIns="0" tIns="0" rIns="0" bIns="0" anchor="t" anchorCtr="0">
              <a:spAutoFit/>
            </a:bodyPr>
            <a:lstStyle/>
            <a:p>
              <a:pPr algn="ctr"/>
              <a:r>
                <a:rPr lang="zh-CN" sz="1800" dirty="0">
                  <a:solidFill>
                    <a:schemeClr val="accent2"/>
                  </a:solidFill>
                  <a:latin typeface="+mn-lt"/>
                  <a:ea typeface="+mn-ea"/>
                  <a:cs typeface="+mn-cs"/>
                </a:rPr>
                <a:t>可靠上报</a:t>
              </a:r>
            </a:p>
          </p:txBody>
        </p:sp>
        <p:sp>
          <p:nvSpPr>
            <p:cNvPr id="21" name="Line 21"/>
            <p:cNvSpPr/>
            <p:nvPr/>
          </p:nvSpPr>
          <p:spPr>
            <a:xfrm>
              <a:off x="10572750" y="4295775"/>
              <a:ext cx="9525" cy="247650"/>
            </a:xfrm>
            <a:custGeom>
              <a:avLst/>
              <a:gdLst/>
              <a:ahLst/>
              <a:cxnLst/>
              <a:rect l="l" t="t" r="r" b="b"/>
              <a:pathLst>
                <a:path w="9525" h="247650">
                  <a:moveTo>
                    <a:pt x="0" y="0"/>
                  </a:moveTo>
                  <a:lnTo>
                    <a:pt x="0" y="247650"/>
                  </a:lnTo>
                </a:path>
              </a:pathLst>
            </a:custGeom>
            <a:noFill/>
            <a:ln w="19050">
              <a:solidFill>
                <a:schemeClr val="accent2"/>
              </a:solidFill>
              <a:custDash>
                <a:ds d="300000" sp="250000"/>
              </a:custDash>
            </a:ln>
          </p:spPr>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658368"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研究问题</a:t>
            </a:r>
          </a:p>
        </p:txBody>
      </p:sp>
      <p:grpSp>
        <p:nvGrpSpPr>
          <p:cNvPr id="4" name="page-title"/>
          <p:cNvGrpSpPr/>
          <p:nvPr/>
        </p:nvGrpSpPr>
        <p:grpSpPr>
          <a:xfrm>
            <a:off x="441198" y="812483"/>
            <a:ext cx="6392799" cy="616077"/>
            <a:chOff x="441198" y="812483"/>
            <a:chExt cx="6392799" cy="616077"/>
          </a:xfrm>
        </p:grpSpPr>
        <p:sp>
          <p:nvSpPr>
            <p:cNvPr id="3" name="TextBox 3"/>
            <p:cNvSpPr txBox="1"/>
            <p:nvPr/>
          </p:nvSpPr>
          <p:spPr>
            <a:xfrm>
              <a:off x="441198" y="812483"/>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正常操作与异常可能同时改变测量</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grpSp>
        <p:nvGrpSpPr>
          <p:cNvPr id="17" name="problem-comparison"/>
          <p:cNvGrpSpPr/>
          <p:nvPr/>
        </p:nvGrpSpPr>
        <p:grpSpPr>
          <a:xfrm>
            <a:off x="445770" y="1757362"/>
            <a:ext cx="11289030" cy="3741611"/>
            <a:chOff x="445770" y="1757362"/>
            <a:chExt cx="11289030" cy="3741611"/>
          </a:xfrm>
        </p:grpSpPr>
        <p:sp>
          <p:nvSpPr>
            <p:cNvPr id="8" name="TextBox 8"/>
            <p:cNvSpPr txBox="1"/>
            <p:nvPr/>
          </p:nvSpPr>
          <p:spPr>
            <a:xfrm>
              <a:off x="445770" y="1757362"/>
              <a:ext cx="274891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一组测量，两类来源</a:t>
              </a:r>
            </a:p>
          </p:txBody>
        </p:sp>
        <p:sp>
          <p:nvSpPr>
            <p:cNvPr id="9" name="Rectangle 9"/>
            <p:cNvSpPr/>
            <p:nvPr/>
          </p:nvSpPr>
          <p:spPr>
            <a:xfrm>
              <a:off x="457200" y="2343150"/>
              <a:ext cx="5391150" cy="1628775"/>
            </a:xfrm>
            <a:prstGeom prst="rect">
              <a:avLst/>
            </a:prstGeom>
            <a:solidFill>
              <a:schemeClr val="lt2"/>
            </a:solidFill>
            <a:ln>
              <a:noFill/>
            </a:ln>
          </p:spPr>
        </p:sp>
        <p:sp>
          <p:nvSpPr>
            <p:cNvPr id="10" name="TextBox 10"/>
            <p:cNvSpPr txBox="1"/>
            <p:nvPr/>
          </p:nvSpPr>
          <p:spPr>
            <a:xfrm>
              <a:off x="694182" y="253555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正常运行</a:t>
              </a:r>
            </a:p>
          </p:txBody>
        </p:sp>
        <p:sp>
          <p:nvSpPr>
            <p:cNvPr id="11" name="TextBox 11"/>
            <p:cNvSpPr txBox="1"/>
            <p:nvPr/>
          </p:nvSpPr>
          <p:spPr>
            <a:xfrm>
              <a:off x="695706" y="3053715"/>
              <a:ext cx="34107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支路开关、供压调整、负载改变</a:t>
              </a:r>
            </a:p>
          </p:txBody>
        </p:sp>
        <p:sp>
          <p:nvSpPr>
            <p:cNvPr id="12" name="Rectangle 12"/>
            <p:cNvSpPr/>
            <p:nvPr/>
          </p:nvSpPr>
          <p:spPr>
            <a:xfrm>
              <a:off x="6172200" y="2343150"/>
              <a:ext cx="5562600" cy="1628775"/>
            </a:xfrm>
            <a:prstGeom prst="rect">
              <a:avLst/>
            </a:prstGeom>
            <a:solidFill>
              <a:srgbClr val="F4ECE5"/>
            </a:solidFill>
            <a:ln>
              <a:noFill/>
            </a:ln>
          </p:spPr>
        </p:sp>
        <p:sp>
          <p:nvSpPr>
            <p:cNvPr id="13" name="TextBox 13"/>
            <p:cNvSpPr txBox="1"/>
            <p:nvPr/>
          </p:nvSpPr>
          <p:spPr>
            <a:xfrm>
              <a:off x="6409182" y="2535555"/>
              <a:ext cx="2000250"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需要检查的异常</a:t>
              </a:r>
            </a:p>
          </p:txBody>
        </p:sp>
        <p:sp>
          <p:nvSpPr>
            <p:cNvPr id="14" name="TextBox 14"/>
            <p:cNvSpPr txBox="1"/>
            <p:nvPr/>
          </p:nvSpPr>
          <p:spPr>
            <a:xfrm>
              <a:off x="6410706" y="3053715"/>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可控泄漏、水力受限、切换期短时异常</a:t>
              </a:r>
            </a:p>
          </p:txBody>
        </p:sp>
        <p:sp>
          <p:nvSpPr>
            <p:cNvPr id="15" name="TextBox 15"/>
            <p:cNvSpPr txBox="1"/>
            <p:nvPr/>
          </p:nvSpPr>
          <p:spPr>
            <a:xfrm>
              <a:off x="446532" y="4421505"/>
              <a:ext cx="539267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感知问题：正常扰动中能否看见显著异常？</a:t>
              </a:r>
            </a:p>
          </p:txBody>
        </p:sp>
        <p:sp>
          <p:nvSpPr>
            <p:cNvPr id="16" name="TextBox 16"/>
            <p:cNvSpPr txBox="1"/>
            <p:nvPr/>
          </p:nvSpPr>
          <p:spPr>
            <a:xfrm>
              <a:off x="446532" y="508825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通信问题：有限上报下能否保留并送达短时告警？</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627632"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文献依据与拟研究差异</a:t>
            </a:r>
          </a:p>
        </p:txBody>
      </p:sp>
      <p:grpSp>
        <p:nvGrpSpPr>
          <p:cNvPr id="4" name="page-title"/>
          <p:cNvGrpSpPr/>
          <p:nvPr/>
        </p:nvGrpSpPr>
        <p:grpSpPr>
          <a:xfrm>
            <a:off x="441198" y="812483"/>
            <a:ext cx="6392799" cy="616077"/>
            <a:chOff x="441198" y="812483"/>
            <a:chExt cx="6392799" cy="616077"/>
          </a:xfrm>
        </p:grpSpPr>
        <p:sp>
          <p:nvSpPr>
            <p:cNvPr id="3" name="TextBox 3"/>
            <p:cNvSpPr txBox="1"/>
            <p:nvPr/>
          </p:nvSpPr>
          <p:spPr>
            <a:xfrm>
              <a:off x="441198" y="812483"/>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研究增量落在动态工况与可靠告警</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803111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文献：AWM 2022；Sensors 2026 HydroNeuro；Land 2026；Sensors 2021；IFAC 2025。完整DOI见备用页。</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grpSp>
        <p:nvGrpSpPr>
          <p:cNvPr id="20" name="research-position"/>
          <p:cNvGrpSpPr/>
          <p:nvPr/>
        </p:nvGrpSpPr>
        <p:grpSpPr>
          <a:xfrm>
            <a:off x="446532" y="1840230"/>
            <a:ext cx="11288268" cy="3661029"/>
            <a:chOff x="446532" y="1840230"/>
            <a:chExt cx="11288268" cy="3661029"/>
          </a:xfrm>
        </p:grpSpPr>
        <p:sp>
          <p:nvSpPr>
            <p:cNvPr id="8" name="TextBox 8"/>
            <p:cNvSpPr txBox="1"/>
            <p:nvPr/>
          </p:nvSpPr>
          <p:spPr>
            <a:xfrm>
              <a:off x="446532" y="1840230"/>
              <a:ext cx="200025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间接检测的边界</a:t>
              </a:r>
            </a:p>
          </p:txBody>
        </p:sp>
        <p:sp>
          <p:nvSpPr>
            <p:cNvPr id="9" name="TextBox 9"/>
            <p:cNvSpPr txBox="1"/>
            <p:nvPr/>
          </p:nvSpPr>
          <p:spPr>
            <a:xfrm>
              <a:off x="6565392" y="1921192"/>
              <a:ext cx="186743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滴灌堵塞综述（2022）</a:t>
              </a:r>
            </a:p>
          </p:txBody>
        </p:sp>
        <p:sp>
          <p:nvSpPr>
            <p:cNvPr id="10" name="Line 10"/>
            <p:cNvSpPr/>
            <p:nvPr/>
          </p:nvSpPr>
          <p:spPr>
            <a:xfrm>
              <a:off x="457200" y="225742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1" name="TextBox 11"/>
            <p:cNvSpPr txBox="1"/>
            <p:nvPr/>
          </p:nvSpPr>
          <p:spPr>
            <a:xfrm>
              <a:off x="448056" y="2501265"/>
              <a:ext cx="559155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限定低成本测点可观测范围，不承诺逐滴头早期诊断</a:t>
              </a:r>
            </a:p>
          </p:txBody>
        </p:sp>
        <p:sp>
          <p:nvSpPr>
            <p:cNvPr id="12" name="TextBox 12"/>
            <p:cNvSpPr txBox="1"/>
            <p:nvPr/>
          </p:nvSpPr>
          <p:spPr>
            <a:xfrm>
              <a:off x="446532" y="3164205"/>
              <a:ext cx="228295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阀态建模已有先例</a:t>
              </a:r>
            </a:p>
          </p:txBody>
        </p:sp>
        <p:sp>
          <p:nvSpPr>
            <p:cNvPr id="13" name="TextBox 13"/>
            <p:cNvSpPr txBox="1"/>
            <p:nvPr/>
          </p:nvSpPr>
          <p:spPr>
            <a:xfrm>
              <a:off x="6565392" y="3245168"/>
              <a:ext cx="178788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HydroNeuro（2026）</a:t>
              </a:r>
            </a:p>
          </p:txBody>
        </p:sp>
        <p:sp>
          <p:nvSpPr>
            <p:cNvPr id="14" name="Line 14"/>
            <p:cNvSpPr/>
            <p:nvPr/>
          </p:nvSpPr>
          <p:spPr>
            <a:xfrm>
              <a:off x="457200" y="3581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5" name="TextBox 15"/>
            <p:cNvSpPr txBox="1"/>
            <p:nvPr/>
          </p:nvSpPr>
          <p:spPr>
            <a:xfrm>
              <a:off x="448056" y="3825240"/>
              <a:ext cx="583387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检验连续切换与短时异常，不把状态辅助直接当作创新</a:t>
              </a:r>
            </a:p>
          </p:txBody>
        </p:sp>
        <p:sp>
          <p:nvSpPr>
            <p:cNvPr id="16" name="TextBox 16"/>
            <p:cNvSpPr txBox="1"/>
            <p:nvPr/>
          </p:nvSpPr>
          <p:spPr>
            <a:xfrm>
              <a:off x="446532" y="4488180"/>
              <a:ext cx="31310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平台和事件通信已有研究</a:t>
              </a:r>
            </a:p>
          </p:txBody>
        </p:sp>
        <p:sp>
          <p:nvSpPr>
            <p:cNvPr id="17" name="TextBox 17"/>
            <p:cNvSpPr txBox="1"/>
            <p:nvPr/>
          </p:nvSpPr>
          <p:spPr>
            <a:xfrm>
              <a:off x="6565392" y="4569142"/>
              <a:ext cx="367571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灌溉平台（2026）；农业通信（2021/2025）</a:t>
              </a:r>
            </a:p>
          </p:txBody>
        </p:sp>
        <p:sp>
          <p:nvSpPr>
            <p:cNvPr id="18" name="Line 18"/>
            <p:cNvSpPr/>
            <p:nvPr/>
          </p:nvSpPr>
          <p:spPr>
            <a:xfrm>
              <a:off x="457200" y="490537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9" name="TextBox 19"/>
            <p:cNvSpPr txBox="1"/>
            <p:nvPr/>
          </p:nvSpPr>
          <p:spPr>
            <a:xfrm>
              <a:off x="448056" y="5149215"/>
              <a:ext cx="607618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增加强周期对照与相同告警确认，评价取舍而非预设优越</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819912"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拟开展研究</a:t>
            </a:r>
          </a:p>
        </p:txBody>
      </p:sp>
      <p:grpSp>
        <p:nvGrpSpPr>
          <p:cNvPr id="4" name="page-title"/>
          <p:cNvGrpSpPr/>
          <p:nvPr/>
        </p:nvGrpSpPr>
        <p:grpSpPr>
          <a:xfrm>
            <a:off x="441198" y="812483"/>
            <a:ext cx="5544693" cy="616077"/>
            <a:chOff x="441198" y="812483"/>
            <a:chExt cx="5544693" cy="616077"/>
          </a:xfrm>
        </p:grpSpPr>
        <p:sp>
          <p:nvSpPr>
            <p:cNvPr id="3" name="TextBox 3"/>
            <p:cNvSpPr txBox="1"/>
            <p:nvPr/>
          </p:nvSpPr>
          <p:spPr>
            <a:xfrm>
              <a:off x="441198" y="812483"/>
              <a:ext cx="554469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三个工作包组成完整研究闭环</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grpSp>
        <p:nvGrpSpPr>
          <p:cNvPr id="20" name="research-packages"/>
          <p:cNvGrpSpPr/>
          <p:nvPr/>
        </p:nvGrpSpPr>
        <p:grpSpPr>
          <a:xfrm>
            <a:off x="438150" y="1919288"/>
            <a:ext cx="11296650" cy="3776662"/>
            <a:chOff x="438150" y="1919288"/>
            <a:chExt cx="11296650" cy="3776662"/>
          </a:xfrm>
        </p:grpSpPr>
        <p:sp>
          <p:nvSpPr>
            <p:cNvPr id="8" name="TextBox 8"/>
            <p:cNvSpPr txBox="1"/>
            <p:nvPr/>
          </p:nvSpPr>
          <p:spPr>
            <a:xfrm>
              <a:off x="438150" y="1924050"/>
              <a:ext cx="704469" cy="876300"/>
            </a:xfrm>
            <a:prstGeom prst="rect">
              <a:avLst/>
            </a:prstGeom>
            <a:noFill/>
            <a:ln>
              <a:noFill/>
            </a:ln>
          </p:spPr>
          <p:txBody>
            <a:bodyPr wrap="none" lIns="0" tIns="0" rIns="0" bIns="0" anchor="t" anchorCtr="0">
              <a:spAutoFit/>
            </a:bodyPr>
            <a:lstStyle/>
            <a:p>
              <a:pPr algn="l"/>
              <a:r>
                <a:rPr lang="zh-CN" sz="4500" dirty="0">
                  <a:solidFill>
                    <a:schemeClr val="accent1"/>
                  </a:solidFill>
                  <a:latin typeface="+mn-lt"/>
                  <a:ea typeface="+mn-ea"/>
                  <a:cs typeface="+mn-cs"/>
                </a:rPr>
                <a:t>01</a:t>
              </a:r>
            </a:p>
          </p:txBody>
        </p:sp>
        <p:sp>
          <p:nvSpPr>
            <p:cNvPr id="9" name="TextBox 9"/>
            <p:cNvSpPr txBox="1"/>
            <p:nvPr/>
          </p:nvSpPr>
          <p:spPr>
            <a:xfrm>
              <a:off x="1617345" y="1919288"/>
              <a:ext cx="347140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WP1 水力建模与异常感知</a:t>
              </a:r>
            </a:p>
          </p:txBody>
        </p:sp>
        <p:sp>
          <p:nvSpPr>
            <p:cNvPr id="10" name="TextBox 10"/>
            <p:cNvSpPr txBox="1"/>
            <p:nvPr/>
          </p:nvSpPr>
          <p:spPr>
            <a:xfrm>
              <a:off x="1619631" y="2463165"/>
              <a:ext cx="448901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可观测性 → 参数校核 → 正常边界 → 强基线</a:t>
              </a:r>
            </a:p>
          </p:txBody>
        </p:sp>
        <p:sp>
          <p:nvSpPr>
            <p:cNvPr id="11" name="Line 11"/>
            <p:cNvSpPr/>
            <p:nvPr/>
          </p:nvSpPr>
          <p:spPr>
            <a:xfrm>
              <a:off x="1628775" y="2905125"/>
              <a:ext cx="10106025" cy="9525"/>
            </a:xfrm>
            <a:custGeom>
              <a:avLst/>
              <a:gdLst/>
              <a:ahLst/>
              <a:cxnLst/>
              <a:rect l="l" t="t" r="r" b="b"/>
              <a:pathLst>
                <a:path w="10106025" h="9525">
                  <a:moveTo>
                    <a:pt x="0" y="0"/>
                  </a:moveTo>
                  <a:lnTo>
                    <a:pt x="10106025" y="0"/>
                  </a:lnTo>
                </a:path>
              </a:pathLst>
            </a:custGeom>
            <a:noFill/>
            <a:ln w="9525">
              <a:solidFill>
                <a:schemeClr val="accent6"/>
              </a:solidFill>
            </a:ln>
          </p:spPr>
        </p:sp>
        <p:sp>
          <p:nvSpPr>
            <p:cNvPr id="12" name="TextBox 12"/>
            <p:cNvSpPr txBox="1"/>
            <p:nvPr/>
          </p:nvSpPr>
          <p:spPr>
            <a:xfrm>
              <a:off x="438150" y="3314700"/>
              <a:ext cx="704469" cy="876300"/>
            </a:xfrm>
            <a:prstGeom prst="rect">
              <a:avLst/>
            </a:prstGeom>
            <a:noFill/>
            <a:ln>
              <a:noFill/>
            </a:ln>
          </p:spPr>
          <p:txBody>
            <a:bodyPr wrap="none" lIns="0" tIns="0" rIns="0" bIns="0" anchor="t" anchorCtr="0">
              <a:spAutoFit/>
            </a:bodyPr>
            <a:lstStyle/>
            <a:p>
              <a:pPr algn="l"/>
              <a:r>
                <a:rPr lang="zh-CN" sz="4500" dirty="0">
                  <a:solidFill>
                    <a:schemeClr val="accent1"/>
                  </a:solidFill>
                  <a:latin typeface="+mn-lt"/>
                  <a:ea typeface="+mn-ea"/>
                  <a:cs typeface="+mn-cs"/>
                </a:rPr>
                <a:t>02</a:t>
              </a:r>
            </a:p>
          </p:txBody>
        </p:sp>
        <p:sp>
          <p:nvSpPr>
            <p:cNvPr id="13" name="TextBox 13"/>
            <p:cNvSpPr txBox="1"/>
            <p:nvPr/>
          </p:nvSpPr>
          <p:spPr>
            <a:xfrm>
              <a:off x="1617345" y="3309938"/>
              <a:ext cx="256272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WP2 可靠事件通信</a:t>
              </a:r>
            </a:p>
          </p:txBody>
        </p:sp>
        <p:sp>
          <p:nvSpPr>
            <p:cNvPr id="14" name="TextBox 14"/>
            <p:cNvSpPr txBox="1"/>
            <p:nvPr/>
          </p:nvSpPr>
          <p:spPr>
            <a:xfrm>
              <a:off x="1619631" y="3853815"/>
              <a:ext cx="473704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变化触发 / 限频 / 心跳；缓存 / ACK / 去重</a:t>
              </a:r>
            </a:p>
          </p:txBody>
        </p:sp>
        <p:sp>
          <p:nvSpPr>
            <p:cNvPr id="15" name="Line 15"/>
            <p:cNvSpPr/>
            <p:nvPr/>
          </p:nvSpPr>
          <p:spPr>
            <a:xfrm>
              <a:off x="1628775" y="4295775"/>
              <a:ext cx="10106025" cy="9525"/>
            </a:xfrm>
            <a:custGeom>
              <a:avLst/>
              <a:gdLst/>
              <a:ahLst/>
              <a:cxnLst/>
              <a:rect l="l" t="t" r="r" b="b"/>
              <a:pathLst>
                <a:path w="10106025" h="9525">
                  <a:moveTo>
                    <a:pt x="0" y="0"/>
                  </a:moveTo>
                  <a:lnTo>
                    <a:pt x="10106025" y="0"/>
                  </a:lnTo>
                </a:path>
              </a:pathLst>
            </a:custGeom>
            <a:noFill/>
            <a:ln w="9525">
              <a:solidFill>
                <a:schemeClr val="accent6"/>
              </a:solidFill>
            </a:ln>
          </p:spPr>
        </p:sp>
        <p:sp>
          <p:nvSpPr>
            <p:cNvPr id="16" name="TextBox 16"/>
            <p:cNvSpPr txBox="1"/>
            <p:nvPr/>
          </p:nvSpPr>
          <p:spPr>
            <a:xfrm>
              <a:off x="438150" y="4705350"/>
              <a:ext cx="704469" cy="876300"/>
            </a:xfrm>
            <a:prstGeom prst="rect">
              <a:avLst/>
            </a:prstGeom>
            <a:noFill/>
            <a:ln>
              <a:noFill/>
            </a:ln>
          </p:spPr>
          <p:txBody>
            <a:bodyPr wrap="none" lIns="0" tIns="0" rIns="0" bIns="0" anchor="t" anchorCtr="0">
              <a:spAutoFit/>
            </a:bodyPr>
            <a:lstStyle/>
            <a:p>
              <a:pPr algn="l"/>
              <a:r>
                <a:rPr lang="zh-CN" sz="4500" dirty="0">
                  <a:solidFill>
                    <a:schemeClr val="accent1"/>
                  </a:solidFill>
                  <a:latin typeface="+mn-lt"/>
                  <a:ea typeface="+mn-ea"/>
                  <a:cs typeface="+mn-cs"/>
                </a:rPr>
                <a:t>03</a:t>
              </a:r>
            </a:p>
          </p:txBody>
        </p:sp>
        <p:sp>
          <p:nvSpPr>
            <p:cNvPr id="17" name="TextBox 17"/>
            <p:cNvSpPr txBox="1"/>
            <p:nvPr/>
          </p:nvSpPr>
          <p:spPr>
            <a:xfrm>
              <a:off x="1617345" y="4700588"/>
              <a:ext cx="3471405"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WP3 系统集成与分层验证</a:t>
              </a:r>
            </a:p>
          </p:txBody>
        </p:sp>
        <p:sp>
          <p:nvSpPr>
            <p:cNvPr id="18" name="TextBox 18"/>
            <p:cNvSpPr txBox="1"/>
            <p:nvPr/>
          </p:nvSpPr>
          <p:spPr>
            <a:xfrm>
              <a:off x="1619631" y="5244465"/>
              <a:ext cx="45132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台架 + 固件 + 回放网站 + 数据/报告/演示</a:t>
              </a:r>
            </a:p>
          </p:txBody>
        </p:sp>
        <p:sp>
          <p:nvSpPr>
            <p:cNvPr id="19" name="Line 19"/>
            <p:cNvSpPr/>
            <p:nvPr/>
          </p:nvSpPr>
          <p:spPr>
            <a:xfrm>
              <a:off x="1628775" y="5686425"/>
              <a:ext cx="10106025" cy="9525"/>
            </a:xfrm>
            <a:custGeom>
              <a:avLst/>
              <a:gdLst/>
              <a:ahLst/>
              <a:cxnLst/>
              <a:rect l="l" t="t" r="r" b="b"/>
              <a:pathLst>
                <a:path w="10106025" h="9525">
                  <a:moveTo>
                    <a:pt x="0" y="0"/>
                  </a:moveTo>
                  <a:lnTo>
                    <a:pt x="10106025" y="0"/>
                  </a:lnTo>
                </a:path>
              </a:pathLst>
            </a:custGeom>
            <a:noFill/>
            <a:ln w="9525">
              <a:solidFill>
                <a:schemeClr val="accent6"/>
              </a:solidFill>
            </a:ln>
          </p:spPr>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14300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未标定简化模型</a:t>
            </a:r>
          </a:p>
        </p:txBody>
      </p:sp>
      <p:grpSp>
        <p:nvGrpSpPr>
          <p:cNvPr id="4" name="page-title"/>
          <p:cNvGrpSpPr/>
          <p:nvPr/>
        </p:nvGrpSpPr>
        <p:grpSpPr>
          <a:xfrm>
            <a:off x="441198" y="812483"/>
            <a:ext cx="5968746" cy="616077"/>
            <a:chOff x="441198" y="812483"/>
            <a:chExt cx="5968746" cy="616077"/>
          </a:xfrm>
        </p:grpSpPr>
        <p:sp>
          <p:nvSpPr>
            <p:cNvPr id="3" name="TextBox 3"/>
            <p:cNvSpPr txBox="1"/>
            <p:nvPr/>
          </p:nvSpPr>
          <p:spPr>
            <a:xfrm>
              <a:off x="441198" y="812483"/>
              <a:ext cx="596874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先把测点与假设放进同一个模型</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5789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来源：run_simulation.py 等效模型；指数/阻力未标定。图为设计与模型示意，不是样机。</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nvGrpSpPr>
          <p:cNvPr id="30" name="hydraulic-model"/>
          <p:cNvGrpSpPr/>
          <p:nvPr/>
        </p:nvGrpSpPr>
        <p:grpSpPr>
          <a:xfrm>
            <a:off x="484632" y="1830705"/>
            <a:ext cx="10305669" cy="3843528"/>
            <a:chOff x="484632" y="1830705"/>
            <a:chExt cx="10305669" cy="3843528"/>
          </a:xfrm>
        </p:grpSpPr>
        <p:sp>
          <p:nvSpPr>
            <p:cNvPr id="8" name="TextBox 8"/>
            <p:cNvSpPr txBox="1"/>
            <p:nvPr/>
          </p:nvSpPr>
          <p:spPr>
            <a:xfrm>
              <a:off x="484632" y="1830705"/>
              <a:ext cx="396396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共同供水 → 两支路 → A支路测量</a:t>
              </a:r>
            </a:p>
          </p:txBody>
        </p:sp>
        <p:sp>
          <p:nvSpPr>
            <p:cNvPr id="9" name="Line 9"/>
            <p:cNvSpPr/>
            <p:nvPr/>
          </p:nvSpPr>
          <p:spPr>
            <a:xfrm>
              <a:off x="762000" y="3400425"/>
              <a:ext cx="2667000" cy="9525"/>
            </a:xfrm>
            <a:custGeom>
              <a:avLst/>
              <a:gdLst/>
              <a:ahLst/>
              <a:cxnLst/>
              <a:rect l="l" t="t" r="r" b="b"/>
              <a:pathLst>
                <a:path w="2667000" h="9525">
                  <a:moveTo>
                    <a:pt x="0" y="0"/>
                  </a:moveTo>
                  <a:lnTo>
                    <a:pt x="2667000" y="0"/>
                  </a:lnTo>
                </a:path>
              </a:pathLst>
            </a:custGeom>
            <a:noFill/>
            <a:ln w="38100">
              <a:solidFill>
                <a:schemeClr val="accent1"/>
              </a:solidFill>
            </a:ln>
          </p:spPr>
        </p:sp>
        <p:sp>
          <p:nvSpPr>
            <p:cNvPr id="10" name="Line 10"/>
            <p:cNvSpPr/>
            <p:nvPr/>
          </p:nvSpPr>
          <p:spPr>
            <a:xfrm>
              <a:off x="3429000" y="2714625"/>
              <a:ext cx="9525" cy="1981200"/>
            </a:xfrm>
            <a:custGeom>
              <a:avLst/>
              <a:gdLst/>
              <a:ahLst/>
              <a:cxnLst/>
              <a:rect l="l" t="t" r="r" b="b"/>
              <a:pathLst>
                <a:path w="9525" h="1981200">
                  <a:moveTo>
                    <a:pt x="0" y="0"/>
                  </a:moveTo>
                  <a:lnTo>
                    <a:pt x="0" y="1981200"/>
                  </a:lnTo>
                </a:path>
              </a:pathLst>
            </a:custGeom>
            <a:noFill/>
            <a:ln w="38100">
              <a:solidFill>
                <a:schemeClr val="accent1"/>
              </a:solidFill>
            </a:ln>
          </p:spPr>
        </p:sp>
        <p:sp>
          <p:nvSpPr>
            <p:cNvPr id="11" name="Line 11"/>
            <p:cNvSpPr/>
            <p:nvPr/>
          </p:nvSpPr>
          <p:spPr>
            <a:xfrm>
              <a:off x="3429000" y="2714625"/>
              <a:ext cx="6572250" cy="9525"/>
            </a:xfrm>
            <a:custGeom>
              <a:avLst/>
              <a:gdLst/>
              <a:ahLst/>
              <a:cxnLst/>
              <a:rect l="l" t="t" r="r" b="b"/>
              <a:pathLst>
                <a:path w="6572250" h="9525">
                  <a:moveTo>
                    <a:pt x="0" y="0"/>
                  </a:moveTo>
                  <a:lnTo>
                    <a:pt x="6572250" y="0"/>
                  </a:lnTo>
                </a:path>
              </a:pathLst>
            </a:custGeom>
            <a:noFill/>
            <a:ln w="38100">
              <a:solidFill>
                <a:schemeClr val="accent1"/>
              </a:solidFill>
            </a:ln>
          </p:spPr>
        </p:sp>
        <p:sp>
          <p:nvSpPr>
            <p:cNvPr id="12" name="Line 12"/>
            <p:cNvSpPr/>
            <p:nvPr/>
          </p:nvSpPr>
          <p:spPr>
            <a:xfrm>
              <a:off x="3429000" y="4695825"/>
              <a:ext cx="6572250" cy="9525"/>
            </a:xfrm>
            <a:custGeom>
              <a:avLst/>
              <a:gdLst/>
              <a:ahLst/>
              <a:cxnLst/>
              <a:rect l="l" t="t" r="r" b="b"/>
              <a:pathLst>
                <a:path w="6572250" h="9525">
                  <a:moveTo>
                    <a:pt x="0" y="0"/>
                  </a:moveTo>
                  <a:lnTo>
                    <a:pt x="6572250" y="0"/>
                  </a:lnTo>
                </a:path>
              </a:pathLst>
            </a:custGeom>
            <a:noFill/>
            <a:ln w="38100">
              <a:solidFill>
                <a:schemeClr val="accent1"/>
              </a:solidFill>
            </a:ln>
          </p:spPr>
        </p:sp>
        <p:sp>
          <p:nvSpPr>
            <p:cNvPr id="13" name="Rectangle 13"/>
            <p:cNvSpPr/>
            <p:nvPr/>
          </p:nvSpPr>
          <p:spPr>
            <a:xfrm>
              <a:off x="1771650" y="3143250"/>
              <a:ext cx="952500" cy="514350"/>
            </a:xfrm>
            <a:prstGeom prst="rect">
              <a:avLst/>
            </a:prstGeom>
            <a:solidFill>
              <a:schemeClr val="lt1"/>
            </a:solidFill>
            <a:ln w="9525">
              <a:solidFill>
                <a:schemeClr val="accent1"/>
              </a:solidFill>
            </a:ln>
          </p:spPr>
        </p:sp>
        <p:sp>
          <p:nvSpPr>
            <p:cNvPr id="14" name="TextBox 14"/>
            <p:cNvSpPr txBox="1"/>
            <p:nvPr/>
          </p:nvSpPr>
          <p:spPr>
            <a:xfrm>
              <a:off x="1941957" y="3259455"/>
              <a:ext cx="341109"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Rc</a:t>
              </a:r>
            </a:p>
          </p:txBody>
        </p:sp>
        <p:sp>
          <p:nvSpPr>
            <p:cNvPr id="15" name="Rectangle 15"/>
            <p:cNvSpPr/>
            <p:nvPr/>
          </p:nvSpPr>
          <p:spPr>
            <a:xfrm>
              <a:off x="4362450" y="2457450"/>
              <a:ext cx="1162050" cy="514350"/>
            </a:xfrm>
            <a:prstGeom prst="rect">
              <a:avLst/>
            </a:prstGeom>
            <a:solidFill>
              <a:schemeClr val="lt1"/>
            </a:solidFill>
            <a:ln w="9525">
              <a:solidFill>
                <a:schemeClr val="accent2"/>
              </a:solidFill>
            </a:ln>
          </p:spPr>
        </p:sp>
        <p:sp>
          <p:nvSpPr>
            <p:cNvPr id="16" name="TextBox 16"/>
            <p:cNvSpPr txBox="1"/>
            <p:nvPr/>
          </p:nvSpPr>
          <p:spPr>
            <a:xfrm>
              <a:off x="4515231" y="2606040"/>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节流</a:t>
              </a:r>
            </a:p>
          </p:txBody>
        </p:sp>
        <p:sp>
          <p:nvSpPr>
            <p:cNvPr id="17" name="Ellipse 17"/>
            <p:cNvSpPr/>
            <p:nvPr/>
          </p:nvSpPr>
          <p:spPr>
            <a:xfrm>
              <a:off x="6677025" y="2466975"/>
              <a:ext cx="495300" cy="495300"/>
            </a:xfrm>
            <a:prstGeom prst="ellipse">
              <a:avLst/>
            </a:prstGeom>
            <a:solidFill>
              <a:schemeClr val="lt1"/>
            </a:solidFill>
            <a:ln w="28575">
              <a:solidFill>
                <a:schemeClr val="accent1"/>
              </a:solidFill>
            </a:ln>
          </p:spPr>
        </p:sp>
        <p:sp>
          <p:nvSpPr>
            <p:cNvPr id="18" name="TextBox 18"/>
            <p:cNvSpPr txBox="1"/>
            <p:nvPr/>
          </p:nvSpPr>
          <p:spPr>
            <a:xfrm>
              <a:off x="6845122" y="2606040"/>
              <a:ext cx="159106"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P</a:t>
              </a:r>
            </a:p>
          </p:txBody>
        </p:sp>
        <p:sp>
          <p:nvSpPr>
            <p:cNvPr id="19" name="Ellipse 19"/>
            <p:cNvSpPr/>
            <p:nvPr/>
          </p:nvSpPr>
          <p:spPr>
            <a:xfrm>
              <a:off x="7991475" y="2466975"/>
              <a:ext cx="495300" cy="495300"/>
            </a:xfrm>
            <a:prstGeom prst="ellipse">
              <a:avLst/>
            </a:prstGeom>
            <a:solidFill>
              <a:schemeClr val="lt1"/>
            </a:solidFill>
            <a:ln w="28575">
              <a:solidFill>
                <a:schemeClr val="accent1"/>
              </a:solidFill>
            </a:ln>
          </p:spPr>
        </p:sp>
        <p:sp>
          <p:nvSpPr>
            <p:cNvPr id="20" name="TextBox 20"/>
            <p:cNvSpPr txBox="1"/>
            <p:nvPr/>
          </p:nvSpPr>
          <p:spPr>
            <a:xfrm>
              <a:off x="8133969" y="2606040"/>
              <a:ext cx="210312"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Q</a:t>
              </a:r>
            </a:p>
          </p:txBody>
        </p:sp>
        <p:sp>
          <p:nvSpPr>
            <p:cNvPr id="21" name="Rectangle 21"/>
            <p:cNvSpPr/>
            <p:nvPr/>
          </p:nvSpPr>
          <p:spPr>
            <a:xfrm>
              <a:off x="9277350" y="2381250"/>
              <a:ext cx="781050" cy="647700"/>
            </a:xfrm>
            <a:prstGeom prst="rect">
              <a:avLst/>
            </a:prstGeom>
            <a:solidFill>
              <a:schemeClr val="lt2"/>
            </a:solidFill>
            <a:ln w="9525">
              <a:solidFill>
                <a:schemeClr val="accent1"/>
              </a:solidFill>
            </a:ln>
          </p:spPr>
        </p:sp>
        <p:sp>
          <p:nvSpPr>
            <p:cNvPr id="22" name="Rectangle 22"/>
            <p:cNvSpPr/>
            <p:nvPr/>
          </p:nvSpPr>
          <p:spPr>
            <a:xfrm>
              <a:off x="9277350" y="4371975"/>
              <a:ext cx="781050" cy="647700"/>
            </a:xfrm>
            <a:prstGeom prst="rect">
              <a:avLst/>
            </a:prstGeom>
            <a:solidFill>
              <a:schemeClr val="lt2"/>
            </a:solidFill>
            <a:ln w="9525">
              <a:solidFill>
                <a:schemeClr val="accent1"/>
              </a:solidFill>
            </a:ln>
          </p:spPr>
        </p:sp>
        <p:sp>
          <p:nvSpPr>
            <p:cNvPr id="23" name="TextBox 23"/>
            <p:cNvSpPr txBox="1"/>
            <p:nvPr/>
          </p:nvSpPr>
          <p:spPr>
            <a:xfrm>
              <a:off x="609981" y="2777490"/>
              <a:ext cx="77701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供压Ps</a:t>
              </a:r>
            </a:p>
          </p:txBody>
        </p:sp>
        <p:sp>
          <p:nvSpPr>
            <p:cNvPr id="24" name="TextBox 24"/>
            <p:cNvSpPr txBox="1"/>
            <p:nvPr/>
          </p:nvSpPr>
          <p:spPr>
            <a:xfrm>
              <a:off x="6496431" y="2063115"/>
              <a:ext cx="64373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A测点</a:t>
              </a:r>
            </a:p>
          </p:txBody>
        </p:sp>
        <p:sp>
          <p:nvSpPr>
            <p:cNvPr id="25" name="TextBox 25"/>
            <p:cNvSpPr txBox="1"/>
            <p:nvPr/>
          </p:nvSpPr>
          <p:spPr>
            <a:xfrm>
              <a:off x="5686806" y="4110990"/>
              <a:ext cx="112837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B支路切换</a:t>
              </a:r>
            </a:p>
          </p:txBody>
        </p:sp>
        <p:sp>
          <p:nvSpPr>
            <p:cNvPr id="26" name="TextBox 26"/>
            <p:cNvSpPr txBox="1"/>
            <p:nvPr/>
          </p:nvSpPr>
          <p:spPr>
            <a:xfrm>
              <a:off x="10287381" y="2567940"/>
              <a:ext cx="5029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负载</a:t>
              </a:r>
            </a:p>
          </p:txBody>
        </p:sp>
        <p:sp>
          <p:nvSpPr>
            <p:cNvPr id="27" name="TextBox 27"/>
            <p:cNvSpPr txBox="1"/>
            <p:nvPr/>
          </p:nvSpPr>
          <p:spPr>
            <a:xfrm>
              <a:off x="10287381" y="4577715"/>
              <a:ext cx="5029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负载</a:t>
              </a:r>
            </a:p>
          </p:txBody>
        </p:sp>
        <mc:AlternateContent xmlns:mc="http://schemas.openxmlformats.org/markup-compatibility/2006">
          <mc:Choice xmlns:a14="http://schemas.microsoft.com/office/drawing/2010/main" Requires="a14">
            <p:sp>
              <p:nvSpPr>
                <p:cNvPr id="28" name="TextBox 28"/>
                <p:cNvSpPr txBox="1"/>
                <p:nvPr/>
              </p:nvSpPr>
              <p:spPr>
                <a:xfrm>
                  <a:off x="484632" y="5196840"/>
                  <a:ext cx="2495245" cy="477393"/>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负载模型：</a:t>
                  </a:r>
                  <a14:m>
                    <m:oMath xmlns:a="http://schemas.openxmlformats.org/drawingml/2006/main" xmlns:m="http://schemas.openxmlformats.org/officeDocument/2006/math">
                      <m:r>
                        <a:rPr lang="zh-CN" sz="2100" dirty="0">
                          <a:solidFill>
                            <a:schemeClr val="accent1"/>
                          </a:solidFill>
                          <a:latin typeface="Cambria Math"/>
                          <a:ea typeface="Cambria Math"/>
                          <a:cs typeface="Cambria Math"/>
                        </a:rPr>
                        <m:t>Q</m:t>
                      </m:r>
                      <m:r>
                        <m:rPr>
                          <m:sty m:val="p"/>
                        </m:rPr>
                        <a:rPr lang="zh-CN" sz="2100" dirty="0">
                          <a:solidFill>
                            <a:schemeClr val="accent1"/>
                          </a:solidFill>
                          <a:latin typeface="Cambria Math"/>
                          <a:ea typeface="Cambria Math"/>
                          <a:cs typeface="Cambria Math"/>
                        </a:rPr>
                        <m:t>=</m:t>
                      </m:r>
                      <m:r>
                        <a:rPr lang="zh-CN" sz="2100" dirty="0">
                          <a:solidFill>
                            <a:schemeClr val="accent1"/>
                          </a:solidFill>
                          <a:latin typeface="Cambria Math"/>
                          <a:ea typeface="Cambria Math"/>
                          <a:cs typeface="Cambria Math"/>
                        </a:rPr>
                        <m:t>C</m:t>
                      </m:r>
                      <m:rad>
                        <m:radPr>
                          <m:degHide m:val="on"/>
                          <m:ctrlPr>
                            <a:rPr lang="zh-CN" sz="2100" dirty="0">
                              <a:solidFill>
                                <a:schemeClr val="accent1"/>
                              </a:solidFill>
                              <a:latin typeface="Cambria Math"/>
                              <a:ea typeface="Cambria Math"/>
                              <a:cs typeface="Cambria Math"/>
                            </a:rPr>
                          </m:ctrlPr>
                        </m:radPr>
                        <m:deg/>
                        <m:e>
                          <m:r>
                            <a:rPr lang="zh-CN" sz="2100" dirty="0">
                              <a:solidFill>
                                <a:schemeClr val="accent1"/>
                              </a:solidFill>
                              <a:latin typeface="Cambria Math"/>
                              <a:ea typeface="Cambria Math"/>
                              <a:cs typeface="Cambria Math"/>
                            </a:rPr>
                            <m:t>P</m:t>
                          </m:r>
                        </m:e>
                      </m:rad>
                    </m:oMath>
                  </a14:m>
                </a:p>
              </p:txBody>
            </p:sp>
          </mc:Choice>
        </mc:AlternateContent>
        <p:sp>
          <p:nvSpPr>
            <p:cNvPr id="29" name="TextBox 29"/>
            <p:cNvSpPr txBox="1"/>
            <p:nvPr/>
          </p:nvSpPr>
          <p:spPr>
            <a:xfrm>
              <a:off x="5001006" y="5282565"/>
              <a:ext cx="341071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平方根指数与实际水路仍需校核</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304544"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合成仿真｜非实测</a:t>
            </a:r>
          </a:p>
        </p:txBody>
      </p:sp>
      <p:grpSp>
        <p:nvGrpSpPr>
          <p:cNvPr id="4" name="page-title"/>
          <p:cNvGrpSpPr/>
          <p:nvPr/>
        </p:nvGrpSpPr>
        <p:grpSpPr>
          <a:xfrm>
            <a:off x="441198" y="812483"/>
            <a:ext cx="6392799" cy="616077"/>
            <a:chOff x="441198" y="812483"/>
            <a:chExt cx="6392799" cy="616077"/>
          </a:xfrm>
        </p:grpSpPr>
        <p:sp>
          <p:nvSpPr>
            <p:cNvPr id="3" name="TextBox 3"/>
            <p:cNvSpPr txBox="1"/>
            <p:nvPr/>
          </p:nvSpPr>
          <p:spPr>
            <a:xfrm>
              <a:off x="441198" y="812483"/>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模型展示混淆，也为实验提供工况</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757245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来源：simulation/results/scenarios.json，种子20261002；5秒抽取绘图。未标定合成仿真，非实测。</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nvGrpSpPr>
          <p:cNvPr id="11" name="pressure-heading"/>
          <p:cNvGrpSpPr/>
          <p:nvPr/>
        </p:nvGrpSpPr>
        <p:grpSpPr>
          <a:xfrm>
            <a:off x="448056" y="1701165"/>
            <a:ext cx="9272702" cy="352044"/>
            <a:chOff x="448056" y="1701165"/>
            <a:chExt cx="9272702" cy="352044"/>
          </a:xfrm>
        </p:grpSpPr>
        <p:sp>
          <p:nvSpPr>
            <p:cNvPr id="8" name="TextBox 8"/>
            <p:cNvSpPr txBox="1"/>
            <p:nvPr/>
          </p:nvSpPr>
          <p:spPr>
            <a:xfrm>
              <a:off x="448056" y="170116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正常切换</a:t>
              </a:r>
            </a:p>
          </p:txBody>
        </p:sp>
        <p:sp>
          <p:nvSpPr>
            <p:cNvPr id="9" name="TextBox 9"/>
            <p:cNvSpPr txBox="1"/>
            <p:nvPr/>
          </p:nvSpPr>
          <p:spPr>
            <a:xfrm>
              <a:off x="2705481" y="1701165"/>
              <a:ext cx="171450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切换期等效泄漏</a:t>
              </a:r>
            </a:p>
          </p:txBody>
        </p:sp>
        <p:sp>
          <p:nvSpPr>
            <p:cNvPr id="10" name="TextBox 10"/>
            <p:cNvSpPr txBox="1"/>
            <p:nvPr/>
          </p:nvSpPr>
          <p:spPr>
            <a:xfrm>
              <a:off x="8279892" y="1749742"/>
              <a:ext cx="144086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纵轴：压力 / kPa</a:t>
              </a:r>
            </a:p>
          </p:txBody>
        </p:sp>
      </p:grpSp>
      <p:grpSp>
        <p:nvGrpSpPr>
          <p:cNvPr id="33" name="pressure-response"/>
          <p:cNvGrpSpPr/>
          <p:nvPr/>
        </p:nvGrpSpPr>
        <p:grpSpPr>
          <a:xfrm>
            <a:off x="664826" y="2025968"/>
            <a:ext cx="10769565" cy="2931033"/>
            <a:chOff x="664826" y="2025968"/>
            <a:chExt cx="10769565" cy="2931033"/>
          </a:xfrm>
        </p:grpSpPr>
        <p:grpSp>
          <p:nvGrpSpPr>
            <p:cNvPr id="32" name="pressure-response-chartArea"/>
            <p:cNvGrpSpPr/>
            <p:nvPr/>
          </p:nvGrpSpPr>
          <p:grpSpPr>
            <a:xfrm>
              <a:off x="664826" y="2025968"/>
              <a:ext cx="10769565" cy="2931033"/>
              <a:chOff x="664826" y="2025968"/>
              <a:chExt cx="10769565" cy="2931033"/>
            </a:xfrm>
          </p:grpSpPr>
          <p:sp>
            <p:nvSpPr>
              <p:cNvPr id="12" name="Line 12"/>
              <p:cNvSpPr/>
              <p:nvPr/>
            </p:nvSpPr>
            <p:spPr>
              <a:xfrm>
                <a:off x="1123950" y="4572000"/>
                <a:ext cx="10153650" cy="9525"/>
              </a:xfrm>
              <a:custGeom>
                <a:avLst/>
                <a:gdLst/>
                <a:ahLst/>
                <a:cxnLst/>
                <a:rect l="l" t="t" r="r" b="b"/>
                <a:pathLst>
                  <a:path w="10153650" h="9525">
                    <a:moveTo>
                      <a:pt x="0" y="0"/>
                    </a:moveTo>
                    <a:lnTo>
                      <a:pt x="10153650" y="0"/>
                    </a:lnTo>
                  </a:path>
                </a:pathLst>
              </a:custGeom>
              <a:noFill/>
              <a:ln w="9525">
                <a:solidFill>
                  <a:srgbClr val="E0E7E2"/>
                </a:solidFill>
              </a:ln>
            </p:spPr>
          </p:sp>
          <p:sp>
            <p:nvSpPr>
              <p:cNvPr id="13" name="TextBox 13"/>
              <p:cNvSpPr txBox="1"/>
              <p:nvPr/>
            </p:nvSpPr>
            <p:spPr>
              <a:xfrm>
                <a:off x="864737" y="4483418"/>
                <a:ext cx="1136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a:t>
                </a:r>
              </a:p>
            </p:txBody>
          </p:sp>
          <p:sp>
            <p:nvSpPr>
              <p:cNvPr id="14" name="Line 14"/>
              <p:cNvSpPr/>
              <p:nvPr/>
            </p:nvSpPr>
            <p:spPr>
              <a:xfrm>
                <a:off x="1123950" y="3957638"/>
                <a:ext cx="10153650" cy="9525"/>
              </a:xfrm>
              <a:custGeom>
                <a:avLst/>
                <a:gdLst/>
                <a:ahLst/>
                <a:cxnLst/>
                <a:rect l="l" t="t" r="r" b="b"/>
                <a:pathLst>
                  <a:path w="10153650" h="9525">
                    <a:moveTo>
                      <a:pt x="0" y="0"/>
                    </a:moveTo>
                    <a:lnTo>
                      <a:pt x="10153650" y="0"/>
                    </a:lnTo>
                  </a:path>
                </a:pathLst>
              </a:custGeom>
              <a:noFill/>
              <a:ln w="9525">
                <a:solidFill>
                  <a:srgbClr val="E0E7E2"/>
                </a:solidFill>
              </a:ln>
            </p:spPr>
          </p:sp>
          <p:sp>
            <p:nvSpPr>
              <p:cNvPr id="15" name="TextBox 15"/>
              <p:cNvSpPr txBox="1"/>
              <p:nvPr/>
            </p:nvSpPr>
            <p:spPr>
              <a:xfrm>
                <a:off x="764781" y="3869055"/>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35</a:t>
                </a:r>
              </a:p>
            </p:txBody>
          </p:sp>
          <p:sp>
            <p:nvSpPr>
              <p:cNvPr id="16" name="Line 16"/>
              <p:cNvSpPr/>
              <p:nvPr/>
            </p:nvSpPr>
            <p:spPr>
              <a:xfrm>
                <a:off x="1123950" y="3343275"/>
                <a:ext cx="10153650" cy="9525"/>
              </a:xfrm>
              <a:custGeom>
                <a:avLst/>
                <a:gdLst/>
                <a:ahLst/>
                <a:cxnLst/>
                <a:rect l="l" t="t" r="r" b="b"/>
                <a:pathLst>
                  <a:path w="10153650" h="9525">
                    <a:moveTo>
                      <a:pt x="0" y="0"/>
                    </a:moveTo>
                    <a:lnTo>
                      <a:pt x="10153650" y="0"/>
                    </a:lnTo>
                  </a:path>
                </a:pathLst>
              </a:custGeom>
              <a:noFill/>
              <a:ln w="9525">
                <a:solidFill>
                  <a:srgbClr val="E0E7E2"/>
                </a:solidFill>
              </a:ln>
            </p:spPr>
          </p:sp>
          <p:sp>
            <p:nvSpPr>
              <p:cNvPr id="17" name="TextBox 17"/>
              <p:cNvSpPr txBox="1"/>
              <p:nvPr/>
            </p:nvSpPr>
            <p:spPr>
              <a:xfrm>
                <a:off x="764781" y="3254692"/>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70</a:t>
                </a:r>
              </a:p>
            </p:txBody>
          </p:sp>
          <p:sp>
            <p:nvSpPr>
              <p:cNvPr id="18" name="Line 18"/>
              <p:cNvSpPr/>
              <p:nvPr/>
            </p:nvSpPr>
            <p:spPr>
              <a:xfrm>
                <a:off x="1123950" y="2728912"/>
                <a:ext cx="10153650" cy="9525"/>
              </a:xfrm>
              <a:custGeom>
                <a:avLst/>
                <a:gdLst/>
                <a:ahLst/>
                <a:cxnLst/>
                <a:rect l="l" t="t" r="r" b="b"/>
                <a:pathLst>
                  <a:path w="10153650" h="9525">
                    <a:moveTo>
                      <a:pt x="0" y="0"/>
                    </a:moveTo>
                    <a:lnTo>
                      <a:pt x="10153650" y="0"/>
                    </a:lnTo>
                  </a:path>
                </a:pathLst>
              </a:custGeom>
              <a:noFill/>
              <a:ln w="9525">
                <a:solidFill>
                  <a:srgbClr val="E0E7E2"/>
                </a:solidFill>
              </a:ln>
            </p:spPr>
          </p:sp>
          <p:sp>
            <p:nvSpPr>
              <p:cNvPr id="19" name="TextBox 19"/>
              <p:cNvSpPr txBox="1"/>
              <p:nvPr/>
            </p:nvSpPr>
            <p:spPr>
              <a:xfrm>
                <a:off x="664826" y="2640330"/>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105</a:t>
                </a:r>
              </a:p>
            </p:txBody>
          </p:sp>
          <p:sp>
            <p:nvSpPr>
              <p:cNvPr id="20" name="Line 20"/>
              <p:cNvSpPr/>
              <p:nvPr/>
            </p:nvSpPr>
            <p:spPr>
              <a:xfrm>
                <a:off x="1123950" y="2114550"/>
                <a:ext cx="10153650" cy="9525"/>
              </a:xfrm>
              <a:custGeom>
                <a:avLst/>
                <a:gdLst/>
                <a:ahLst/>
                <a:cxnLst/>
                <a:rect l="l" t="t" r="r" b="b"/>
                <a:pathLst>
                  <a:path w="10153650" h="9525">
                    <a:moveTo>
                      <a:pt x="0" y="0"/>
                    </a:moveTo>
                    <a:lnTo>
                      <a:pt x="10153650" y="0"/>
                    </a:lnTo>
                  </a:path>
                </a:pathLst>
              </a:custGeom>
              <a:noFill/>
              <a:ln w="9525">
                <a:solidFill>
                  <a:srgbClr val="E0E7E2"/>
                </a:solidFill>
              </a:ln>
            </p:spPr>
          </p:sp>
          <p:sp>
            <p:nvSpPr>
              <p:cNvPr id="21" name="TextBox 21"/>
              <p:cNvSpPr txBox="1"/>
              <p:nvPr/>
            </p:nvSpPr>
            <p:spPr>
              <a:xfrm>
                <a:off x="664826" y="202596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140</a:t>
                </a:r>
              </a:p>
            </p:txBody>
          </p:sp>
          <p:sp>
            <p:nvSpPr>
              <p:cNvPr id="22" name="TextBox 22"/>
              <p:cNvSpPr txBox="1"/>
              <p:nvPr/>
            </p:nvSpPr>
            <p:spPr>
              <a:xfrm>
                <a:off x="1067114" y="469296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a:t>
                </a:r>
              </a:p>
            </p:txBody>
          </p:sp>
          <p:sp>
            <p:nvSpPr>
              <p:cNvPr id="23" name="TextBox 23"/>
              <p:cNvSpPr txBox="1"/>
              <p:nvPr/>
            </p:nvSpPr>
            <p:spPr>
              <a:xfrm>
                <a:off x="2997889" y="4692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120</a:t>
                </a:r>
              </a:p>
            </p:txBody>
          </p:sp>
          <p:sp>
            <p:nvSpPr>
              <p:cNvPr id="24" name="TextBox 24"/>
              <p:cNvSpPr txBox="1"/>
              <p:nvPr/>
            </p:nvSpPr>
            <p:spPr>
              <a:xfrm>
                <a:off x="5028619" y="4692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240</a:t>
                </a:r>
              </a:p>
            </p:txBody>
          </p:sp>
          <p:sp>
            <p:nvSpPr>
              <p:cNvPr id="25" name="TextBox 25"/>
              <p:cNvSpPr txBox="1"/>
              <p:nvPr/>
            </p:nvSpPr>
            <p:spPr>
              <a:xfrm>
                <a:off x="7059349" y="4692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360</a:t>
                </a:r>
              </a:p>
            </p:txBody>
          </p:sp>
          <p:sp>
            <p:nvSpPr>
              <p:cNvPr id="26" name="TextBox 26"/>
              <p:cNvSpPr txBox="1"/>
              <p:nvPr/>
            </p:nvSpPr>
            <p:spPr>
              <a:xfrm>
                <a:off x="9090079" y="4692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480</a:t>
                </a:r>
              </a:p>
            </p:txBody>
          </p:sp>
          <p:sp>
            <p:nvSpPr>
              <p:cNvPr id="27" name="TextBox 27"/>
              <p:cNvSpPr txBox="1"/>
              <p:nvPr/>
            </p:nvSpPr>
            <p:spPr>
              <a:xfrm>
                <a:off x="11120809" y="4692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600</a:t>
                </a:r>
              </a:p>
            </p:txBody>
          </p:sp>
          <p:sp>
            <p:nvSpPr>
              <p:cNvPr id="28" name="Line 28"/>
              <p:cNvSpPr/>
              <p:nvPr/>
            </p:nvSpPr>
            <p:spPr>
              <a:xfrm>
                <a:off x="1123950" y="2114550"/>
                <a:ext cx="9525" cy="2457450"/>
              </a:xfrm>
              <a:custGeom>
                <a:avLst/>
                <a:gdLst/>
                <a:ahLst/>
                <a:cxnLst/>
                <a:rect l="l" t="t" r="r" b="b"/>
                <a:pathLst>
                  <a:path w="9525" h="2457450">
                    <a:moveTo>
                      <a:pt x="0" y="0"/>
                    </a:moveTo>
                    <a:lnTo>
                      <a:pt x="0" y="2457450"/>
                    </a:lnTo>
                  </a:path>
                </a:pathLst>
              </a:custGeom>
              <a:noFill/>
              <a:ln w="9525">
                <a:solidFill>
                  <a:srgbClr val="556762"/>
                </a:solidFill>
              </a:ln>
            </p:spPr>
          </p:sp>
          <p:sp>
            <p:nvSpPr>
              <p:cNvPr id="29" name="Line 29"/>
              <p:cNvSpPr/>
              <p:nvPr/>
            </p:nvSpPr>
            <p:spPr>
              <a:xfrm>
                <a:off x="1123950" y="4572000"/>
                <a:ext cx="10153650" cy="9525"/>
              </a:xfrm>
              <a:custGeom>
                <a:avLst/>
                <a:gdLst/>
                <a:ahLst/>
                <a:cxnLst/>
                <a:rect l="l" t="t" r="r" b="b"/>
                <a:pathLst>
                  <a:path w="10153650" h="9525">
                    <a:moveTo>
                      <a:pt x="0" y="0"/>
                    </a:moveTo>
                    <a:lnTo>
                      <a:pt x="10153650" y="0"/>
                    </a:lnTo>
                  </a:path>
                </a:pathLst>
              </a:custGeom>
              <a:noFill/>
              <a:ln w="9525">
                <a:solidFill>
                  <a:srgbClr val="556762"/>
                </a:solidFill>
              </a:ln>
            </p:spPr>
          </p:sp>
          <p:sp>
            <p:nvSpPr>
              <p:cNvPr id="30" name="Polyline 30"/>
              <p:cNvSpPr/>
              <p:nvPr/>
            </p:nvSpPr>
            <p:spPr>
              <a:xfrm>
                <a:off x="1123950" y="2524192"/>
                <a:ext cx="10153650" cy="281035"/>
              </a:xfrm>
              <a:custGeom>
                <a:avLst/>
                <a:gdLst/>
                <a:ahLst/>
                <a:cxnLst/>
                <a:rect l="l" t="t" r="r" b="b"/>
                <a:pathLst>
                  <a:path w="10153650" h="281035">
                    <a:moveTo>
                      <a:pt x="0" y="33719"/>
                    </a:moveTo>
                    <a:lnTo>
                      <a:pt x="84611" y="23574"/>
                    </a:lnTo>
                    <a:lnTo>
                      <a:pt x="169231" y="40977"/>
                    </a:lnTo>
                    <a:lnTo>
                      <a:pt x="253841" y="24174"/>
                    </a:lnTo>
                    <a:lnTo>
                      <a:pt x="338452" y="43653"/>
                    </a:lnTo>
                    <a:lnTo>
                      <a:pt x="423072" y="34814"/>
                    </a:lnTo>
                    <a:lnTo>
                      <a:pt x="507683" y="43005"/>
                    </a:lnTo>
                    <a:lnTo>
                      <a:pt x="592293" y="40938"/>
                    </a:lnTo>
                    <a:lnTo>
                      <a:pt x="676913" y="27775"/>
                    </a:lnTo>
                    <a:lnTo>
                      <a:pt x="761524" y="34280"/>
                    </a:lnTo>
                    <a:lnTo>
                      <a:pt x="846134" y="39672"/>
                    </a:lnTo>
                    <a:lnTo>
                      <a:pt x="930754" y="26165"/>
                    </a:lnTo>
                    <a:lnTo>
                      <a:pt x="1015365" y="52521"/>
                    </a:lnTo>
                    <a:lnTo>
                      <a:pt x="1099976" y="26594"/>
                    </a:lnTo>
                    <a:lnTo>
                      <a:pt x="1184596" y="28708"/>
                    </a:lnTo>
                    <a:lnTo>
                      <a:pt x="1269206" y="49540"/>
                    </a:lnTo>
                    <a:lnTo>
                      <a:pt x="1353817" y="42120"/>
                    </a:lnTo>
                    <a:lnTo>
                      <a:pt x="1438437" y="35738"/>
                    </a:lnTo>
                    <a:lnTo>
                      <a:pt x="1523047" y="30347"/>
                    </a:lnTo>
                    <a:lnTo>
                      <a:pt x="1607658" y="13383"/>
                    </a:lnTo>
                    <a:lnTo>
                      <a:pt x="1692278" y="7601"/>
                    </a:lnTo>
                    <a:lnTo>
                      <a:pt x="1776889" y="48292"/>
                    </a:lnTo>
                    <a:lnTo>
                      <a:pt x="1861499" y="31242"/>
                    </a:lnTo>
                    <a:lnTo>
                      <a:pt x="1946119" y="22584"/>
                    </a:lnTo>
                    <a:lnTo>
                      <a:pt x="2030730" y="40834"/>
                    </a:lnTo>
                    <a:lnTo>
                      <a:pt x="2115341" y="28137"/>
                    </a:lnTo>
                    <a:lnTo>
                      <a:pt x="2199961" y="32737"/>
                    </a:lnTo>
                    <a:lnTo>
                      <a:pt x="2284571" y="28604"/>
                    </a:lnTo>
                    <a:lnTo>
                      <a:pt x="2369182" y="15507"/>
                    </a:lnTo>
                    <a:lnTo>
                      <a:pt x="2453802" y="23574"/>
                    </a:lnTo>
                    <a:lnTo>
                      <a:pt x="2538412" y="17888"/>
                    </a:lnTo>
                    <a:lnTo>
                      <a:pt x="2623023" y="45606"/>
                    </a:lnTo>
                    <a:lnTo>
                      <a:pt x="2707643" y="23231"/>
                    </a:lnTo>
                    <a:lnTo>
                      <a:pt x="2792254" y="17812"/>
                    </a:lnTo>
                    <a:lnTo>
                      <a:pt x="2876864" y="39300"/>
                    </a:lnTo>
                    <a:lnTo>
                      <a:pt x="2961484" y="29118"/>
                    </a:lnTo>
                    <a:lnTo>
                      <a:pt x="3046095" y="73752"/>
                    </a:lnTo>
                    <a:lnTo>
                      <a:pt x="3130706" y="181899"/>
                    </a:lnTo>
                    <a:lnTo>
                      <a:pt x="3215326" y="228333"/>
                    </a:lnTo>
                    <a:lnTo>
                      <a:pt x="3299936" y="245050"/>
                    </a:lnTo>
                    <a:lnTo>
                      <a:pt x="3384547" y="244059"/>
                    </a:lnTo>
                    <a:lnTo>
                      <a:pt x="3469167" y="255213"/>
                    </a:lnTo>
                    <a:lnTo>
                      <a:pt x="3553778" y="274825"/>
                    </a:lnTo>
                    <a:lnTo>
                      <a:pt x="3638388" y="240020"/>
                    </a:lnTo>
                    <a:lnTo>
                      <a:pt x="3723008" y="260899"/>
                    </a:lnTo>
                    <a:lnTo>
                      <a:pt x="3807619" y="235115"/>
                    </a:lnTo>
                    <a:lnTo>
                      <a:pt x="3892229" y="253013"/>
                    </a:lnTo>
                    <a:lnTo>
                      <a:pt x="3976849" y="252232"/>
                    </a:lnTo>
                    <a:lnTo>
                      <a:pt x="4061460" y="256851"/>
                    </a:lnTo>
                    <a:lnTo>
                      <a:pt x="4146071" y="257994"/>
                    </a:lnTo>
                    <a:lnTo>
                      <a:pt x="4230691" y="251146"/>
                    </a:lnTo>
                    <a:lnTo>
                      <a:pt x="4315301" y="262538"/>
                    </a:lnTo>
                    <a:lnTo>
                      <a:pt x="4399912" y="281035"/>
                    </a:lnTo>
                    <a:lnTo>
                      <a:pt x="4484532" y="271453"/>
                    </a:lnTo>
                    <a:lnTo>
                      <a:pt x="4569142" y="238620"/>
                    </a:lnTo>
                    <a:lnTo>
                      <a:pt x="4653753" y="267757"/>
                    </a:lnTo>
                    <a:lnTo>
                      <a:pt x="4738373" y="248603"/>
                    </a:lnTo>
                    <a:lnTo>
                      <a:pt x="4822984" y="242649"/>
                    </a:lnTo>
                    <a:lnTo>
                      <a:pt x="4907594" y="255422"/>
                    </a:lnTo>
                    <a:lnTo>
                      <a:pt x="4992214" y="261328"/>
                    </a:lnTo>
                    <a:lnTo>
                      <a:pt x="5076825" y="230981"/>
                    </a:lnTo>
                    <a:lnTo>
                      <a:pt x="5161436" y="125311"/>
                    </a:lnTo>
                    <a:lnTo>
                      <a:pt x="5246056" y="56102"/>
                    </a:lnTo>
                    <a:lnTo>
                      <a:pt x="5330666" y="47139"/>
                    </a:lnTo>
                    <a:lnTo>
                      <a:pt x="5415277" y="31442"/>
                    </a:lnTo>
                    <a:lnTo>
                      <a:pt x="5499897" y="28194"/>
                    </a:lnTo>
                    <a:lnTo>
                      <a:pt x="5584508" y="28042"/>
                    </a:lnTo>
                    <a:lnTo>
                      <a:pt x="5669118" y="52873"/>
                    </a:lnTo>
                    <a:lnTo>
                      <a:pt x="5753738" y="24422"/>
                    </a:lnTo>
                    <a:lnTo>
                      <a:pt x="5838349" y="26279"/>
                    </a:lnTo>
                    <a:lnTo>
                      <a:pt x="5922959" y="41967"/>
                    </a:lnTo>
                    <a:lnTo>
                      <a:pt x="6007579" y="20393"/>
                    </a:lnTo>
                    <a:lnTo>
                      <a:pt x="6092190" y="32671"/>
                    </a:lnTo>
                    <a:lnTo>
                      <a:pt x="6176801" y="36014"/>
                    </a:lnTo>
                    <a:lnTo>
                      <a:pt x="6261421" y="23746"/>
                    </a:lnTo>
                    <a:lnTo>
                      <a:pt x="6346031" y="20717"/>
                    </a:lnTo>
                    <a:lnTo>
                      <a:pt x="6430642" y="26813"/>
                    </a:lnTo>
                    <a:lnTo>
                      <a:pt x="6515262" y="9896"/>
                    </a:lnTo>
                    <a:lnTo>
                      <a:pt x="6599872" y="10811"/>
                    </a:lnTo>
                    <a:lnTo>
                      <a:pt x="6684483" y="20898"/>
                    </a:lnTo>
                    <a:lnTo>
                      <a:pt x="6769103" y="42605"/>
                    </a:lnTo>
                    <a:lnTo>
                      <a:pt x="6853714" y="45025"/>
                    </a:lnTo>
                    <a:lnTo>
                      <a:pt x="6938324" y="48216"/>
                    </a:lnTo>
                    <a:lnTo>
                      <a:pt x="7022944" y="37071"/>
                    </a:lnTo>
                    <a:lnTo>
                      <a:pt x="7107555" y="25737"/>
                    </a:lnTo>
                    <a:lnTo>
                      <a:pt x="7192166" y="28727"/>
                    </a:lnTo>
                    <a:lnTo>
                      <a:pt x="7276786" y="12992"/>
                    </a:lnTo>
                    <a:lnTo>
                      <a:pt x="7361396" y="0"/>
                    </a:lnTo>
                    <a:lnTo>
                      <a:pt x="7446007" y="25879"/>
                    </a:lnTo>
                    <a:lnTo>
                      <a:pt x="7530627" y="42729"/>
                    </a:lnTo>
                    <a:lnTo>
                      <a:pt x="7615238" y="26556"/>
                    </a:lnTo>
                    <a:lnTo>
                      <a:pt x="7699848" y="43310"/>
                    </a:lnTo>
                    <a:lnTo>
                      <a:pt x="7784468" y="26241"/>
                    </a:lnTo>
                    <a:lnTo>
                      <a:pt x="7869079" y="42062"/>
                    </a:lnTo>
                    <a:lnTo>
                      <a:pt x="7953689" y="32261"/>
                    </a:lnTo>
                    <a:lnTo>
                      <a:pt x="8038309" y="15869"/>
                    </a:lnTo>
                    <a:lnTo>
                      <a:pt x="8122920" y="29718"/>
                    </a:lnTo>
                    <a:lnTo>
                      <a:pt x="8207531" y="30699"/>
                    </a:lnTo>
                    <a:lnTo>
                      <a:pt x="8292151" y="30766"/>
                    </a:lnTo>
                    <a:lnTo>
                      <a:pt x="8376761" y="40415"/>
                    </a:lnTo>
                    <a:lnTo>
                      <a:pt x="8461372" y="39491"/>
                    </a:lnTo>
                    <a:lnTo>
                      <a:pt x="8545992" y="32861"/>
                    </a:lnTo>
                    <a:lnTo>
                      <a:pt x="8630602" y="28194"/>
                    </a:lnTo>
                    <a:lnTo>
                      <a:pt x="8715213" y="34481"/>
                    </a:lnTo>
                    <a:lnTo>
                      <a:pt x="8799833" y="35023"/>
                    </a:lnTo>
                    <a:lnTo>
                      <a:pt x="8884444" y="47682"/>
                    </a:lnTo>
                    <a:lnTo>
                      <a:pt x="8969054" y="18764"/>
                    </a:lnTo>
                    <a:lnTo>
                      <a:pt x="9053674" y="20288"/>
                    </a:lnTo>
                    <a:lnTo>
                      <a:pt x="9138285" y="46091"/>
                    </a:lnTo>
                    <a:lnTo>
                      <a:pt x="9222896" y="21365"/>
                    </a:lnTo>
                    <a:lnTo>
                      <a:pt x="9307516" y="34357"/>
                    </a:lnTo>
                    <a:lnTo>
                      <a:pt x="9392126" y="38119"/>
                    </a:lnTo>
                    <a:lnTo>
                      <a:pt x="9476737" y="28156"/>
                    </a:lnTo>
                    <a:lnTo>
                      <a:pt x="9561357" y="6172"/>
                    </a:lnTo>
                    <a:lnTo>
                      <a:pt x="9645968" y="24689"/>
                    </a:lnTo>
                    <a:lnTo>
                      <a:pt x="9730578" y="39272"/>
                    </a:lnTo>
                    <a:lnTo>
                      <a:pt x="9815198" y="46387"/>
                    </a:lnTo>
                    <a:lnTo>
                      <a:pt x="9899809" y="27403"/>
                    </a:lnTo>
                    <a:lnTo>
                      <a:pt x="9984419" y="42358"/>
                    </a:lnTo>
                    <a:lnTo>
                      <a:pt x="10069039" y="18164"/>
                    </a:lnTo>
                    <a:lnTo>
                      <a:pt x="10153650" y="41443"/>
                    </a:lnTo>
                  </a:path>
                </a:pathLst>
              </a:custGeom>
              <a:noFill/>
              <a:ln w="28575">
                <a:solidFill>
                  <a:schemeClr val="accent1"/>
                </a:solidFill>
              </a:ln>
            </p:spPr>
          </p:sp>
          <p:sp>
            <p:nvSpPr>
              <p:cNvPr id="31" name="Polyline 31"/>
              <p:cNvSpPr/>
              <p:nvPr/>
            </p:nvSpPr>
            <p:spPr>
              <a:xfrm>
                <a:off x="1123950" y="2524192"/>
                <a:ext cx="10153650" cy="402374"/>
              </a:xfrm>
              <a:custGeom>
                <a:avLst/>
                <a:gdLst/>
                <a:ahLst/>
                <a:cxnLst/>
                <a:rect l="l" t="t" r="r" b="b"/>
                <a:pathLst>
                  <a:path w="10153650" h="402374">
                    <a:moveTo>
                      <a:pt x="0" y="33719"/>
                    </a:moveTo>
                    <a:lnTo>
                      <a:pt x="84611" y="23574"/>
                    </a:lnTo>
                    <a:lnTo>
                      <a:pt x="169231" y="40977"/>
                    </a:lnTo>
                    <a:lnTo>
                      <a:pt x="253841" y="24174"/>
                    </a:lnTo>
                    <a:lnTo>
                      <a:pt x="338452" y="43653"/>
                    </a:lnTo>
                    <a:lnTo>
                      <a:pt x="423072" y="34814"/>
                    </a:lnTo>
                    <a:lnTo>
                      <a:pt x="507683" y="43005"/>
                    </a:lnTo>
                    <a:lnTo>
                      <a:pt x="592293" y="40938"/>
                    </a:lnTo>
                    <a:lnTo>
                      <a:pt x="676913" y="27775"/>
                    </a:lnTo>
                    <a:lnTo>
                      <a:pt x="761524" y="34280"/>
                    </a:lnTo>
                    <a:lnTo>
                      <a:pt x="846134" y="39672"/>
                    </a:lnTo>
                    <a:lnTo>
                      <a:pt x="930754" y="26165"/>
                    </a:lnTo>
                    <a:lnTo>
                      <a:pt x="1015365" y="52521"/>
                    </a:lnTo>
                    <a:lnTo>
                      <a:pt x="1099976" y="26594"/>
                    </a:lnTo>
                    <a:lnTo>
                      <a:pt x="1184596" y="28708"/>
                    </a:lnTo>
                    <a:lnTo>
                      <a:pt x="1269206" y="49540"/>
                    </a:lnTo>
                    <a:lnTo>
                      <a:pt x="1353817" y="42120"/>
                    </a:lnTo>
                    <a:lnTo>
                      <a:pt x="1438437" y="35738"/>
                    </a:lnTo>
                    <a:lnTo>
                      <a:pt x="1523047" y="30347"/>
                    </a:lnTo>
                    <a:lnTo>
                      <a:pt x="1607658" y="13383"/>
                    </a:lnTo>
                    <a:lnTo>
                      <a:pt x="1692278" y="7601"/>
                    </a:lnTo>
                    <a:lnTo>
                      <a:pt x="1776889" y="48292"/>
                    </a:lnTo>
                    <a:lnTo>
                      <a:pt x="1861499" y="31242"/>
                    </a:lnTo>
                    <a:lnTo>
                      <a:pt x="1946119" y="22584"/>
                    </a:lnTo>
                    <a:lnTo>
                      <a:pt x="2030730" y="40834"/>
                    </a:lnTo>
                    <a:lnTo>
                      <a:pt x="2115341" y="28137"/>
                    </a:lnTo>
                    <a:lnTo>
                      <a:pt x="2199961" y="32737"/>
                    </a:lnTo>
                    <a:lnTo>
                      <a:pt x="2284571" y="28604"/>
                    </a:lnTo>
                    <a:lnTo>
                      <a:pt x="2369182" y="15507"/>
                    </a:lnTo>
                    <a:lnTo>
                      <a:pt x="2453802" y="23574"/>
                    </a:lnTo>
                    <a:lnTo>
                      <a:pt x="2538412" y="17888"/>
                    </a:lnTo>
                    <a:lnTo>
                      <a:pt x="2623023" y="45606"/>
                    </a:lnTo>
                    <a:lnTo>
                      <a:pt x="2707643" y="23231"/>
                    </a:lnTo>
                    <a:lnTo>
                      <a:pt x="2792254" y="17812"/>
                    </a:lnTo>
                    <a:lnTo>
                      <a:pt x="2876864" y="39300"/>
                    </a:lnTo>
                    <a:lnTo>
                      <a:pt x="2961484" y="29118"/>
                    </a:lnTo>
                    <a:lnTo>
                      <a:pt x="3046095" y="73752"/>
                    </a:lnTo>
                    <a:lnTo>
                      <a:pt x="3130706" y="181899"/>
                    </a:lnTo>
                    <a:lnTo>
                      <a:pt x="3215326" y="246964"/>
                    </a:lnTo>
                    <a:lnTo>
                      <a:pt x="3299936" y="321754"/>
                    </a:lnTo>
                    <a:lnTo>
                      <a:pt x="3384547" y="345996"/>
                    </a:lnTo>
                    <a:lnTo>
                      <a:pt x="3469167" y="368122"/>
                    </a:lnTo>
                    <a:lnTo>
                      <a:pt x="3553778" y="392497"/>
                    </a:lnTo>
                    <a:lnTo>
                      <a:pt x="3638388" y="359769"/>
                    </a:lnTo>
                    <a:lnTo>
                      <a:pt x="3723008" y="381543"/>
                    </a:lnTo>
                    <a:lnTo>
                      <a:pt x="3807619" y="356159"/>
                    </a:lnTo>
                    <a:lnTo>
                      <a:pt x="3892229" y="374228"/>
                    </a:lnTo>
                    <a:lnTo>
                      <a:pt x="3976849" y="373513"/>
                    </a:lnTo>
                    <a:lnTo>
                      <a:pt x="4061460" y="378162"/>
                    </a:lnTo>
                    <a:lnTo>
                      <a:pt x="4146071" y="379324"/>
                    </a:lnTo>
                    <a:lnTo>
                      <a:pt x="4230691" y="372485"/>
                    </a:lnTo>
                    <a:lnTo>
                      <a:pt x="4315301" y="383877"/>
                    </a:lnTo>
                    <a:lnTo>
                      <a:pt x="4399912" y="402374"/>
                    </a:lnTo>
                    <a:lnTo>
                      <a:pt x="4484532" y="392792"/>
                    </a:lnTo>
                    <a:lnTo>
                      <a:pt x="4569142" y="359969"/>
                    </a:lnTo>
                    <a:lnTo>
                      <a:pt x="4653753" y="389096"/>
                    </a:lnTo>
                    <a:lnTo>
                      <a:pt x="4738373" y="351311"/>
                    </a:lnTo>
                    <a:lnTo>
                      <a:pt x="4822984" y="287293"/>
                    </a:lnTo>
                    <a:lnTo>
                      <a:pt x="4907594" y="274825"/>
                    </a:lnTo>
                    <a:lnTo>
                      <a:pt x="4992214" y="269767"/>
                    </a:lnTo>
                    <a:lnTo>
                      <a:pt x="5076825" y="234648"/>
                    </a:lnTo>
                    <a:lnTo>
                      <a:pt x="5161436" y="126902"/>
                    </a:lnTo>
                    <a:lnTo>
                      <a:pt x="5246056" y="56798"/>
                    </a:lnTo>
                    <a:lnTo>
                      <a:pt x="5330666" y="47444"/>
                    </a:lnTo>
                    <a:lnTo>
                      <a:pt x="5415277" y="31575"/>
                    </a:lnTo>
                    <a:lnTo>
                      <a:pt x="5499897" y="28251"/>
                    </a:lnTo>
                    <a:lnTo>
                      <a:pt x="5584508" y="28061"/>
                    </a:lnTo>
                    <a:lnTo>
                      <a:pt x="5669118" y="52883"/>
                    </a:lnTo>
                    <a:lnTo>
                      <a:pt x="5753738" y="24432"/>
                    </a:lnTo>
                    <a:lnTo>
                      <a:pt x="5838349" y="26279"/>
                    </a:lnTo>
                    <a:lnTo>
                      <a:pt x="5922959" y="41967"/>
                    </a:lnTo>
                    <a:lnTo>
                      <a:pt x="6007579" y="20393"/>
                    </a:lnTo>
                    <a:lnTo>
                      <a:pt x="6092190" y="32671"/>
                    </a:lnTo>
                    <a:lnTo>
                      <a:pt x="6176801" y="36014"/>
                    </a:lnTo>
                    <a:lnTo>
                      <a:pt x="6261421" y="23746"/>
                    </a:lnTo>
                    <a:lnTo>
                      <a:pt x="6346031" y="20717"/>
                    </a:lnTo>
                    <a:lnTo>
                      <a:pt x="6430642" y="26813"/>
                    </a:lnTo>
                    <a:lnTo>
                      <a:pt x="6515262" y="9896"/>
                    </a:lnTo>
                    <a:lnTo>
                      <a:pt x="6599872" y="10811"/>
                    </a:lnTo>
                    <a:lnTo>
                      <a:pt x="6684483" y="20898"/>
                    </a:lnTo>
                    <a:lnTo>
                      <a:pt x="6769103" y="42605"/>
                    </a:lnTo>
                    <a:lnTo>
                      <a:pt x="6853714" y="45025"/>
                    </a:lnTo>
                    <a:lnTo>
                      <a:pt x="6938324" y="48216"/>
                    </a:lnTo>
                    <a:lnTo>
                      <a:pt x="7022944" y="37071"/>
                    </a:lnTo>
                    <a:lnTo>
                      <a:pt x="7107555" y="25737"/>
                    </a:lnTo>
                    <a:lnTo>
                      <a:pt x="7192166" y="28727"/>
                    </a:lnTo>
                    <a:lnTo>
                      <a:pt x="7276786" y="12992"/>
                    </a:lnTo>
                    <a:lnTo>
                      <a:pt x="7361396" y="0"/>
                    </a:lnTo>
                    <a:lnTo>
                      <a:pt x="7446007" y="25879"/>
                    </a:lnTo>
                    <a:lnTo>
                      <a:pt x="7530627" y="42729"/>
                    </a:lnTo>
                    <a:lnTo>
                      <a:pt x="7615238" y="26556"/>
                    </a:lnTo>
                    <a:lnTo>
                      <a:pt x="7699848" y="43310"/>
                    </a:lnTo>
                    <a:lnTo>
                      <a:pt x="7784468" y="26241"/>
                    </a:lnTo>
                    <a:lnTo>
                      <a:pt x="7869079" y="42062"/>
                    </a:lnTo>
                    <a:lnTo>
                      <a:pt x="7953689" y="32261"/>
                    </a:lnTo>
                    <a:lnTo>
                      <a:pt x="8038309" y="15869"/>
                    </a:lnTo>
                    <a:lnTo>
                      <a:pt x="8122920" y="29718"/>
                    </a:lnTo>
                    <a:lnTo>
                      <a:pt x="8207531" y="30699"/>
                    </a:lnTo>
                    <a:lnTo>
                      <a:pt x="8292151" y="30766"/>
                    </a:lnTo>
                    <a:lnTo>
                      <a:pt x="8376761" y="40415"/>
                    </a:lnTo>
                    <a:lnTo>
                      <a:pt x="8461372" y="39491"/>
                    </a:lnTo>
                    <a:lnTo>
                      <a:pt x="8545992" y="32861"/>
                    </a:lnTo>
                    <a:lnTo>
                      <a:pt x="8630602" y="28194"/>
                    </a:lnTo>
                    <a:lnTo>
                      <a:pt x="8715213" y="34481"/>
                    </a:lnTo>
                    <a:lnTo>
                      <a:pt x="8799833" y="35023"/>
                    </a:lnTo>
                    <a:lnTo>
                      <a:pt x="8884444" y="47682"/>
                    </a:lnTo>
                    <a:lnTo>
                      <a:pt x="8969054" y="18764"/>
                    </a:lnTo>
                    <a:lnTo>
                      <a:pt x="9053674" y="20288"/>
                    </a:lnTo>
                    <a:lnTo>
                      <a:pt x="9138285" y="46091"/>
                    </a:lnTo>
                    <a:lnTo>
                      <a:pt x="9222896" y="21365"/>
                    </a:lnTo>
                    <a:lnTo>
                      <a:pt x="9307516" y="34357"/>
                    </a:lnTo>
                    <a:lnTo>
                      <a:pt x="9392126" y="38119"/>
                    </a:lnTo>
                    <a:lnTo>
                      <a:pt x="9476737" y="28156"/>
                    </a:lnTo>
                    <a:lnTo>
                      <a:pt x="9561357" y="6172"/>
                    </a:lnTo>
                    <a:lnTo>
                      <a:pt x="9645968" y="24689"/>
                    </a:lnTo>
                    <a:lnTo>
                      <a:pt x="9730578" y="39272"/>
                    </a:lnTo>
                    <a:lnTo>
                      <a:pt x="9815198" y="46387"/>
                    </a:lnTo>
                    <a:lnTo>
                      <a:pt x="9899809" y="27403"/>
                    </a:lnTo>
                    <a:lnTo>
                      <a:pt x="9984419" y="42358"/>
                    </a:lnTo>
                    <a:lnTo>
                      <a:pt x="10069039" y="18164"/>
                    </a:lnTo>
                    <a:lnTo>
                      <a:pt x="10153650" y="41443"/>
                    </a:lnTo>
                  </a:path>
                </a:pathLst>
              </a:custGeom>
              <a:noFill/>
              <a:ln w="28575">
                <a:solidFill>
                  <a:schemeClr val="accent2"/>
                </a:solidFill>
              </a:ln>
            </p:spPr>
          </p:sp>
        </p:grpSp>
      </p:grpSp>
      <p:grpSp>
        <p:nvGrpSpPr>
          <p:cNvPr id="36" name="response-implication"/>
          <p:cNvGrpSpPr/>
          <p:nvPr/>
        </p:nvGrpSpPr>
        <p:grpSpPr>
          <a:xfrm>
            <a:off x="448056" y="5425440"/>
            <a:ext cx="8107070" cy="704469"/>
            <a:chOff x="448056" y="5425440"/>
            <a:chExt cx="8107070" cy="704469"/>
          </a:xfrm>
        </p:grpSpPr>
        <p:sp>
          <p:nvSpPr>
            <p:cNvPr id="34" name="TextBox 34"/>
            <p:cNvSpPr txBox="1"/>
            <p:nvPr/>
          </p:nvSpPr>
          <p:spPr>
            <a:xfrm>
              <a:off x="448056" y="5425440"/>
              <a:ext cx="81070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B开启180—299s；重叠异常190—279s。模拟响应为台架工况设计提供依据。</a:t>
              </a:r>
            </a:p>
          </p:txBody>
        </p:sp>
        <p:sp>
          <p:nvSpPr>
            <p:cNvPr id="35" name="TextBox 35"/>
            <p:cNvSpPr txBox="1"/>
            <p:nvPr/>
          </p:nvSpPr>
          <p:spPr>
            <a:xfrm>
              <a:off x="448056" y="5777865"/>
              <a:ext cx="80147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下一步：参考标定、测点校核、独立操作标签；不是据此报告真实识别率。</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2186940"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1920次合成回放｜非LoRa实测</a:t>
            </a:r>
          </a:p>
        </p:txBody>
      </p:sp>
      <p:grpSp>
        <p:nvGrpSpPr>
          <p:cNvPr id="4" name="page-title"/>
          <p:cNvGrpSpPr/>
          <p:nvPr/>
        </p:nvGrpSpPr>
        <p:grpSpPr>
          <a:xfrm>
            <a:off x="441198" y="812483"/>
            <a:ext cx="5968746" cy="616077"/>
            <a:chOff x="441198" y="812483"/>
            <a:chExt cx="5968746" cy="616077"/>
          </a:xfrm>
        </p:grpSpPr>
        <p:sp>
          <p:nvSpPr>
            <p:cNvPr id="3" name="TextBox 3"/>
            <p:cNvSpPr txBox="1"/>
            <p:nvPr/>
          </p:nvSpPr>
          <p:spPr>
            <a:xfrm>
              <a:off x="441198" y="812483"/>
              <a:ext cx="596874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通信优势必须同时接受误差约束</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825489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来源：communication_results/summary.json；20种子均值；同检测/载荷/ACK；模型回放，非射频/功耗实验。</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nvGrpSpPr>
          <p:cNvPr id="9" name="communication-heading"/>
          <p:cNvGrpSpPr/>
          <p:nvPr/>
        </p:nvGrpSpPr>
        <p:grpSpPr>
          <a:xfrm>
            <a:off x="448056" y="1682115"/>
            <a:ext cx="7166610" cy="352044"/>
            <a:chOff x="448056" y="1682115"/>
            <a:chExt cx="7166610" cy="352044"/>
          </a:xfrm>
        </p:grpSpPr>
        <p:sp>
          <p:nvSpPr>
            <p:cNvPr id="8" name="TextBox 8"/>
            <p:cNvSpPr txBox="1"/>
            <p:nvPr/>
          </p:nvSpPr>
          <p:spPr>
            <a:xfrm>
              <a:off x="448056" y="1682115"/>
              <a:ext cx="716661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相同检测、滤波载荷与告警确认；示例：10%随机丢包＋15s全丢包</a:t>
              </a:r>
            </a:p>
          </p:txBody>
        </p:sp>
      </p:grpSp>
      <p:grpSp>
        <p:nvGrpSpPr>
          <p:cNvPr id="12" name="normal-label"/>
          <p:cNvGrpSpPr/>
          <p:nvPr/>
        </p:nvGrpSpPr>
        <p:grpSpPr>
          <a:xfrm>
            <a:off x="448056" y="2139315"/>
            <a:ext cx="2686336" cy="352044"/>
            <a:chOff x="448056" y="2139315"/>
            <a:chExt cx="2686336" cy="352044"/>
          </a:xfrm>
        </p:grpSpPr>
        <p:sp>
          <p:nvSpPr>
            <p:cNvPr id="10" name="TextBox 10"/>
            <p:cNvSpPr txBox="1"/>
            <p:nvPr/>
          </p:nvSpPr>
          <p:spPr>
            <a:xfrm>
              <a:off x="448056" y="213931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正常轮灌</a:t>
              </a:r>
            </a:p>
          </p:txBody>
        </p:sp>
        <p:sp>
          <p:nvSpPr>
            <p:cNvPr id="11" name="TextBox 11"/>
            <p:cNvSpPr txBox="1"/>
            <p:nvPr/>
          </p:nvSpPr>
          <p:spPr>
            <a:xfrm>
              <a:off x="1993392" y="2187892"/>
              <a:ext cx="11410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纵轴MAE/kPa</a:t>
              </a:r>
            </a:p>
          </p:txBody>
        </p:sp>
      </p:grpSp>
      <p:grpSp>
        <p:nvGrpSpPr>
          <p:cNvPr id="15" name="noise-label"/>
          <p:cNvGrpSpPr/>
          <p:nvPr/>
        </p:nvGrpSpPr>
        <p:grpSpPr>
          <a:xfrm>
            <a:off x="6277356" y="2139315"/>
            <a:ext cx="2686336" cy="352044"/>
            <a:chOff x="6277356" y="2139315"/>
            <a:chExt cx="2686336" cy="352044"/>
          </a:xfrm>
        </p:grpSpPr>
        <p:sp>
          <p:nvSpPr>
            <p:cNvPr id="13" name="TextBox 13"/>
            <p:cNvSpPr txBox="1"/>
            <p:nvPr/>
          </p:nvSpPr>
          <p:spPr>
            <a:xfrm>
              <a:off x="6277356" y="2139315"/>
              <a:ext cx="98755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较大噪声</a:t>
              </a:r>
            </a:p>
          </p:txBody>
        </p:sp>
        <p:sp>
          <p:nvSpPr>
            <p:cNvPr id="14" name="TextBox 14"/>
            <p:cNvSpPr txBox="1"/>
            <p:nvPr/>
          </p:nvSpPr>
          <p:spPr>
            <a:xfrm>
              <a:off x="7822692" y="2187892"/>
              <a:ext cx="11410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纵轴MAE/kPa</a:t>
              </a:r>
            </a:p>
          </p:txBody>
        </p:sp>
      </p:grpSp>
      <p:grpSp>
        <p:nvGrpSpPr>
          <p:cNvPr id="44" name="normal-tradeoff"/>
          <p:cNvGrpSpPr/>
          <p:nvPr/>
        </p:nvGrpSpPr>
        <p:grpSpPr>
          <a:xfrm>
            <a:off x="626726" y="2702242"/>
            <a:ext cx="4892640" cy="2388109"/>
            <a:chOff x="626726" y="2702242"/>
            <a:chExt cx="4892640" cy="2388109"/>
          </a:xfrm>
        </p:grpSpPr>
        <p:grpSp>
          <p:nvGrpSpPr>
            <p:cNvPr id="43" name="normal-tradeoff-chartArea"/>
            <p:cNvGrpSpPr/>
            <p:nvPr/>
          </p:nvGrpSpPr>
          <p:grpSpPr>
            <a:xfrm>
              <a:off x="626726" y="2702242"/>
              <a:ext cx="4892640" cy="2388109"/>
              <a:chOff x="626726" y="2702242"/>
              <a:chExt cx="4892640" cy="2388109"/>
            </a:xfrm>
          </p:grpSpPr>
          <p:sp>
            <p:nvSpPr>
              <p:cNvPr id="16" name="Line 16"/>
              <p:cNvSpPr/>
              <p:nvPr/>
            </p:nvSpPr>
            <p:spPr>
              <a:xfrm>
                <a:off x="1047750" y="4705350"/>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17" name="TextBox 17"/>
              <p:cNvSpPr txBox="1"/>
              <p:nvPr/>
            </p:nvSpPr>
            <p:spPr>
              <a:xfrm>
                <a:off x="626726" y="461676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0.0</a:t>
                </a:r>
              </a:p>
            </p:txBody>
          </p:sp>
          <p:sp>
            <p:nvSpPr>
              <p:cNvPr id="18" name="Line 18"/>
              <p:cNvSpPr/>
              <p:nvPr/>
            </p:nvSpPr>
            <p:spPr>
              <a:xfrm>
                <a:off x="1047750" y="4322445"/>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19" name="TextBox 19"/>
              <p:cNvSpPr txBox="1"/>
              <p:nvPr/>
            </p:nvSpPr>
            <p:spPr>
              <a:xfrm>
                <a:off x="626726" y="423386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0.3</a:t>
                </a:r>
              </a:p>
            </p:txBody>
          </p:sp>
          <p:sp>
            <p:nvSpPr>
              <p:cNvPr id="20" name="Line 20"/>
              <p:cNvSpPr/>
              <p:nvPr/>
            </p:nvSpPr>
            <p:spPr>
              <a:xfrm>
                <a:off x="1047750" y="3939540"/>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21" name="TextBox 21"/>
              <p:cNvSpPr txBox="1"/>
              <p:nvPr/>
            </p:nvSpPr>
            <p:spPr>
              <a:xfrm>
                <a:off x="626726" y="385095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0.6</a:t>
                </a:r>
              </a:p>
            </p:txBody>
          </p:sp>
          <p:sp>
            <p:nvSpPr>
              <p:cNvPr id="22" name="Line 22"/>
              <p:cNvSpPr/>
              <p:nvPr/>
            </p:nvSpPr>
            <p:spPr>
              <a:xfrm>
                <a:off x="1047750" y="3556635"/>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23" name="TextBox 23"/>
              <p:cNvSpPr txBox="1"/>
              <p:nvPr/>
            </p:nvSpPr>
            <p:spPr>
              <a:xfrm>
                <a:off x="626726" y="346805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0.9</a:t>
                </a:r>
              </a:p>
            </p:txBody>
          </p:sp>
          <p:sp>
            <p:nvSpPr>
              <p:cNvPr id="24" name="Line 24"/>
              <p:cNvSpPr/>
              <p:nvPr/>
            </p:nvSpPr>
            <p:spPr>
              <a:xfrm>
                <a:off x="1047750" y="3173730"/>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25" name="TextBox 25"/>
              <p:cNvSpPr txBox="1"/>
              <p:nvPr/>
            </p:nvSpPr>
            <p:spPr>
              <a:xfrm>
                <a:off x="626726" y="308514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1.2</a:t>
                </a:r>
              </a:p>
            </p:txBody>
          </p:sp>
          <p:sp>
            <p:nvSpPr>
              <p:cNvPr id="26" name="Line 26"/>
              <p:cNvSpPr/>
              <p:nvPr/>
            </p:nvSpPr>
            <p:spPr>
              <a:xfrm>
                <a:off x="1047750" y="2790825"/>
                <a:ext cx="4314825" cy="9525"/>
              </a:xfrm>
              <a:custGeom>
                <a:avLst/>
                <a:gdLst/>
                <a:ahLst/>
                <a:cxnLst/>
                <a:rect l="l" t="t" r="r" b="b"/>
                <a:pathLst>
                  <a:path w="4314825" h="9525">
                    <a:moveTo>
                      <a:pt x="0" y="0"/>
                    </a:moveTo>
                    <a:lnTo>
                      <a:pt x="4314825" y="0"/>
                    </a:lnTo>
                  </a:path>
                </a:pathLst>
              </a:custGeom>
              <a:noFill/>
              <a:ln w="9525">
                <a:solidFill>
                  <a:srgbClr val="E0E7E2"/>
                </a:solidFill>
              </a:ln>
            </p:spPr>
          </p:sp>
          <p:sp>
            <p:nvSpPr>
              <p:cNvPr id="27" name="TextBox 27"/>
              <p:cNvSpPr txBox="1"/>
              <p:nvPr/>
            </p:nvSpPr>
            <p:spPr>
              <a:xfrm>
                <a:off x="626726" y="270224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1.5</a:t>
                </a:r>
              </a:p>
            </p:txBody>
          </p:sp>
          <p:sp>
            <p:nvSpPr>
              <p:cNvPr id="28" name="TextBox 28"/>
              <p:cNvSpPr txBox="1"/>
              <p:nvPr/>
            </p:nvSpPr>
            <p:spPr>
              <a:xfrm>
                <a:off x="990914" y="482631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a:t>
                </a:r>
              </a:p>
            </p:txBody>
          </p:sp>
          <p:sp>
            <p:nvSpPr>
              <p:cNvPr id="29" name="TextBox 29"/>
              <p:cNvSpPr txBox="1"/>
              <p:nvPr/>
            </p:nvSpPr>
            <p:spPr>
              <a:xfrm>
                <a:off x="2019643" y="48263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25</a:t>
                </a:r>
              </a:p>
            </p:txBody>
          </p:sp>
          <p:sp>
            <p:nvSpPr>
              <p:cNvPr id="30" name="TextBox 30"/>
              <p:cNvSpPr txBox="1"/>
              <p:nvPr/>
            </p:nvSpPr>
            <p:spPr>
              <a:xfrm>
                <a:off x="3098349" y="48263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50</a:t>
                </a:r>
              </a:p>
            </p:txBody>
          </p:sp>
          <p:sp>
            <p:nvSpPr>
              <p:cNvPr id="31" name="TextBox 31"/>
              <p:cNvSpPr txBox="1"/>
              <p:nvPr/>
            </p:nvSpPr>
            <p:spPr>
              <a:xfrm>
                <a:off x="4177055" y="482631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75</a:t>
                </a:r>
              </a:p>
            </p:txBody>
          </p:sp>
          <p:sp>
            <p:nvSpPr>
              <p:cNvPr id="32" name="TextBox 32"/>
              <p:cNvSpPr txBox="1"/>
              <p:nvPr/>
            </p:nvSpPr>
            <p:spPr>
              <a:xfrm>
                <a:off x="5205784" y="482631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100</a:t>
                </a:r>
              </a:p>
            </p:txBody>
          </p:sp>
          <p:sp>
            <p:nvSpPr>
              <p:cNvPr id="33" name="Line 33"/>
              <p:cNvSpPr/>
              <p:nvPr/>
            </p:nvSpPr>
            <p:spPr>
              <a:xfrm>
                <a:off x="1047750" y="2790825"/>
                <a:ext cx="9525" cy="1914525"/>
              </a:xfrm>
              <a:custGeom>
                <a:avLst/>
                <a:gdLst/>
                <a:ahLst/>
                <a:cxnLst/>
                <a:rect l="l" t="t" r="r" b="b"/>
                <a:pathLst>
                  <a:path w="9525" h="1914525">
                    <a:moveTo>
                      <a:pt x="0" y="0"/>
                    </a:moveTo>
                    <a:lnTo>
                      <a:pt x="0" y="1914525"/>
                    </a:lnTo>
                  </a:path>
                </a:pathLst>
              </a:custGeom>
              <a:noFill/>
              <a:ln w="9525">
                <a:solidFill>
                  <a:srgbClr val="556762"/>
                </a:solidFill>
              </a:ln>
            </p:spPr>
          </p:sp>
          <p:sp>
            <p:nvSpPr>
              <p:cNvPr id="34" name="Line 34"/>
              <p:cNvSpPr/>
              <p:nvPr/>
            </p:nvSpPr>
            <p:spPr>
              <a:xfrm>
                <a:off x="1047750" y="4705350"/>
                <a:ext cx="4314825" cy="9525"/>
              </a:xfrm>
              <a:custGeom>
                <a:avLst/>
                <a:gdLst/>
                <a:ahLst/>
                <a:cxnLst/>
                <a:rect l="l" t="t" r="r" b="b"/>
                <a:pathLst>
                  <a:path w="4314825" h="9525">
                    <a:moveTo>
                      <a:pt x="0" y="0"/>
                    </a:moveTo>
                    <a:lnTo>
                      <a:pt x="4314825" y="0"/>
                    </a:lnTo>
                  </a:path>
                </a:pathLst>
              </a:custGeom>
              <a:noFill/>
              <a:ln w="9525">
                <a:solidFill>
                  <a:srgbClr val="556762"/>
                </a:solidFill>
              </a:ln>
            </p:spPr>
          </p:sp>
          <p:sp>
            <p:nvSpPr>
              <p:cNvPr id="35" name="Ellipse 35"/>
              <p:cNvSpPr/>
              <p:nvPr/>
            </p:nvSpPr>
            <p:spPr>
              <a:xfrm>
                <a:off x="3881533" y="4082844"/>
                <a:ext cx="114300" cy="114300"/>
              </a:xfrm>
              <a:prstGeom prst="ellipse">
                <a:avLst/>
              </a:prstGeom>
              <a:solidFill>
                <a:schemeClr val="accent1"/>
              </a:solidFill>
              <a:ln>
                <a:noFill/>
              </a:ln>
            </p:spPr>
          </p:sp>
          <p:sp>
            <p:nvSpPr>
              <p:cNvPr id="36" name="TextBox 36"/>
              <p:cNvSpPr txBox="1"/>
              <p:nvPr/>
            </p:nvSpPr>
            <p:spPr>
              <a:xfrm>
                <a:off x="4027075" y="3851386"/>
                <a:ext cx="67705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周期10s</a:t>
                </a:r>
              </a:p>
            </p:txBody>
          </p:sp>
          <p:sp>
            <p:nvSpPr>
              <p:cNvPr id="37" name="Ellipse 37"/>
              <p:cNvSpPr/>
              <p:nvPr/>
            </p:nvSpPr>
            <p:spPr>
              <a:xfrm>
                <a:off x="1983010" y="3219869"/>
                <a:ext cx="114300" cy="114300"/>
              </a:xfrm>
              <a:prstGeom prst="ellipse">
                <a:avLst/>
              </a:prstGeom>
              <a:solidFill>
                <a:schemeClr val="accent3"/>
              </a:solidFill>
              <a:ln>
                <a:noFill/>
              </a:ln>
            </p:spPr>
          </p:sp>
          <p:sp>
            <p:nvSpPr>
              <p:cNvPr id="38" name="TextBox 38"/>
              <p:cNvSpPr txBox="1"/>
              <p:nvPr/>
            </p:nvSpPr>
            <p:spPr>
              <a:xfrm>
                <a:off x="2147602" y="2997937"/>
                <a:ext cx="67705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周期30s</a:t>
                </a:r>
              </a:p>
            </p:txBody>
          </p:sp>
          <p:sp>
            <p:nvSpPr>
              <p:cNvPr id="39" name="Ellipse 39"/>
              <p:cNvSpPr/>
              <p:nvPr/>
            </p:nvSpPr>
            <p:spPr>
              <a:xfrm>
                <a:off x="2377811" y="3898478"/>
                <a:ext cx="114300" cy="114300"/>
              </a:xfrm>
              <a:prstGeom prst="ellipse">
                <a:avLst/>
              </a:prstGeom>
              <a:solidFill>
                <a:schemeClr val="accent2"/>
              </a:solidFill>
              <a:ln>
                <a:noFill/>
              </a:ln>
            </p:spPr>
          </p:sp>
          <p:sp>
            <p:nvSpPr>
              <p:cNvPr id="40" name="TextBox 40"/>
              <p:cNvSpPr txBox="1"/>
              <p:nvPr/>
            </p:nvSpPr>
            <p:spPr>
              <a:xfrm>
                <a:off x="2523353" y="4057545"/>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原始事件</a:t>
                </a:r>
              </a:p>
            </p:txBody>
          </p:sp>
          <p:sp>
            <p:nvSpPr>
              <p:cNvPr id="41" name="Ellipse 41"/>
              <p:cNvSpPr/>
              <p:nvPr/>
            </p:nvSpPr>
            <p:spPr>
              <a:xfrm>
                <a:off x="1689602" y="3655790"/>
                <a:ext cx="114300" cy="114300"/>
              </a:xfrm>
              <a:prstGeom prst="ellipse">
                <a:avLst/>
              </a:prstGeom>
              <a:solidFill>
                <a:srgbClr val="83639B"/>
              </a:solidFill>
              <a:ln>
                <a:noFill/>
              </a:ln>
            </p:spPr>
          </p:sp>
          <p:sp>
            <p:nvSpPr>
              <p:cNvPr id="42" name="TextBox 42"/>
              <p:cNvSpPr txBox="1"/>
              <p:nvPr/>
            </p:nvSpPr>
            <p:spPr>
              <a:xfrm>
                <a:off x="1854194" y="3395758"/>
                <a:ext cx="1104138" cy="264033"/>
              </a:xfrm>
              <a:prstGeom prst="rect">
                <a:avLst/>
              </a:prstGeom>
              <a:noFill/>
              <a:ln>
                <a:noFill/>
              </a:ln>
            </p:spPr>
            <p:txBody>
              <a:bodyPr wrap="none" lIns="0" tIns="0" rIns="0" bIns="0" anchor="t" anchorCtr="0">
                <a:spAutoFit/>
              </a:bodyPr>
              <a:lstStyle/>
              <a:p>
                <a:pPr algn="l"/>
                <a:r>
                  <a:rPr lang="zh-CN" sz="1350" dirty="0">
                    <a:solidFill>
                      <a:srgbClr val="83639B"/>
                    </a:solidFill>
                    <a:latin typeface="+mn-lt"/>
                    <a:ea typeface="+mn-ea"/>
                    <a:cs typeface="+mn-cs"/>
                  </a:rPr>
                  <a:t>滤波限频事件</a:t>
                </a:r>
              </a:p>
            </p:txBody>
          </p:sp>
        </p:grpSp>
      </p:grpSp>
      <p:grpSp>
        <p:nvGrpSpPr>
          <p:cNvPr id="73" name="noise-tradeoff"/>
          <p:cNvGrpSpPr/>
          <p:nvPr/>
        </p:nvGrpSpPr>
        <p:grpSpPr>
          <a:xfrm>
            <a:off x="6456026" y="2702242"/>
            <a:ext cx="5045040" cy="2388109"/>
            <a:chOff x="6456026" y="2702242"/>
            <a:chExt cx="5045040" cy="2388109"/>
          </a:xfrm>
        </p:grpSpPr>
        <p:grpSp>
          <p:nvGrpSpPr>
            <p:cNvPr id="72" name="noise-tradeoff-chartArea"/>
            <p:cNvGrpSpPr/>
            <p:nvPr/>
          </p:nvGrpSpPr>
          <p:grpSpPr>
            <a:xfrm>
              <a:off x="6456026" y="2702242"/>
              <a:ext cx="5045040" cy="2388109"/>
              <a:chOff x="6456026" y="2702242"/>
              <a:chExt cx="5045040" cy="2388109"/>
            </a:xfrm>
          </p:grpSpPr>
          <p:sp>
            <p:nvSpPr>
              <p:cNvPr id="45" name="Line 45"/>
              <p:cNvSpPr/>
              <p:nvPr/>
            </p:nvSpPr>
            <p:spPr>
              <a:xfrm>
                <a:off x="6877050" y="4705350"/>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46" name="TextBox 46"/>
              <p:cNvSpPr txBox="1"/>
              <p:nvPr/>
            </p:nvSpPr>
            <p:spPr>
              <a:xfrm>
                <a:off x="6456026" y="461676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0.0</a:t>
                </a:r>
              </a:p>
            </p:txBody>
          </p:sp>
          <p:sp>
            <p:nvSpPr>
              <p:cNvPr id="47" name="Line 47"/>
              <p:cNvSpPr/>
              <p:nvPr/>
            </p:nvSpPr>
            <p:spPr>
              <a:xfrm>
                <a:off x="6877050" y="4322445"/>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48" name="TextBox 48"/>
              <p:cNvSpPr txBox="1"/>
              <p:nvPr/>
            </p:nvSpPr>
            <p:spPr>
              <a:xfrm>
                <a:off x="6456026" y="423386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0.5</a:t>
                </a:r>
              </a:p>
            </p:txBody>
          </p:sp>
          <p:sp>
            <p:nvSpPr>
              <p:cNvPr id="49" name="Line 49"/>
              <p:cNvSpPr/>
              <p:nvPr/>
            </p:nvSpPr>
            <p:spPr>
              <a:xfrm>
                <a:off x="6877050" y="3939540"/>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50" name="TextBox 50"/>
              <p:cNvSpPr txBox="1"/>
              <p:nvPr/>
            </p:nvSpPr>
            <p:spPr>
              <a:xfrm>
                <a:off x="6456026" y="385095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1.0</a:t>
                </a:r>
              </a:p>
            </p:txBody>
          </p:sp>
          <p:sp>
            <p:nvSpPr>
              <p:cNvPr id="51" name="Line 51"/>
              <p:cNvSpPr/>
              <p:nvPr/>
            </p:nvSpPr>
            <p:spPr>
              <a:xfrm>
                <a:off x="6877050" y="3556635"/>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52" name="TextBox 52"/>
              <p:cNvSpPr txBox="1"/>
              <p:nvPr/>
            </p:nvSpPr>
            <p:spPr>
              <a:xfrm>
                <a:off x="6456026" y="346805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1.5</a:t>
                </a:r>
              </a:p>
            </p:txBody>
          </p:sp>
          <p:sp>
            <p:nvSpPr>
              <p:cNvPr id="53" name="Line 53"/>
              <p:cNvSpPr/>
              <p:nvPr/>
            </p:nvSpPr>
            <p:spPr>
              <a:xfrm>
                <a:off x="6877050" y="3173730"/>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54" name="TextBox 54"/>
              <p:cNvSpPr txBox="1"/>
              <p:nvPr/>
            </p:nvSpPr>
            <p:spPr>
              <a:xfrm>
                <a:off x="6456026" y="3085148"/>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2.0</a:t>
                </a:r>
              </a:p>
            </p:txBody>
          </p:sp>
          <p:sp>
            <p:nvSpPr>
              <p:cNvPr id="55" name="Line 55"/>
              <p:cNvSpPr/>
              <p:nvPr/>
            </p:nvSpPr>
            <p:spPr>
              <a:xfrm>
                <a:off x="6877050" y="2790825"/>
                <a:ext cx="4467225" cy="9525"/>
              </a:xfrm>
              <a:custGeom>
                <a:avLst/>
                <a:gdLst/>
                <a:ahLst/>
                <a:cxnLst/>
                <a:rect l="l" t="t" r="r" b="b"/>
                <a:pathLst>
                  <a:path w="4467225" h="9525">
                    <a:moveTo>
                      <a:pt x="0" y="0"/>
                    </a:moveTo>
                    <a:lnTo>
                      <a:pt x="4467225" y="0"/>
                    </a:lnTo>
                  </a:path>
                </a:pathLst>
              </a:custGeom>
              <a:noFill/>
              <a:ln w="9525">
                <a:solidFill>
                  <a:srgbClr val="E0E7E2"/>
                </a:solidFill>
              </a:ln>
            </p:spPr>
          </p:sp>
          <p:sp>
            <p:nvSpPr>
              <p:cNvPr id="56" name="TextBox 56"/>
              <p:cNvSpPr txBox="1"/>
              <p:nvPr/>
            </p:nvSpPr>
            <p:spPr>
              <a:xfrm>
                <a:off x="6456026" y="2702242"/>
                <a:ext cx="31358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2.5</a:t>
                </a:r>
              </a:p>
            </p:txBody>
          </p:sp>
          <p:sp>
            <p:nvSpPr>
              <p:cNvPr id="57" name="TextBox 57"/>
              <p:cNvSpPr txBox="1"/>
              <p:nvPr/>
            </p:nvSpPr>
            <p:spPr>
              <a:xfrm>
                <a:off x="6820214" y="482631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a:t>
                </a:r>
              </a:p>
            </p:txBody>
          </p:sp>
          <p:sp>
            <p:nvSpPr>
              <p:cNvPr id="58" name="TextBox 58"/>
              <p:cNvSpPr txBox="1"/>
              <p:nvPr/>
            </p:nvSpPr>
            <p:spPr>
              <a:xfrm>
                <a:off x="7837065" y="482631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150</a:t>
                </a:r>
              </a:p>
            </p:txBody>
          </p:sp>
          <p:sp>
            <p:nvSpPr>
              <p:cNvPr id="59" name="TextBox 59"/>
              <p:cNvSpPr txBox="1"/>
              <p:nvPr/>
            </p:nvSpPr>
            <p:spPr>
              <a:xfrm>
                <a:off x="8953871" y="482631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300</a:t>
                </a:r>
              </a:p>
            </p:txBody>
          </p:sp>
          <p:sp>
            <p:nvSpPr>
              <p:cNvPr id="60" name="TextBox 60"/>
              <p:cNvSpPr txBox="1"/>
              <p:nvPr/>
            </p:nvSpPr>
            <p:spPr>
              <a:xfrm>
                <a:off x="10070678" y="482631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450</a:t>
                </a:r>
              </a:p>
            </p:txBody>
          </p:sp>
          <p:sp>
            <p:nvSpPr>
              <p:cNvPr id="61" name="TextBox 61"/>
              <p:cNvSpPr txBox="1"/>
              <p:nvPr/>
            </p:nvSpPr>
            <p:spPr>
              <a:xfrm>
                <a:off x="11187484" y="482631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600</a:t>
                </a:r>
              </a:p>
            </p:txBody>
          </p:sp>
          <p:sp>
            <p:nvSpPr>
              <p:cNvPr id="62" name="Line 62"/>
              <p:cNvSpPr/>
              <p:nvPr/>
            </p:nvSpPr>
            <p:spPr>
              <a:xfrm>
                <a:off x="6877050" y="2790825"/>
                <a:ext cx="9525" cy="1914525"/>
              </a:xfrm>
              <a:custGeom>
                <a:avLst/>
                <a:gdLst/>
                <a:ahLst/>
                <a:cxnLst/>
                <a:rect l="l" t="t" r="r" b="b"/>
                <a:pathLst>
                  <a:path w="9525" h="1914525">
                    <a:moveTo>
                      <a:pt x="0" y="0"/>
                    </a:moveTo>
                    <a:lnTo>
                      <a:pt x="0" y="1914525"/>
                    </a:lnTo>
                  </a:path>
                </a:pathLst>
              </a:custGeom>
              <a:noFill/>
              <a:ln w="9525">
                <a:solidFill>
                  <a:srgbClr val="556762"/>
                </a:solidFill>
              </a:ln>
            </p:spPr>
          </p:sp>
          <p:sp>
            <p:nvSpPr>
              <p:cNvPr id="63" name="Line 63"/>
              <p:cNvSpPr/>
              <p:nvPr/>
            </p:nvSpPr>
            <p:spPr>
              <a:xfrm>
                <a:off x="6877050" y="4705350"/>
                <a:ext cx="4467225" cy="9525"/>
              </a:xfrm>
              <a:custGeom>
                <a:avLst/>
                <a:gdLst/>
                <a:ahLst/>
                <a:cxnLst/>
                <a:rect l="l" t="t" r="r" b="b"/>
                <a:pathLst>
                  <a:path w="4467225" h="9525">
                    <a:moveTo>
                      <a:pt x="0" y="0"/>
                    </a:moveTo>
                    <a:lnTo>
                      <a:pt x="4467225" y="0"/>
                    </a:lnTo>
                  </a:path>
                </a:pathLst>
              </a:custGeom>
              <a:noFill/>
              <a:ln w="9525">
                <a:solidFill>
                  <a:srgbClr val="556762"/>
                </a:solidFill>
              </a:ln>
            </p:spPr>
          </p:sp>
          <p:sp>
            <p:nvSpPr>
              <p:cNvPr id="64" name="Ellipse 64"/>
              <p:cNvSpPr/>
              <p:nvPr/>
            </p:nvSpPr>
            <p:spPr>
              <a:xfrm>
                <a:off x="7390962" y="3854358"/>
                <a:ext cx="114300" cy="114300"/>
              </a:xfrm>
              <a:prstGeom prst="ellipse">
                <a:avLst/>
              </a:prstGeom>
              <a:solidFill>
                <a:schemeClr val="accent1"/>
              </a:solidFill>
              <a:ln>
                <a:noFill/>
              </a:ln>
            </p:spPr>
          </p:sp>
          <p:sp>
            <p:nvSpPr>
              <p:cNvPr id="65" name="TextBox 65"/>
              <p:cNvSpPr txBox="1"/>
              <p:nvPr/>
            </p:nvSpPr>
            <p:spPr>
              <a:xfrm>
                <a:off x="7631754" y="3670525"/>
                <a:ext cx="677056" cy="264033"/>
              </a:xfrm>
              <a:prstGeom prst="rect">
                <a:avLst/>
              </a:prstGeom>
              <a:noFill/>
              <a:ln>
                <a:noFill/>
              </a:ln>
            </p:spPr>
            <p:txBody>
              <a:bodyPr wrap="none" lIns="0" tIns="0" rIns="0" bIns="0" anchor="t" anchorCtr="0">
                <a:spAutoFit/>
              </a:bodyPr>
              <a:lstStyle/>
              <a:p>
                <a:pPr algn="l"/>
                <a:r>
                  <a:rPr lang="zh-CN" sz="1350" dirty="0">
                    <a:solidFill>
                      <a:schemeClr val="accent1"/>
                    </a:solidFill>
                    <a:latin typeface="+mn-lt"/>
                    <a:ea typeface="+mn-ea"/>
                    <a:cs typeface="+mn-cs"/>
                  </a:rPr>
                  <a:t>周期10s</a:t>
                </a:r>
              </a:p>
            </p:txBody>
          </p:sp>
          <p:sp>
            <p:nvSpPr>
              <p:cNvPr id="66" name="Ellipse 66"/>
              <p:cNvSpPr/>
              <p:nvPr/>
            </p:nvSpPr>
            <p:spPr>
              <a:xfrm>
                <a:off x="7070065" y="3256302"/>
                <a:ext cx="114300" cy="114300"/>
              </a:xfrm>
              <a:prstGeom prst="ellipse">
                <a:avLst/>
              </a:prstGeom>
              <a:solidFill>
                <a:schemeClr val="accent3"/>
              </a:solidFill>
              <a:ln>
                <a:noFill/>
              </a:ln>
            </p:spPr>
          </p:sp>
          <p:sp>
            <p:nvSpPr>
              <p:cNvPr id="67" name="TextBox 67"/>
              <p:cNvSpPr txBox="1"/>
              <p:nvPr/>
            </p:nvSpPr>
            <p:spPr>
              <a:xfrm>
                <a:off x="7234657" y="3034370"/>
                <a:ext cx="67705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周期30s</a:t>
                </a:r>
              </a:p>
            </p:txBody>
          </p:sp>
          <p:sp>
            <p:nvSpPr>
              <p:cNvPr id="68" name="Ellipse 68"/>
              <p:cNvSpPr/>
              <p:nvPr/>
            </p:nvSpPr>
            <p:spPr>
              <a:xfrm>
                <a:off x="10478929" y="4529014"/>
                <a:ext cx="114300" cy="114300"/>
              </a:xfrm>
              <a:prstGeom prst="ellipse">
                <a:avLst/>
              </a:prstGeom>
              <a:solidFill>
                <a:schemeClr val="accent2"/>
              </a:solidFill>
              <a:ln>
                <a:noFill/>
              </a:ln>
            </p:spPr>
          </p:sp>
          <p:sp>
            <p:nvSpPr>
              <p:cNvPr id="69" name="TextBox 69"/>
              <p:cNvSpPr txBox="1"/>
              <p:nvPr/>
            </p:nvSpPr>
            <p:spPr>
              <a:xfrm>
                <a:off x="9529096" y="4307081"/>
                <a:ext cx="740664"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原始事件</a:t>
                </a:r>
              </a:p>
            </p:txBody>
          </p:sp>
          <p:sp>
            <p:nvSpPr>
              <p:cNvPr id="70" name="Ellipse 70"/>
              <p:cNvSpPr/>
              <p:nvPr/>
            </p:nvSpPr>
            <p:spPr>
              <a:xfrm>
                <a:off x="7065969" y="3782349"/>
                <a:ext cx="114300" cy="114300"/>
              </a:xfrm>
              <a:prstGeom prst="ellipse">
                <a:avLst/>
              </a:prstGeom>
              <a:solidFill>
                <a:srgbClr val="83639B"/>
              </a:solidFill>
              <a:ln>
                <a:noFill/>
              </a:ln>
            </p:spPr>
          </p:sp>
          <p:sp>
            <p:nvSpPr>
              <p:cNvPr id="71" name="TextBox 71"/>
              <p:cNvSpPr txBox="1"/>
              <p:nvPr/>
            </p:nvSpPr>
            <p:spPr>
              <a:xfrm>
                <a:off x="7230561" y="4103341"/>
                <a:ext cx="1104138" cy="264033"/>
              </a:xfrm>
              <a:prstGeom prst="rect">
                <a:avLst/>
              </a:prstGeom>
              <a:noFill/>
              <a:ln>
                <a:noFill/>
              </a:ln>
            </p:spPr>
            <p:txBody>
              <a:bodyPr wrap="none" lIns="0" tIns="0" rIns="0" bIns="0" anchor="t" anchorCtr="0">
                <a:spAutoFit/>
              </a:bodyPr>
              <a:lstStyle/>
              <a:p>
                <a:pPr algn="l"/>
                <a:r>
                  <a:rPr lang="zh-CN" sz="1350" dirty="0">
                    <a:solidFill>
                      <a:srgbClr val="83639B"/>
                    </a:solidFill>
                    <a:latin typeface="+mn-lt"/>
                    <a:ea typeface="+mn-ea"/>
                    <a:cs typeface="+mn-cs"/>
                  </a:rPr>
                  <a:t>滤波限频事件</a:t>
                </a:r>
              </a:p>
            </p:txBody>
          </p:sp>
        </p:grpSp>
      </p:grpSp>
      <p:grpSp>
        <p:nvGrpSpPr>
          <p:cNvPr id="76" name="communication-implication"/>
          <p:cNvGrpSpPr/>
          <p:nvPr/>
        </p:nvGrpSpPr>
        <p:grpSpPr>
          <a:xfrm>
            <a:off x="448056" y="5539740"/>
            <a:ext cx="8921801" cy="598361"/>
            <a:chOff x="448056" y="5539740"/>
            <a:chExt cx="8921801" cy="598361"/>
          </a:xfrm>
        </p:grpSpPr>
        <p:sp>
          <p:nvSpPr>
            <p:cNvPr id="74" name="TextBox 74"/>
            <p:cNvSpPr txBox="1"/>
            <p:nvPr/>
          </p:nvSpPr>
          <p:spPr>
            <a:xfrm>
              <a:off x="448056" y="5539740"/>
              <a:ext cx="892180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横轴：上行＋ACK帧（含清队列）。少发帧可能增加信息误差；慢周期也有竞争力。</a:t>
              </a:r>
            </a:p>
          </p:txBody>
        </p:sp>
        <p:sp>
          <p:nvSpPr>
            <p:cNvPr id="75" name="TextBox 75"/>
            <p:cNvSpPr txBox="1"/>
            <p:nvPr/>
          </p:nvSpPr>
          <p:spPr>
            <a:xfrm>
              <a:off x="450342" y="5874068"/>
              <a:ext cx="654801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MAE相对本地模拟滤波量，首次接收前另报覆盖；不是实际压力精度或整机节电。</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981456"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合成挑战检验</a:t>
            </a:r>
          </a:p>
        </p:txBody>
      </p:sp>
      <p:grpSp>
        <p:nvGrpSpPr>
          <p:cNvPr id="4" name="page-title"/>
          <p:cNvGrpSpPr/>
          <p:nvPr/>
        </p:nvGrpSpPr>
        <p:grpSpPr>
          <a:xfrm>
            <a:off x="441198" y="812483"/>
            <a:ext cx="5544693" cy="616077"/>
            <a:chOff x="441198" y="812483"/>
            <a:chExt cx="5544693" cy="616077"/>
          </a:xfrm>
        </p:grpSpPr>
        <p:sp>
          <p:nvSpPr>
            <p:cNvPr id="3" name="TextBox 3"/>
            <p:cNvSpPr txBox="1"/>
            <p:nvPr/>
          </p:nvSpPr>
          <p:spPr>
            <a:xfrm>
              <a:off x="441198" y="812483"/>
              <a:ext cx="554469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反例决定边界，而不是被隐藏</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781476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来源：audit_results/audit.json 与 communication_results/summary.json；合成重复不是实际识别率。</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15</a:t>
            </a:r>
          </a:p>
        </p:txBody>
      </p:sp>
      <p:grpSp>
        <p:nvGrpSpPr>
          <p:cNvPr id="19" name="failure-boundaries"/>
          <p:cNvGrpSpPr/>
          <p:nvPr/>
        </p:nvGrpSpPr>
        <p:grpSpPr>
          <a:xfrm>
            <a:off x="438150" y="1990725"/>
            <a:ext cx="11296650" cy="4117848"/>
            <a:chOff x="438150" y="1990725"/>
            <a:chExt cx="11296650" cy="4117848"/>
          </a:xfrm>
        </p:grpSpPr>
        <p:sp>
          <p:nvSpPr>
            <p:cNvPr id="8" name="TextBox 8"/>
            <p:cNvSpPr txBox="1"/>
            <p:nvPr/>
          </p:nvSpPr>
          <p:spPr>
            <a:xfrm>
              <a:off x="438150" y="1990725"/>
              <a:ext cx="1819123" cy="876300"/>
            </a:xfrm>
            <a:prstGeom prst="rect">
              <a:avLst/>
            </a:prstGeom>
            <a:noFill/>
            <a:ln>
              <a:noFill/>
            </a:ln>
          </p:spPr>
          <p:txBody>
            <a:bodyPr wrap="none" lIns="0" tIns="0" rIns="0" bIns="0" anchor="t" anchorCtr="0">
              <a:spAutoFit/>
            </a:bodyPr>
            <a:lstStyle/>
            <a:p>
              <a:pPr algn="l"/>
              <a:r>
                <a:rPr lang="zh-CN" sz="4500" b="1" dirty="0">
                  <a:solidFill>
                    <a:schemeClr val="accent2"/>
                  </a:solidFill>
                  <a:latin typeface="+mn-lt"/>
                  <a:ea typeface="+mn-ea"/>
                  <a:cs typeface="+mn-cs"/>
                </a:rPr>
                <a:t>0 / 20</a:t>
              </a:r>
            </a:p>
          </p:txBody>
        </p:sp>
        <p:sp>
          <p:nvSpPr>
            <p:cNvPr id="9" name="TextBox 9"/>
            <p:cNvSpPr txBox="1"/>
            <p:nvPr/>
          </p:nvSpPr>
          <p:spPr>
            <a:xfrm>
              <a:off x="3636645" y="2138362"/>
              <a:ext cx="274891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弱等效泄漏未被命中</a:t>
              </a:r>
            </a:p>
          </p:txBody>
        </p:sp>
        <p:sp>
          <p:nvSpPr>
            <p:cNvPr id="10" name="TextBox 10"/>
            <p:cNvSpPr txBox="1"/>
            <p:nvPr/>
          </p:nvSpPr>
          <p:spPr>
            <a:xfrm>
              <a:off x="3638931" y="2663190"/>
              <a:ext cx="510692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这是检测边界，不是通信重传能够补救的问题。</a:t>
              </a:r>
            </a:p>
          </p:txBody>
        </p:sp>
        <p:sp>
          <p:nvSpPr>
            <p:cNvPr id="11" name="Line 11"/>
            <p:cNvSpPr/>
            <p:nvPr/>
          </p:nvSpPr>
          <p:spPr>
            <a:xfrm>
              <a:off x="457200" y="32004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12" name="TextBox 12"/>
            <p:cNvSpPr txBox="1"/>
            <p:nvPr/>
          </p:nvSpPr>
          <p:spPr>
            <a:xfrm>
              <a:off x="446532" y="3526155"/>
              <a:ext cx="115214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信息缺失</a:t>
              </a:r>
            </a:p>
          </p:txBody>
        </p:sp>
        <p:sp>
          <p:nvSpPr>
            <p:cNvPr id="13" name="TextBox 13"/>
            <p:cNvSpPr txBox="1"/>
            <p:nvPr/>
          </p:nvSpPr>
          <p:spPr>
            <a:xfrm>
              <a:off x="2676906" y="3558540"/>
              <a:ext cx="39195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无阀态正常切换：平均1次误报/试次</a:t>
              </a:r>
            </a:p>
          </p:txBody>
        </p:sp>
        <p:sp>
          <p:nvSpPr>
            <p:cNvPr id="14" name="TextBox 14"/>
            <p:cNvSpPr txBox="1"/>
            <p:nvPr/>
          </p:nvSpPr>
          <p:spPr>
            <a:xfrm>
              <a:off x="446532" y="4145280"/>
              <a:ext cx="115214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较大噪声</a:t>
              </a:r>
            </a:p>
          </p:txBody>
        </p:sp>
        <p:sp>
          <p:nvSpPr>
            <p:cNvPr id="15" name="TextBox 15"/>
            <p:cNvSpPr txBox="1"/>
            <p:nvPr/>
          </p:nvSpPr>
          <p:spPr>
            <a:xfrm>
              <a:off x="2676906" y="4177665"/>
              <a:ext cx="345917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候选检测：平均2.7次误报/试次</a:t>
              </a:r>
            </a:p>
          </p:txBody>
        </p:sp>
        <p:sp>
          <p:nvSpPr>
            <p:cNvPr id="16" name="TextBox 16"/>
            <p:cNvSpPr txBox="1"/>
            <p:nvPr/>
          </p:nvSpPr>
          <p:spPr>
            <a:xfrm>
              <a:off x="446532" y="4764405"/>
              <a:ext cx="1152144"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链路中断</a:t>
              </a:r>
            </a:p>
          </p:txBody>
        </p:sp>
        <p:sp>
          <p:nvSpPr>
            <p:cNvPr id="17" name="TextBox 17"/>
            <p:cNvSpPr txBox="1"/>
            <p:nvPr/>
          </p:nvSpPr>
          <p:spPr>
            <a:xfrm>
              <a:off x="2676906" y="4796790"/>
              <a:ext cx="63306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30%随机丢包＋15秒阻断，仍有短时告警超过20秒演示约束</a:t>
              </a:r>
            </a:p>
          </p:txBody>
        </p:sp>
        <p:sp>
          <p:nvSpPr>
            <p:cNvPr id="18" name="TextBox 18"/>
            <p:cNvSpPr txBox="1"/>
            <p:nvPr/>
          </p:nvSpPr>
          <p:spPr>
            <a:xfrm>
              <a:off x="446532" y="569785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保留失败案例与强基线，按实际证据确定研究增量。</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2435352"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拟实现系统｜网站当前为模型展示</a:t>
            </a:r>
          </a:p>
        </p:txBody>
      </p:sp>
      <p:grpSp>
        <p:nvGrpSpPr>
          <p:cNvPr id="4" name="page-title"/>
          <p:cNvGrpSpPr/>
          <p:nvPr/>
        </p:nvGrpSpPr>
        <p:grpSpPr>
          <a:xfrm>
            <a:off x="441198" y="812483"/>
            <a:ext cx="5544693" cy="616077"/>
            <a:chOff x="441198" y="812483"/>
            <a:chExt cx="5544693" cy="616077"/>
          </a:xfrm>
        </p:grpSpPr>
        <p:sp>
          <p:nvSpPr>
            <p:cNvPr id="3" name="TextBox 3"/>
            <p:cNvSpPr txBox="1"/>
            <p:nvPr/>
          </p:nvSpPr>
          <p:spPr>
            <a:xfrm>
              <a:off x="441198" y="812483"/>
              <a:ext cx="554469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由原始采集走向可追踪的系统</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15</a:t>
            </a:r>
          </a:p>
        </p:txBody>
      </p:sp>
      <p:grpSp>
        <p:nvGrpSpPr>
          <p:cNvPr id="26" name="system-chain"/>
          <p:cNvGrpSpPr/>
          <p:nvPr/>
        </p:nvGrpSpPr>
        <p:grpSpPr>
          <a:xfrm>
            <a:off x="446532" y="2276475"/>
            <a:ext cx="11288268" cy="3546348"/>
            <a:chOff x="446532" y="2276475"/>
            <a:chExt cx="11288268" cy="3546348"/>
          </a:xfrm>
        </p:grpSpPr>
        <p:sp>
          <p:nvSpPr>
            <p:cNvPr id="8" name="Rectangle 8"/>
            <p:cNvSpPr/>
            <p:nvPr/>
          </p:nvSpPr>
          <p:spPr>
            <a:xfrm>
              <a:off x="457200" y="2276475"/>
              <a:ext cx="2505075" cy="1400175"/>
            </a:xfrm>
            <a:prstGeom prst="rect">
              <a:avLst/>
            </a:prstGeom>
            <a:solidFill>
              <a:schemeClr val="lt2"/>
            </a:solidFill>
            <a:ln>
              <a:noFill/>
            </a:ln>
          </p:spPr>
        </p:sp>
        <p:sp>
          <p:nvSpPr>
            <p:cNvPr id="9" name="TextBox 9"/>
            <p:cNvSpPr txBox="1"/>
            <p:nvPr/>
          </p:nvSpPr>
          <p:spPr>
            <a:xfrm>
              <a:off x="637032" y="2526030"/>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原始采集</a:t>
              </a:r>
            </a:p>
          </p:txBody>
        </p:sp>
        <p:sp>
          <p:nvSpPr>
            <p:cNvPr id="10" name="TextBox 10"/>
            <p:cNvSpPr txBox="1"/>
            <p:nvPr/>
          </p:nvSpPr>
          <p:spPr>
            <a:xfrm>
              <a:off x="638556" y="3034665"/>
              <a:ext cx="12662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压力 / 流量</a:t>
              </a:r>
            </a:p>
          </p:txBody>
        </p:sp>
        <p:sp>
          <p:nvSpPr>
            <p:cNvPr id="11" name="Line 11"/>
            <p:cNvSpPr/>
            <p:nvPr/>
          </p:nvSpPr>
          <p:spPr>
            <a:xfrm>
              <a:off x="2962275" y="2971800"/>
              <a:ext cx="400050" cy="9525"/>
            </a:xfrm>
            <a:custGeom>
              <a:avLst/>
              <a:gdLst/>
              <a:ahLst/>
              <a:cxnLst/>
              <a:rect l="l" t="t" r="r" b="b"/>
              <a:pathLst>
                <a:path w="400050" h="9525">
                  <a:moveTo>
                    <a:pt x="0" y="0"/>
                  </a:moveTo>
                  <a:lnTo>
                    <a:pt x="400050" y="0"/>
                  </a:lnTo>
                </a:path>
              </a:pathLst>
            </a:custGeom>
            <a:noFill/>
            <a:ln w="28575">
              <a:solidFill>
                <a:schemeClr val="accent1"/>
              </a:solidFill>
            </a:ln>
          </p:spPr>
        </p:sp>
        <p:sp>
          <p:nvSpPr>
            <p:cNvPr id="12" name="Rectangle 12"/>
            <p:cNvSpPr/>
            <p:nvPr/>
          </p:nvSpPr>
          <p:spPr>
            <a:xfrm>
              <a:off x="3381375" y="2276475"/>
              <a:ext cx="2505075" cy="1400175"/>
            </a:xfrm>
            <a:prstGeom prst="rect">
              <a:avLst/>
            </a:prstGeom>
            <a:solidFill>
              <a:schemeClr val="lt2"/>
            </a:solidFill>
            <a:ln>
              <a:noFill/>
            </a:ln>
          </p:spPr>
        </p:sp>
        <p:sp>
          <p:nvSpPr>
            <p:cNvPr id="13" name="TextBox 13"/>
            <p:cNvSpPr txBox="1"/>
            <p:nvPr/>
          </p:nvSpPr>
          <p:spPr>
            <a:xfrm>
              <a:off x="3561207" y="2526030"/>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本地节点</a:t>
              </a:r>
            </a:p>
          </p:txBody>
        </p:sp>
        <p:sp>
          <p:nvSpPr>
            <p:cNvPr id="14" name="TextBox 14"/>
            <p:cNvSpPr txBox="1"/>
            <p:nvPr/>
          </p:nvSpPr>
          <p:spPr>
            <a:xfrm>
              <a:off x="3562731" y="3034665"/>
              <a:ext cx="12662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检测 + 缓存</a:t>
              </a:r>
            </a:p>
          </p:txBody>
        </p:sp>
        <p:sp>
          <p:nvSpPr>
            <p:cNvPr id="15" name="Line 15"/>
            <p:cNvSpPr/>
            <p:nvPr/>
          </p:nvSpPr>
          <p:spPr>
            <a:xfrm>
              <a:off x="5886450" y="2971800"/>
              <a:ext cx="400050" cy="9525"/>
            </a:xfrm>
            <a:custGeom>
              <a:avLst/>
              <a:gdLst/>
              <a:ahLst/>
              <a:cxnLst/>
              <a:rect l="l" t="t" r="r" b="b"/>
              <a:pathLst>
                <a:path w="400050" h="9525">
                  <a:moveTo>
                    <a:pt x="0" y="0"/>
                  </a:moveTo>
                  <a:lnTo>
                    <a:pt x="400050" y="0"/>
                  </a:lnTo>
                </a:path>
              </a:pathLst>
            </a:custGeom>
            <a:noFill/>
            <a:ln w="28575">
              <a:solidFill>
                <a:schemeClr val="accent1"/>
              </a:solidFill>
            </a:ln>
          </p:spPr>
        </p:sp>
        <p:sp>
          <p:nvSpPr>
            <p:cNvPr id="16" name="Rectangle 16"/>
            <p:cNvSpPr/>
            <p:nvPr/>
          </p:nvSpPr>
          <p:spPr>
            <a:xfrm>
              <a:off x="6305550" y="2276475"/>
              <a:ext cx="2505075" cy="1400175"/>
            </a:xfrm>
            <a:prstGeom prst="rect">
              <a:avLst/>
            </a:prstGeom>
            <a:solidFill>
              <a:schemeClr val="lt2"/>
            </a:solidFill>
            <a:ln>
              <a:noFill/>
            </a:ln>
          </p:spPr>
        </p:sp>
        <p:sp>
          <p:nvSpPr>
            <p:cNvPr id="17" name="TextBox 17"/>
            <p:cNvSpPr txBox="1"/>
            <p:nvPr/>
          </p:nvSpPr>
          <p:spPr>
            <a:xfrm>
              <a:off x="6485382" y="2526030"/>
              <a:ext cx="125826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LoRa链路</a:t>
              </a:r>
            </a:p>
          </p:txBody>
        </p:sp>
        <p:sp>
          <p:nvSpPr>
            <p:cNvPr id="18" name="TextBox 18"/>
            <p:cNvSpPr txBox="1"/>
            <p:nvPr/>
          </p:nvSpPr>
          <p:spPr>
            <a:xfrm>
              <a:off x="6486906" y="3034665"/>
              <a:ext cx="121981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发送 + ACK</a:t>
              </a:r>
            </a:p>
          </p:txBody>
        </p:sp>
        <p:sp>
          <p:nvSpPr>
            <p:cNvPr id="19" name="Line 19"/>
            <p:cNvSpPr/>
            <p:nvPr/>
          </p:nvSpPr>
          <p:spPr>
            <a:xfrm>
              <a:off x="8810625" y="2971800"/>
              <a:ext cx="400050" cy="9525"/>
            </a:xfrm>
            <a:custGeom>
              <a:avLst/>
              <a:gdLst/>
              <a:ahLst/>
              <a:cxnLst/>
              <a:rect l="l" t="t" r="r" b="b"/>
              <a:pathLst>
                <a:path w="400050" h="9525">
                  <a:moveTo>
                    <a:pt x="0" y="0"/>
                  </a:moveTo>
                  <a:lnTo>
                    <a:pt x="400050" y="0"/>
                  </a:lnTo>
                </a:path>
              </a:pathLst>
            </a:custGeom>
            <a:noFill/>
            <a:ln w="28575">
              <a:solidFill>
                <a:schemeClr val="accent1"/>
              </a:solidFill>
            </a:ln>
          </p:spPr>
        </p:sp>
        <p:sp>
          <p:nvSpPr>
            <p:cNvPr id="20" name="Rectangle 20"/>
            <p:cNvSpPr/>
            <p:nvPr/>
          </p:nvSpPr>
          <p:spPr>
            <a:xfrm>
              <a:off x="9229725" y="2276475"/>
              <a:ext cx="2505075" cy="1400175"/>
            </a:xfrm>
            <a:prstGeom prst="rect">
              <a:avLst/>
            </a:prstGeom>
            <a:solidFill>
              <a:schemeClr val="lt2"/>
            </a:solidFill>
            <a:ln>
              <a:noFill/>
            </a:ln>
          </p:spPr>
        </p:sp>
        <p:sp>
          <p:nvSpPr>
            <p:cNvPr id="21" name="TextBox 21"/>
            <p:cNvSpPr txBox="1"/>
            <p:nvPr/>
          </p:nvSpPr>
          <p:spPr>
            <a:xfrm>
              <a:off x="9409557" y="2526030"/>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接收软件</a:t>
              </a:r>
            </a:p>
          </p:txBody>
        </p:sp>
        <p:sp>
          <p:nvSpPr>
            <p:cNvPr id="22" name="TextBox 22"/>
            <p:cNvSpPr txBox="1"/>
            <p:nvPr/>
          </p:nvSpPr>
          <p:spPr>
            <a:xfrm>
              <a:off x="9411081" y="3034665"/>
              <a:ext cx="12662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日志 + 回放</a:t>
              </a:r>
            </a:p>
          </p:txBody>
        </p:sp>
        <p:sp>
          <p:nvSpPr>
            <p:cNvPr id="23" name="TextBox 23"/>
            <p:cNvSpPr txBox="1"/>
            <p:nvPr/>
          </p:nvSpPr>
          <p:spPr>
            <a:xfrm>
              <a:off x="448056" y="4196715"/>
              <a:ext cx="62938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记录字段：启动会话、序号、时间、测量、状态、事件ID。</a:t>
              </a:r>
            </a:p>
          </p:txBody>
        </p:sp>
        <p:sp>
          <p:nvSpPr>
            <p:cNvPr id="24" name="TextBox 24"/>
            <p:cNvSpPr txBox="1"/>
            <p:nvPr/>
          </p:nvSpPr>
          <p:spPr>
            <a:xfrm>
              <a:off x="448056" y="4739640"/>
              <a:ext cx="631850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工程检查：超时、去重、掉电恢复、缓存溢出与断链恢复。</a:t>
              </a:r>
            </a:p>
          </p:txBody>
        </p:sp>
        <p:sp>
          <p:nvSpPr>
            <p:cNvPr id="25" name="TextBox 25"/>
            <p:cNvSpPr txBox="1"/>
            <p:nvPr/>
          </p:nvSpPr>
          <p:spPr>
            <a:xfrm>
              <a:off x="446532" y="5412105"/>
              <a:ext cx="6608293"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先有线数据 → 再可靠无线 → 再有许可的现场适应性。</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658368"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实验计划</a:t>
            </a:r>
          </a:p>
        </p:txBody>
      </p:sp>
      <p:grpSp>
        <p:nvGrpSpPr>
          <p:cNvPr id="4" name="page-title"/>
          <p:cNvGrpSpPr/>
          <p:nvPr/>
        </p:nvGrpSpPr>
        <p:grpSpPr>
          <a:xfrm>
            <a:off x="441198" y="812483"/>
            <a:ext cx="6392799" cy="616077"/>
            <a:chOff x="441198" y="812483"/>
            <a:chExt cx="6392799" cy="616077"/>
          </a:xfrm>
        </p:grpSpPr>
        <p:sp>
          <p:nvSpPr>
            <p:cNvPr id="3" name="TextBox 3"/>
            <p:cNvSpPr txBox="1"/>
            <p:nvPr/>
          </p:nvSpPr>
          <p:spPr>
            <a:xfrm>
              <a:off x="441198" y="812483"/>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分层验证把方法、硬件与场景分开</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nvGrpSpPr>
          <p:cNvPr id="25" name="validation-stages"/>
          <p:cNvGrpSpPr/>
          <p:nvPr/>
        </p:nvGrpSpPr>
        <p:grpSpPr>
          <a:xfrm>
            <a:off x="448056" y="1819275"/>
            <a:ext cx="11286744" cy="4299776"/>
            <a:chOff x="448056" y="1819275"/>
            <a:chExt cx="11286744" cy="4299776"/>
          </a:xfrm>
        </p:grpSpPr>
        <p:sp>
          <p:nvSpPr>
            <p:cNvPr id="8" name="Ellipse 8"/>
            <p:cNvSpPr/>
            <p:nvPr/>
          </p:nvSpPr>
          <p:spPr>
            <a:xfrm>
              <a:off x="476250" y="1819275"/>
              <a:ext cx="514350" cy="514350"/>
            </a:xfrm>
            <a:prstGeom prst="ellipse">
              <a:avLst/>
            </a:prstGeom>
            <a:solidFill>
              <a:schemeClr val="accent1"/>
            </a:solidFill>
            <a:ln>
              <a:noFill/>
            </a:ln>
          </p:spPr>
        </p:sp>
        <p:sp>
          <p:nvSpPr>
            <p:cNvPr id="9" name="TextBox 9"/>
            <p:cNvSpPr txBox="1"/>
            <p:nvPr/>
          </p:nvSpPr>
          <p:spPr>
            <a:xfrm>
              <a:off x="591007" y="1958340"/>
              <a:ext cx="28483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01</a:t>
              </a:r>
            </a:p>
          </p:txBody>
        </p:sp>
        <p:sp>
          <p:nvSpPr>
            <p:cNvPr id="10" name="TextBox 10"/>
            <p:cNvSpPr txBox="1"/>
            <p:nvPr/>
          </p:nvSpPr>
          <p:spPr>
            <a:xfrm>
              <a:off x="1237107" y="1916430"/>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标定与台架</a:t>
              </a:r>
            </a:p>
          </p:txBody>
        </p:sp>
        <p:sp>
          <p:nvSpPr>
            <p:cNvPr id="11" name="TextBox 11"/>
            <p:cNvSpPr txBox="1"/>
            <p:nvPr/>
          </p:nvSpPr>
          <p:spPr>
            <a:xfrm>
              <a:off x="4400931" y="1948815"/>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五类工况、参考量与独立标签</a:t>
              </a:r>
            </a:p>
          </p:txBody>
        </p:sp>
        <p:sp>
          <p:nvSpPr>
            <p:cNvPr id="12" name="Line 12"/>
            <p:cNvSpPr/>
            <p:nvPr/>
          </p:nvSpPr>
          <p:spPr>
            <a:xfrm>
              <a:off x="733425" y="2343150"/>
              <a:ext cx="9525" cy="266700"/>
            </a:xfrm>
            <a:custGeom>
              <a:avLst/>
              <a:gdLst/>
              <a:ahLst/>
              <a:cxnLst/>
              <a:rect l="l" t="t" r="r" b="b"/>
              <a:pathLst>
                <a:path w="9525" h="266700">
                  <a:moveTo>
                    <a:pt x="0" y="0"/>
                  </a:moveTo>
                  <a:lnTo>
                    <a:pt x="0" y="266700"/>
                  </a:lnTo>
                </a:path>
              </a:pathLst>
            </a:custGeom>
            <a:noFill/>
            <a:ln w="19050">
              <a:solidFill>
                <a:schemeClr val="accent6"/>
              </a:solidFill>
            </a:ln>
          </p:spPr>
        </p:sp>
        <p:sp>
          <p:nvSpPr>
            <p:cNvPr id="13" name="Ellipse 13"/>
            <p:cNvSpPr/>
            <p:nvPr/>
          </p:nvSpPr>
          <p:spPr>
            <a:xfrm>
              <a:off x="476250" y="2905125"/>
              <a:ext cx="514350" cy="514350"/>
            </a:xfrm>
            <a:prstGeom prst="ellipse">
              <a:avLst/>
            </a:prstGeom>
            <a:solidFill>
              <a:schemeClr val="accent1"/>
            </a:solidFill>
            <a:ln>
              <a:noFill/>
            </a:ln>
          </p:spPr>
        </p:sp>
        <p:sp>
          <p:nvSpPr>
            <p:cNvPr id="14" name="TextBox 14"/>
            <p:cNvSpPr txBox="1"/>
            <p:nvPr/>
          </p:nvSpPr>
          <p:spPr>
            <a:xfrm>
              <a:off x="591007" y="3044190"/>
              <a:ext cx="28483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02</a:t>
              </a:r>
            </a:p>
          </p:txBody>
        </p:sp>
        <p:sp>
          <p:nvSpPr>
            <p:cNvPr id="15" name="TextBox 15"/>
            <p:cNvSpPr txBox="1"/>
            <p:nvPr/>
          </p:nvSpPr>
          <p:spPr>
            <a:xfrm>
              <a:off x="1237107" y="3002280"/>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方法验证</a:t>
              </a:r>
            </a:p>
          </p:txBody>
        </p:sp>
        <p:sp>
          <p:nvSpPr>
            <p:cNvPr id="16" name="TextBox 16"/>
            <p:cNvSpPr txBox="1"/>
            <p:nvPr/>
          </p:nvSpPr>
          <p:spPr>
            <a:xfrm>
              <a:off x="4400931" y="3034665"/>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按批次留出、强基线、消融</a:t>
              </a:r>
            </a:p>
          </p:txBody>
        </p:sp>
        <p:sp>
          <p:nvSpPr>
            <p:cNvPr id="17" name="Line 17"/>
            <p:cNvSpPr/>
            <p:nvPr/>
          </p:nvSpPr>
          <p:spPr>
            <a:xfrm>
              <a:off x="733425" y="3429000"/>
              <a:ext cx="9525" cy="266700"/>
            </a:xfrm>
            <a:custGeom>
              <a:avLst/>
              <a:gdLst/>
              <a:ahLst/>
              <a:cxnLst/>
              <a:rect l="l" t="t" r="r" b="b"/>
              <a:pathLst>
                <a:path w="9525" h="266700">
                  <a:moveTo>
                    <a:pt x="0" y="0"/>
                  </a:moveTo>
                  <a:lnTo>
                    <a:pt x="0" y="266700"/>
                  </a:lnTo>
                </a:path>
              </a:pathLst>
            </a:custGeom>
            <a:noFill/>
            <a:ln w="19050">
              <a:solidFill>
                <a:schemeClr val="accent6"/>
              </a:solidFill>
            </a:ln>
          </p:spPr>
        </p:sp>
        <p:sp>
          <p:nvSpPr>
            <p:cNvPr id="18" name="Ellipse 18"/>
            <p:cNvSpPr/>
            <p:nvPr/>
          </p:nvSpPr>
          <p:spPr>
            <a:xfrm>
              <a:off x="476250" y="3990975"/>
              <a:ext cx="514350" cy="514350"/>
            </a:xfrm>
            <a:prstGeom prst="ellipse">
              <a:avLst/>
            </a:prstGeom>
            <a:solidFill>
              <a:schemeClr val="accent1"/>
            </a:solidFill>
            <a:ln>
              <a:noFill/>
            </a:ln>
          </p:spPr>
        </p:sp>
        <p:sp>
          <p:nvSpPr>
            <p:cNvPr id="19" name="TextBox 19"/>
            <p:cNvSpPr txBox="1"/>
            <p:nvPr/>
          </p:nvSpPr>
          <p:spPr>
            <a:xfrm>
              <a:off x="591007" y="4130040"/>
              <a:ext cx="28483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03</a:t>
              </a:r>
            </a:p>
          </p:txBody>
        </p:sp>
        <p:sp>
          <p:nvSpPr>
            <p:cNvPr id="20" name="TextBox 20"/>
            <p:cNvSpPr txBox="1"/>
            <p:nvPr/>
          </p:nvSpPr>
          <p:spPr>
            <a:xfrm>
              <a:off x="1237107" y="4088130"/>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无线与整机</a:t>
              </a:r>
            </a:p>
          </p:txBody>
        </p:sp>
        <p:sp>
          <p:nvSpPr>
            <p:cNvPr id="21" name="TextBox 21"/>
            <p:cNvSpPr txBox="1"/>
            <p:nvPr/>
          </p:nvSpPr>
          <p:spPr>
            <a:xfrm>
              <a:off x="4400931" y="4120515"/>
              <a:ext cx="28170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帧/字节、两段延迟、能量</a:t>
              </a:r>
            </a:p>
          </p:txBody>
        </p:sp>
        <p:sp>
          <p:nvSpPr>
            <p:cNvPr id="22" name="Line 22"/>
            <p:cNvSpPr/>
            <p:nvPr/>
          </p:nvSpPr>
          <p:spPr>
            <a:xfrm>
              <a:off x="457200" y="5133975"/>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3" name="TextBox 23"/>
            <p:cNvSpPr txBox="1"/>
            <p:nvPr/>
          </p:nvSpPr>
          <p:spPr>
            <a:xfrm>
              <a:off x="448056" y="5406390"/>
              <a:ext cx="590656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拟≥3次独立操作重复/核心条件；拟≥8h连续台架记录。</a:t>
              </a:r>
            </a:p>
          </p:txBody>
        </p:sp>
        <p:sp>
          <p:nvSpPr>
            <p:cNvPr id="24" name="TextBox 24"/>
            <p:cNvSpPr txBox="1"/>
            <p:nvPr/>
          </p:nvSpPr>
          <p:spPr>
            <a:xfrm>
              <a:off x="450342" y="5855018"/>
              <a:ext cx="592925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田间无故障标签时，仅报告正常运行适应性；数量/时长提交前核对资源。</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2112264"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拟定进度与预算｜非采购报价</a:t>
            </a:r>
          </a:p>
        </p:txBody>
      </p:sp>
      <p:grpSp>
        <p:nvGrpSpPr>
          <p:cNvPr id="4" name="page-title"/>
          <p:cNvGrpSpPr/>
          <p:nvPr/>
        </p:nvGrpSpPr>
        <p:grpSpPr>
          <a:xfrm>
            <a:off x="441198" y="812483"/>
            <a:ext cx="6053557" cy="616077"/>
            <a:chOff x="441198" y="812483"/>
            <a:chExt cx="6053557" cy="616077"/>
          </a:xfrm>
        </p:grpSpPr>
        <p:sp>
          <p:nvSpPr>
            <p:cNvPr id="3" name="TextBox 3"/>
            <p:cNvSpPr txBox="1"/>
            <p:nvPr/>
          </p:nvSpPr>
          <p:spPr>
            <a:xfrm>
              <a:off x="441198" y="812483"/>
              <a:ext cx="605355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一年有阶段门槛，2000元先启动</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预算为启动额度估算，非采购报价；进度与性能承诺须正式申报前经导师和资源核对。</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nvGrpSpPr>
          <p:cNvPr id="20" name="project-schedule"/>
          <p:cNvGrpSpPr/>
          <p:nvPr/>
        </p:nvGrpSpPr>
        <p:grpSpPr>
          <a:xfrm>
            <a:off x="448056" y="1805940"/>
            <a:ext cx="7162419" cy="2708910"/>
            <a:chOff x="448056" y="1805940"/>
            <a:chExt cx="7162419" cy="2708910"/>
          </a:xfrm>
        </p:grpSpPr>
        <p:sp>
          <p:nvSpPr>
            <p:cNvPr id="8" name="TextBox 8"/>
            <p:cNvSpPr txBox="1"/>
            <p:nvPr/>
          </p:nvSpPr>
          <p:spPr>
            <a:xfrm>
              <a:off x="448056" y="1805940"/>
              <a:ext cx="141766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2027.03—04</a:t>
              </a:r>
            </a:p>
          </p:txBody>
        </p:sp>
        <p:sp>
          <p:nvSpPr>
            <p:cNvPr id="9" name="TextBox 9"/>
            <p:cNvSpPr txBox="1"/>
            <p:nvPr/>
          </p:nvSpPr>
          <p:spPr>
            <a:xfrm>
              <a:off x="3248406" y="1805940"/>
              <a:ext cx="299877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标定 / 有线采集 / 可观测性</a:t>
              </a:r>
            </a:p>
          </p:txBody>
        </p:sp>
        <p:sp>
          <p:nvSpPr>
            <p:cNvPr id="10" name="Line 10"/>
            <p:cNvSpPr/>
            <p:nvPr/>
          </p:nvSpPr>
          <p:spPr>
            <a:xfrm>
              <a:off x="457200" y="2219325"/>
              <a:ext cx="7153275" cy="9525"/>
            </a:xfrm>
            <a:custGeom>
              <a:avLst/>
              <a:gdLst/>
              <a:ahLst/>
              <a:cxnLst/>
              <a:rect l="l" t="t" r="r" b="b"/>
              <a:pathLst>
                <a:path w="7153275" h="9525">
                  <a:moveTo>
                    <a:pt x="0" y="0"/>
                  </a:moveTo>
                  <a:lnTo>
                    <a:pt x="7153275" y="0"/>
                  </a:lnTo>
                </a:path>
              </a:pathLst>
            </a:custGeom>
            <a:noFill/>
            <a:ln w="9525">
              <a:solidFill>
                <a:schemeClr val="accent6"/>
              </a:solidFill>
            </a:ln>
          </p:spPr>
        </p:sp>
        <p:sp>
          <p:nvSpPr>
            <p:cNvPr id="11" name="TextBox 11"/>
            <p:cNvSpPr txBox="1"/>
            <p:nvPr/>
          </p:nvSpPr>
          <p:spPr>
            <a:xfrm>
              <a:off x="448056" y="2567940"/>
              <a:ext cx="141766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2027.05—08</a:t>
              </a:r>
            </a:p>
          </p:txBody>
        </p:sp>
        <p:sp>
          <p:nvSpPr>
            <p:cNvPr id="12" name="TextBox 12"/>
            <p:cNvSpPr txBox="1"/>
            <p:nvPr/>
          </p:nvSpPr>
          <p:spPr>
            <a:xfrm>
              <a:off x="3248406" y="2567940"/>
              <a:ext cx="355484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独立台架 / 可靠LoRa / 整机测量</a:t>
              </a:r>
            </a:p>
          </p:txBody>
        </p:sp>
        <p:sp>
          <p:nvSpPr>
            <p:cNvPr id="13" name="Line 13"/>
            <p:cNvSpPr/>
            <p:nvPr/>
          </p:nvSpPr>
          <p:spPr>
            <a:xfrm>
              <a:off x="457200" y="2981325"/>
              <a:ext cx="7153275" cy="9525"/>
            </a:xfrm>
            <a:custGeom>
              <a:avLst/>
              <a:gdLst/>
              <a:ahLst/>
              <a:cxnLst/>
              <a:rect l="l" t="t" r="r" b="b"/>
              <a:pathLst>
                <a:path w="7153275" h="9525">
                  <a:moveTo>
                    <a:pt x="0" y="0"/>
                  </a:moveTo>
                  <a:lnTo>
                    <a:pt x="7153275" y="0"/>
                  </a:lnTo>
                </a:path>
              </a:pathLst>
            </a:custGeom>
            <a:noFill/>
            <a:ln w="9525">
              <a:solidFill>
                <a:schemeClr val="accent6"/>
              </a:solidFill>
            </a:ln>
          </p:spPr>
        </p:sp>
        <p:sp>
          <p:nvSpPr>
            <p:cNvPr id="14" name="TextBox 14"/>
            <p:cNvSpPr txBox="1"/>
            <p:nvPr/>
          </p:nvSpPr>
          <p:spPr>
            <a:xfrm>
              <a:off x="448056" y="3329940"/>
              <a:ext cx="141766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2027.09—10</a:t>
              </a:r>
            </a:p>
          </p:txBody>
        </p:sp>
        <p:sp>
          <p:nvSpPr>
            <p:cNvPr id="15" name="TextBox 15"/>
            <p:cNvSpPr txBox="1"/>
            <p:nvPr/>
          </p:nvSpPr>
          <p:spPr>
            <a:xfrm>
              <a:off x="3248406" y="3329940"/>
              <a:ext cx="34834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跨条件 / 消融 / 论文成稿与投稿</a:t>
              </a:r>
            </a:p>
          </p:txBody>
        </p:sp>
        <p:sp>
          <p:nvSpPr>
            <p:cNvPr id="16" name="Line 16"/>
            <p:cNvSpPr/>
            <p:nvPr/>
          </p:nvSpPr>
          <p:spPr>
            <a:xfrm>
              <a:off x="457200" y="3743325"/>
              <a:ext cx="7153275" cy="9525"/>
            </a:xfrm>
            <a:custGeom>
              <a:avLst/>
              <a:gdLst/>
              <a:ahLst/>
              <a:cxnLst/>
              <a:rect l="l" t="t" r="r" b="b"/>
              <a:pathLst>
                <a:path w="7153275" h="9525">
                  <a:moveTo>
                    <a:pt x="0" y="0"/>
                  </a:moveTo>
                  <a:lnTo>
                    <a:pt x="7153275" y="0"/>
                  </a:lnTo>
                </a:path>
              </a:pathLst>
            </a:custGeom>
            <a:noFill/>
            <a:ln w="9525">
              <a:solidFill>
                <a:schemeClr val="accent6"/>
              </a:solidFill>
            </a:ln>
          </p:spPr>
        </p:sp>
        <p:sp>
          <p:nvSpPr>
            <p:cNvPr id="17" name="TextBox 17"/>
            <p:cNvSpPr txBox="1"/>
            <p:nvPr/>
          </p:nvSpPr>
          <p:spPr>
            <a:xfrm>
              <a:off x="448056" y="4091940"/>
              <a:ext cx="211735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2027.11—2028.02</a:t>
              </a:r>
            </a:p>
          </p:txBody>
        </p:sp>
        <p:sp>
          <p:nvSpPr>
            <p:cNvPr id="18" name="TextBox 18"/>
            <p:cNvSpPr txBox="1"/>
            <p:nvPr/>
          </p:nvSpPr>
          <p:spPr>
            <a:xfrm>
              <a:off x="3248406" y="4091940"/>
              <a:ext cx="299877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补实验 / 原型与报告 / 结项</a:t>
              </a:r>
            </a:p>
          </p:txBody>
        </p:sp>
        <p:sp>
          <p:nvSpPr>
            <p:cNvPr id="19" name="Line 19"/>
            <p:cNvSpPr/>
            <p:nvPr/>
          </p:nvSpPr>
          <p:spPr>
            <a:xfrm>
              <a:off x="457200" y="4505325"/>
              <a:ext cx="7153275" cy="9525"/>
            </a:xfrm>
            <a:custGeom>
              <a:avLst/>
              <a:gdLst/>
              <a:ahLst/>
              <a:cxnLst/>
              <a:rect l="l" t="t" r="r" b="b"/>
              <a:pathLst>
                <a:path w="7153275" h="9525">
                  <a:moveTo>
                    <a:pt x="0" y="0"/>
                  </a:moveTo>
                  <a:lnTo>
                    <a:pt x="7153275" y="0"/>
                  </a:lnTo>
                </a:path>
              </a:pathLst>
            </a:custGeom>
            <a:noFill/>
            <a:ln w="9525">
              <a:solidFill>
                <a:schemeClr val="accent6"/>
              </a:solidFill>
            </a:ln>
          </p:spPr>
        </p:sp>
      </p:grpSp>
      <p:grpSp>
        <p:nvGrpSpPr>
          <p:cNvPr id="26" name="startup-budget"/>
          <p:cNvGrpSpPr/>
          <p:nvPr/>
        </p:nvGrpSpPr>
        <p:grpSpPr>
          <a:xfrm>
            <a:off x="7943850" y="1666875"/>
            <a:ext cx="3790950" cy="4362450"/>
            <a:chOff x="7943850" y="1666875"/>
            <a:chExt cx="3790950" cy="4362450"/>
          </a:xfrm>
        </p:grpSpPr>
        <p:sp>
          <p:nvSpPr>
            <p:cNvPr id="21" name="Rectangle 21"/>
            <p:cNvSpPr/>
            <p:nvPr/>
          </p:nvSpPr>
          <p:spPr>
            <a:xfrm>
              <a:off x="7943850" y="1666875"/>
              <a:ext cx="3790950" cy="4362450"/>
            </a:xfrm>
            <a:prstGeom prst="rect">
              <a:avLst/>
            </a:prstGeom>
            <a:solidFill>
              <a:schemeClr val="lt2"/>
            </a:solidFill>
            <a:ln>
              <a:noFill/>
            </a:ln>
          </p:spPr>
        </p:sp>
        <p:sp>
          <p:nvSpPr>
            <p:cNvPr id="22" name="TextBox 22"/>
            <p:cNvSpPr txBox="1"/>
            <p:nvPr/>
          </p:nvSpPr>
          <p:spPr>
            <a:xfrm>
              <a:off x="8190357" y="2021205"/>
              <a:ext cx="171754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启动额度估算</a:t>
              </a:r>
            </a:p>
          </p:txBody>
        </p:sp>
        <p:sp>
          <p:nvSpPr>
            <p:cNvPr id="23" name="TextBox 23"/>
            <p:cNvSpPr txBox="1"/>
            <p:nvPr/>
          </p:nvSpPr>
          <p:spPr>
            <a:xfrm>
              <a:off x="8181975" y="2581275"/>
              <a:ext cx="1787319" cy="876300"/>
            </a:xfrm>
            <a:prstGeom prst="rect">
              <a:avLst/>
            </a:prstGeom>
            <a:noFill/>
            <a:ln>
              <a:noFill/>
            </a:ln>
          </p:spPr>
          <p:txBody>
            <a:bodyPr wrap="none" lIns="0" tIns="0" rIns="0" bIns="0" anchor="t" anchorCtr="0">
              <a:spAutoFit/>
            </a:bodyPr>
            <a:lstStyle/>
            <a:p>
              <a:pPr algn="l"/>
              <a:r>
                <a:rPr lang="zh-CN" sz="4500" b="1" dirty="0">
                  <a:solidFill>
                    <a:schemeClr val="accent1"/>
                  </a:solidFill>
                  <a:latin typeface="+mn-lt"/>
                  <a:ea typeface="+mn-ea"/>
                  <a:cs typeface="+mn-cs"/>
                </a:rPr>
                <a:t>¥2000</a:t>
              </a:r>
            </a:p>
          </p:txBody>
        </p:sp>
        <p:sp>
          <p:nvSpPr>
            <p:cNvPr id="24" name="TextBox 24"/>
            <p:cNvSpPr txBox="1"/>
            <p:nvPr/>
          </p:nvSpPr>
          <p:spPr>
            <a:xfrm>
              <a:off x="8191881" y="3434715"/>
              <a:ext cx="2372868" cy="1056894"/>
            </a:xfrm>
            <a:prstGeom prst="rect">
              <a:avLst/>
            </a:prstGeom>
            <a:noFill/>
            <a:ln>
              <a:noFill/>
            </a:ln>
          </p:spPr>
          <p:txBody>
            <a:bodyPr wrap="none" lIns="0" tIns="0" rIns="0" bIns="0" anchor="t" anchorCtr="0">
              <a:spAutoFit/>
            </a:bodyPr>
            <a:lstStyle/>
            <a:p>
              <a:pPr algn="l">
                <a:lnSpc>
                  <a:spcPts val="2775"/>
                </a:lnSpc>
              </a:pPr>
              <a:r>
                <a:rPr lang="zh-CN" sz="1800" dirty="0">
                  <a:solidFill>
                    <a:schemeClr val="dk1"/>
                  </a:solidFill>
                  <a:latin typeface="+mn-lt"/>
                  <a:ea typeface="+mn-ea"/>
                  <a:cs typeface="+mn-cs"/>
                </a:rPr>
                <a:t>电子无线260；传感450</a:t>
              </a:r>
              <a:br/>
              <a:r>
                <a:rPr lang="zh-CN" sz="1800" dirty="0">
                  <a:solidFill>
                    <a:schemeClr val="dk1"/>
                  </a:solidFill>
                  <a:latin typeface="+mn-lt"/>
                  <a:ea typeface="+mn-ea"/>
                  <a:cs typeface="+mn-cs"/>
                </a:rPr>
                <a:t>水路500；供电外壳250</a:t>
              </a:r>
              <a:br/>
              <a:r>
                <a:rPr lang="zh-CN" sz="1800" dirty="0">
                  <a:solidFill>
                    <a:schemeClr val="dk1"/>
                  </a:solidFill>
                  <a:latin typeface="+mn-lt"/>
                  <a:ea typeface="+mn-ea"/>
                  <a:cs typeface="+mn-cs"/>
                </a:rPr>
                <a:t>记录耗材160；返工380</a:t>
              </a:r>
            </a:p>
          </p:txBody>
        </p:sp>
        <p:sp>
          <p:nvSpPr>
            <p:cNvPr id="25" name="TextBox 25"/>
            <p:cNvSpPr txBox="1"/>
            <p:nvPr/>
          </p:nvSpPr>
          <p:spPr>
            <a:xfrm>
              <a:off x="8194167" y="5178742"/>
              <a:ext cx="29283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需借参考仪器；资助后优先扩展实验，</a:t>
              </a:r>
              <a:br/>
              <a:r>
                <a:rPr lang="zh-CN" sz="1350" dirty="0">
                  <a:solidFill>
                    <a:schemeClr val="accent5"/>
                  </a:solidFill>
                  <a:latin typeface="+mn-lt"/>
                  <a:ea typeface="+mn-ea"/>
                  <a:cs typeface="+mn-cs"/>
                </a:rPr>
                <a:t>论文费用另核查。</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466088"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预期成果与立项目标</a:t>
            </a:r>
          </a:p>
        </p:txBody>
      </p:sp>
      <p:grpSp>
        <p:nvGrpSpPr>
          <p:cNvPr id="4" name="page-title"/>
          <p:cNvGrpSpPr/>
          <p:nvPr/>
        </p:nvGrpSpPr>
        <p:grpSpPr>
          <a:xfrm>
            <a:off x="441198" y="812483"/>
            <a:ext cx="7240905" cy="616077"/>
            <a:chOff x="441198" y="812483"/>
            <a:chExt cx="7240905" cy="616077"/>
          </a:xfrm>
        </p:grpSpPr>
        <p:sp>
          <p:nvSpPr>
            <p:cNvPr id="3" name="TextBox 3"/>
            <p:cNvSpPr txBox="1"/>
            <p:nvPr/>
          </p:nvSpPr>
          <p:spPr>
            <a:xfrm>
              <a:off x="441198" y="812483"/>
              <a:ext cx="724090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用系统成果结项，用研究证据支撑论文</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nvGrpSpPr>
          <p:cNvPr id="15" name="project-deliverables"/>
          <p:cNvGrpSpPr/>
          <p:nvPr/>
        </p:nvGrpSpPr>
        <p:grpSpPr>
          <a:xfrm>
            <a:off x="445770" y="1966912"/>
            <a:ext cx="11289030" cy="3986213"/>
            <a:chOff x="445770" y="1966912"/>
            <a:chExt cx="11289030" cy="3986213"/>
          </a:xfrm>
        </p:grpSpPr>
        <p:sp>
          <p:nvSpPr>
            <p:cNvPr id="8" name="TextBox 8"/>
            <p:cNvSpPr txBox="1"/>
            <p:nvPr/>
          </p:nvSpPr>
          <p:spPr>
            <a:xfrm>
              <a:off x="445770" y="1966912"/>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系统交付</a:t>
              </a:r>
            </a:p>
          </p:txBody>
        </p:sp>
        <p:sp>
          <p:nvSpPr>
            <p:cNvPr id="9" name="TextBox 9"/>
            <p:cNvSpPr txBox="1"/>
            <p:nvPr/>
          </p:nvSpPr>
          <p:spPr>
            <a:xfrm>
              <a:off x="446532" y="2497455"/>
              <a:ext cx="424773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1节点 + 1接收端 + 1套双支路台架</a:t>
              </a:r>
            </a:p>
          </p:txBody>
        </p:sp>
        <p:sp>
          <p:nvSpPr>
            <p:cNvPr id="10" name="TextBox 10"/>
            <p:cNvSpPr txBox="1"/>
            <p:nvPr/>
          </p:nvSpPr>
          <p:spPr>
            <a:xfrm>
              <a:off x="445770" y="3281362"/>
              <a:ext cx="123444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研究证据</a:t>
              </a:r>
            </a:p>
          </p:txBody>
        </p:sp>
        <p:sp>
          <p:nvSpPr>
            <p:cNvPr id="11" name="TextBox 11"/>
            <p:cNvSpPr txBox="1"/>
            <p:nvPr/>
          </p:nvSpPr>
          <p:spPr>
            <a:xfrm>
              <a:off x="446532" y="3802380"/>
              <a:ext cx="73998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标定/标签数据、检测/通信对照、复现软件、报告与论文稿</a:t>
              </a:r>
            </a:p>
          </p:txBody>
        </p:sp>
        <p:sp>
          <p:nvSpPr>
            <p:cNvPr id="12" name="Rectangle 12"/>
            <p:cNvSpPr/>
            <p:nvPr/>
          </p:nvSpPr>
          <p:spPr>
            <a:xfrm>
              <a:off x="457200" y="4981575"/>
              <a:ext cx="11277600" cy="971550"/>
            </a:xfrm>
            <a:prstGeom prst="rect">
              <a:avLst/>
            </a:prstGeom>
            <a:solidFill>
              <a:schemeClr val="accent1"/>
            </a:solidFill>
            <a:ln>
              <a:noFill/>
            </a:ln>
          </p:spPr>
        </p:sp>
        <p:sp>
          <p:nvSpPr>
            <p:cNvPr id="13" name="TextBox 13"/>
            <p:cNvSpPr txBox="1"/>
            <p:nvPr/>
          </p:nvSpPr>
          <p:spPr>
            <a:xfrm>
              <a:off x="703707" y="5173980"/>
              <a:ext cx="652348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争取国家级：以问题、增量、证据与真实条件支撑。</a:t>
              </a:r>
            </a:p>
          </p:txBody>
        </p:sp>
        <p:sp>
          <p:nvSpPr>
            <p:cNvPr id="14" name="TextBox 14"/>
            <p:cNvSpPr txBox="1"/>
            <p:nvPr/>
          </p:nvSpPr>
          <p:spPr>
            <a:xfrm>
              <a:off x="705231" y="5558790"/>
              <a:ext cx="46222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已有成果据实陈述；研究目标以实验兑现。</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304544"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模型反例｜非实测</a:t>
            </a:r>
          </a:p>
        </p:txBody>
      </p:sp>
      <p:grpSp>
        <p:nvGrpSpPr>
          <p:cNvPr id="4" name="page-title"/>
          <p:cNvGrpSpPr/>
          <p:nvPr/>
        </p:nvGrpSpPr>
        <p:grpSpPr>
          <a:xfrm>
            <a:off x="441198" y="812483"/>
            <a:ext cx="6392799" cy="616077"/>
            <a:chOff x="441198" y="812483"/>
            <a:chExt cx="6392799" cy="616077"/>
          </a:xfrm>
        </p:grpSpPr>
        <p:sp>
          <p:nvSpPr>
            <p:cNvPr id="3" name="TextBox 3"/>
            <p:cNvSpPr txBox="1"/>
            <p:nvPr/>
          </p:nvSpPr>
          <p:spPr>
            <a:xfrm>
              <a:off x="441198" y="812483"/>
              <a:ext cx="639279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备用｜单测点不等于故障原因诊断</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5547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来源：audit_results/audit.json 的结构性反例；参数化等效模型，不代表每条实际管路。</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nvGrpSpPr>
          <p:cNvPr id="13" name="observability-boundary"/>
          <p:cNvGrpSpPr/>
          <p:nvPr/>
        </p:nvGrpSpPr>
        <p:grpSpPr>
          <a:xfrm>
            <a:off x="441198" y="2088832"/>
            <a:ext cx="7405192" cy="3829241"/>
            <a:chOff x="441198" y="2088832"/>
            <a:chExt cx="7405192" cy="3829241"/>
          </a:xfrm>
        </p:grpSpPr>
        <p:sp>
          <p:nvSpPr>
            <p:cNvPr id="8" name="TextBox 8"/>
            <p:cNvSpPr txBox="1"/>
            <p:nvPr/>
          </p:nvSpPr>
          <p:spPr>
            <a:xfrm>
              <a:off x="441198" y="2088832"/>
              <a:ext cx="6095962" cy="616077"/>
            </a:xfrm>
            <a:prstGeom prst="rect">
              <a:avLst/>
            </a:prstGeom>
            <a:noFill/>
            <a:ln>
              <a:noFill/>
            </a:ln>
          </p:spPr>
          <p:txBody>
            <a:bodyPr wrap="none" lIns="0" tIns="0" rIns="0" bIns="0" anchor="t" anchorCtr="0">
              <a:spAutoFit/>
            </a:bodyPr>
            <a:lstStyle/>
            <a:p>
              <a:pPr algn="l"/>
              <a:r>
                <a:rPr lang="zh-CN" sz="3150" dirty="0">
                  <a:solidFill>
                    <a:schemeClr val="accent2"/>
                  </a:solidFill>
                  <a:latin typeface="+mj-lt"/>
                  <a:ea typeface="+mj-ea"/>
                  <a:cs typeface="+mj-cs"/>
                </a:rPr>
                <a:t>相同压力 / 流量 ≠ 相同故障原因</a:t>
              </a:r>
            </a:p>
          </p:txBody>
        </p:sp>
        <p:sp>
          <p:nvSpPr>
            <p:cNvPr id="9" name="TextBox 9"/>
            <p:cNvSpPr txBox="1"/>
            <p:nvPr/>
          </p:nvSpPr>
          <p:spPr>
            <a:xfrm>
              <a:off x="446532" y="296418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上游节流与供压下降可映射到相同测点观测。</a:t>
              </a:r>
            </a:p>
          </p:txBody>
        </p:sp>
        <p:sp>
          <p:nvSpPr>
            <p:cNvPr id="10" name="TextBox 10"/>
            <p:cNvSpPr txBox="1"/>
            <p:nvPr/>
          </p:nvSpPr>
          <p:spPr>
            <a:xfrm>
              <a:off x="446532" y="3754755"/>
              <a:ext cx="73998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主要输出“异常、建议检查”；分类仅限有独立证据的工况。</a:t>
              </a:r>
            </a:p>
          </p:txBody>
        </p:sp>
        <p:sp>
          <p:nvSpPr>
            <p:cNvPr id="11" name="TextBox 11"/>
            <p:cNvSpPr txBox="1"/>
            <p:nvPr/>
          </p:nvSpPr>
          <p:spPr>
            <a:xfrm>
              <a:off x="448056" y="4606290"/>
              <a:ext cx="514624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共同阻力为零时，B支路切换也可不影响A测点。</a:t>
              </a:r>
            </a:p>
          </p:txBody>
        </p:sp>
        <p:sp>
          <p:nvSpPr>
            <p:cNvPr id="12" name="TextBox 12"/>
            <p:cNvSpPr txBox="1"/>
            <p:nvPr/>
          </p:nvSpPr>
          <p:spPr>
            <a:xfrm>
              <a:off x="446532" y="550735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成立条件：信号可观测、参考可标定、操作可重复。</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658368"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成果路线</a:t>
            </a:r>
          </a:p>
        </p:txBody>
      </p:sp>
      <p:grpSp>
        <p:nvGrpSpPr>
          <p:cNvPr id="4" name="page-title"/>
          <p:cNvGrpSpPr/>
          <p:nvPr/>
        </p:nvGrpSpPr>
        <p:grpSpPr>
          <a:xfrm>
            <a:off x="441198" y="812483"/>
            <a:ext cx="5968746" cy="616077"/>
            <a:chOff x="441198" y="812483"/>
            <a:chExt cx="5968746" cy="616077"/>
          </a:xfrm>
        </p:grpSpPr>
        <p:sp>
          <p:nvSpPr>
            <p:cNvPr id="3" name="TextBox 3"/>
            <p:cNvSpPr txBox="1"/>
            <p:nvPr/>
          </p:nvSpPr>
          <p:spPr>
            <a:xfrm>
              <a:off x="441198" y="812483"/>
              <a:ext cx="596874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备用｜三个阶段有不同完成标准</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1508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研究计划：实物、真实无线和田间证据尚未完成；所有指标及扩展按正式任务书冻结。</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nvGrpSpPr>
          <p:cNvPr id="18" name="three-phase-contract"/>
          <p:cNvGrpSpPr/>
          <p:nvPr/>
        </p:nvGrpSpPr>
        <p:grpSpPr>
          <a:xfrm>
            <a:off x="445770" y="1985962"/>
            <a:ext cx="11289030" cy="4020122"/>
            <a:chOff x="445770" y="1985962"/>
            <a:chExt cx="11289030" cy="4020122"/>
          </a:xfrm>
        </p:grpSpPr>
        <p:sp>
          <p:nvSpPr>
            <p:cNvPr id="8" name="TextBox 8"/>
            <p:cNvSpPr txBox="1"/>
            <p:nvPr/>
          </p:nvSpPr>
          <p:spPr>
            <a:xfrm>
              <a:off x="445770" y="1985962"/>
              <a:ext cx="62865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申报</a:t>
              </a:r>
            </a:p>
          </p:txBody>
        </p:sp>
        <p:sp>
          <p:nvSpPr>
            <p:cNvPr id="9" name="TextBox 9"/>
            <p:cNvSpPr txBox="1"/>
            <p:nvPr/>
          </p:nvSpPr>
          <p:spPr>
            <a:xfrm>
              <a:off x="2286381" y="2034540"/>
              <a:ext cx="482826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模型论证 + 三工作包 + 可执行实验/资源计划</a:t>
              </a:r>
            </a:p>
          </p:txBody>
        </p:sp>
        <p:sp>
          <p:nvSpPr>
            <p:cNvPr id="10" name="Line 10"/>
            <p:cNvSpPr/>
            <p:nvPr/>
          </p:nvSpPr>
          <p:spPr>
            <a:xfrm>
              <a:off x="2295525" y="2552700"/>
              <a:ext cx="9439275" cy="9525"/>
            </a:xfrm>
            <a:custGeom>
              <a:avLst/>
              <a:gdLst/>
              <a:ahLst/>
              <a:cxnLst/>
              <a:rect l="l" t="t" r="r" b="b"/>
              <a:pathLst>
                <a:path w="9439275" h="9525">
                  <a:moveTo>
                    <a:pt x="0" y="0"/>
                  </a:moveTo>
                  <a:lnTo>
                    <a:pt x="9439275" y="0"/>
                  </a:lnTo>
                </a:path>
              </a:pathLst>
            </a:custGeom>
            <a:noFill/>
            <a:ln w="9525">
              <a:solidFill>
                <a:schemeClr val="accent6"/>
              </a:solidFill>
            </a:ln>
          </p:spPr>
        </p:sp>
        <p:sp>
          <p:nvSpPr>
            <p:cNvPr id="11" name="TextBox 11"/>
            <p:cNvSpPr txBox="1"/>
            <p:nvPr/>
          </p:nvSpPr>
          <p:spPr>
            <a:xfrm>
              <a:off x="445770" y="3100388"/>
              <a:ext cx="62865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结项</a:t>
              </a:r>
            </a:p>
          </p:txBody>
        </p:sp>
        <p:sp>
          <p:nvSpPr>
            <p:cNvPr id="12" name="TextBox 12"/>
            <p:cNvSpPr txBox="1"/>
            <p:nvPr/>
          </p:nvSpPr>
          <p:spPr>
            <a:xfrm>
              <a:off x="2286381" y="3148965"/>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系统 + 独立实测 + 方法对照 + 报告/过程</a:t>
              </a:r>
            </a:p>
          </p:txBody>
        </p:sp>
        <p:sp>
          <p:nvSpPr>
            <p:cNvPr id="13" name="Line 13"/>
            <p:cNvSpPr/>
            <p:nvPr/>
          </p:nvSpPr>
          <p:spPr>
            <a:xfrm>
              <a:off x="2295525" y="3667125"/>
              <a:ext cx="9439275" cy="9525"/>
            </a:xfrm>
            <a:custGeom>
              <a:avLst/>
              <a:gdLst/>
              <a:ahLst/>
              <a:cxnLst/>
              <a:rect l="l" t="t" r="r" b="b"/>
              <a:pathLst>
                <a:path w="9439275" h="9525">
                  <a:moveTo>
                    <a:pt x="0" y="0"/>
                  </a:moveTo>
                  <a:lnTo>
                    <a:pt x="9439275" y="0"/>
                  </a:lnTo>
                </a:path>
              </a:pathLst>
            </a:custGeom>
            <a:noFill/>
            <a:ln w="9525">
              <a:solidFill>
                <a:schemeClr val="accent6"/>
              </a:solidFill>
            </a:ln>
          </p:spPr>
        </p:sp>
        <p:sp>
          <p:nvSpPr>
            <p:cNvPr id="14" name="TextBox 14"/>
            <p:cNvSpPr txBox="1"/>
            <p:nvPr/>
          </p:nvSpPr>
          <p:spPr>
            <a:xfrm>
              <a:off x="445770" y="4214812"/>
              <a:ext cx="62865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论文</a:t>
              </a:r>
            </a:p>
          </p:txBody>
        </p:sp>
        <p:sp>
          <p:nvSpPr>
            <p:cNvPr id="15" name="TextBox 15"/>
            <p:cNvSpPr txBox="1"/>
            <p:nvPr/>
          </p:nvSpPr>
          <p:spPr>
            <a:xfrm>
              <a:off x="2286381" y="4263390"/>
              <a:ext cx="49736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一个主问题 + 真实数据 + 强基线 + 可复现贡献</a:t>
              </a:r>
            </a:p>
          </p:txBody>
        </p:sp>
        <p:sp>
          <p:nvSpPr>
            <p:cNvPr id="16" name="Line 16"/>
            <p:cNvSpPr/>
            <p:nvPr/>
          </p:nvSpPr>
          <p:spPr>
            <a:xfrm>
              <a:off x="2295525" y="4781550"/>
              <a:ext cx="9439275" cy="9525"/>
            </a:xfrm>
            <a:custGeom>
              <a:avLst/>
              <a:gdLst/>
              <a:ahLst/>
              <a:cxnLst/>
              <a:rect l="l" t="t" r="r" b="b"/>
              <a:pathLst>
                <a:path w="9439275" h="9525">
                  <a:moveTo>
                    <a:pt x="0" y="0"/>
                  </a:moveTo>
                  <a:lnTo>
                    <a:pt x="9439275" y="0"/>
                  </a:lnTo>
                </a:path>
              </a:pathLst>
            </a:custGeom>
            <a:noFill/>
            <a:ln w="9525">
              <a:solidFill>
                <a:schemeClr val="accent6"/>
              </a:solidFill>
            </a:ln>
          </p:spPr>
        </p:sp>
        <p:sp>
          <p:nvSpPr>
            <p:cNvPr id="17" name="TextBox 17"/>
            <p:cNvSpPr txBox="1"/>
            <p:nvPr/>
          </p:nvSpPr>
          <p:spPr>
            <a:xfrm>
              <a:off x="448056" y="5654040"/>
              <a:ext cx="7287768"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优先论文主线：可靠告警约束下的通信取舍；增量不足时据实调整。</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age-kicker"/>
          <p:cNvSpPr txBox="1"/>
          <p:nvPr/>
        </p:nvSpPr>
        <p:spPr>
          <a:xfrm>
            <a:off x="451104" y="289560"/>
            <a:ext cx="1466088"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mn-lt"/>
                <a:ea typeface="+mn-ea"/>
                <a:cs typeface="+mn-cs"/>
              </a:rPr>
              <a:t>公开文献与本地复现</a:t>
            </a:r>
          </a:p>
        </p:txBody>
      </p:sp>
      <p:grpSp>
        <p:nvGrpSpPr>
          <p:cNvPr id="4" name="page-title"/>
          <p:cNvGrpSpPr/>
          <p:nvPr/>
        </p:nvGrpSpPr>
        <p:grpSpPr>
          <a:xfrm>
            <a:off x="441198" y="812483"/>
            <a:ext cx="4272534" cy="616077"/>
            <a:chOff x="441198" y="812483"/>
            <a:chExt cx="4272534" cy="616077"/>
          </a:xfrm>
        </p:grpSpPr>
        <p:sp>
          <p:nvSpPr>
            <p:cNvPr id="3" name="TextBox 3"/>
            <p:cNvSpPr txBox="1"/>
            <p:nvPr/>
          </p:nvSpPr>
          <p:spPr>
            <a:xfrm>
              <a:off x="441198" y="812483"/>
              <a:ext cx="427253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备用｜来源与证据索引</a:t>
              </a:r>
            </a:p>
          </p:txBody>
        </p:sp>
      </p:grpSp>
      <p:sp>
        <p:nvSpPr>
          <p:cNvPr id="5" name="Line 5"/>
          <p:cNvSpPr/>
          <p:nvPr/>
        </p:nvSpPr>
        <p:spPr>
          <a:xfrm>
            <a:off x="457200" y="140970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6" name="source-footer"/>
          <p:cNvSpPr txBox="1"/>
          <p:nvPr/>
        </p:nvSpPr>
        <p:spPr>
          <a:xfrm>
            <a:off x="451104" y="6376035"/>
            <a:ext cx="647395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学校公开通知作为参考；本批要求另核对。所有已有成果限文献、模型、程序与合成回放。</a:t>
            </a:r>
          </a:p>
        </p:txBody>
      </p:sp>
      <p:sp>
        <p:nvSpPr>
          <p:cNvPr id="7" name="page-number"/>
          <p:cNvSpPr txBox="1"/>
          <p:nvPr/>
        </p:nvSpPr>
        <p:spPr>
          <a:xfrm>
            <a:off x="11187532" y="2895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15</a:t>
            </a:r>
          </a:p>
        </p:txBody>
      </p:sp>
      <p:grpSp>
        <p:nvGrpSpPr>
          <p:cNvPr id="15" name="reference-register"/>
          <p:cNvGrpSpPr/>
          <p:nvPr/>
        </p:nvGrpSpPr>
        <p:grpSpPr>
          <a:xfrm>
            <a:off x="448056" y="1805940"/>
            <a:ext cx="7287768" cy="3723894"/>
            <a:chOff x="448056" y="1805940"/>
            <a:chExt cx="7287768" cy="3723894"/>
          </a:xfrm>
        </p:grpSpPr>
        <p:sp>
          <p:nvSpPr>
            <p:cNvPr id="8" name="TextBox 8"/>
            <p:cNvSpPr txBox="1"/>
            <p:nvPr/>
          </p:nvSpPr>
          <p:spPr>
            <a:xfrm>
              <a:off x="448056" y="1805940"/>
              <a:ext cx="62215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塔大实施细则：jwc.taru.edu.cn/info/1035/3872.htm</a:t>
              </a:r>
            </a:p>
          </p:txBody>
        </p:sp>
        <p:sp>
          <p:nvSpPr>
            <p:cNvPr id="9" name="TextBox 9"/>
            <p:cNvSpPr txBox="1"/>
            <p:nvPr/>
          </p:nvSpPr>
          <p:spPr>
            <a:xfrm>
              <a:off x="448056" y="2367915"/>
              <a:ext cx="62700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2026申报通知：jwc.taru.edu.cn/info/1052/4329.htm</a:t>
              </a:r>
            </a:p>
          </p:txBody>
        </p:sp>
        <p:sp>
          <p:nvSpPr>
            <p:cNvPr id="10" name="TextBox 10"/>
            <p:cNvSpPr txBox="1"/>
            <p:nvPr/>
          </p:nvSpPr>
          <p:spPr>
            <a:xfrm>
              <a:off x="448056" y="2929890"/>
              <a:ext cx="48161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堵塞综述｜10.1016/j.agwat.2022.107873</a:t>
              </a:r>
            </a:p>
          </p:txBody>
        </p:sp>
        <p:sp>
          <p:nvSpPr>
            <p:cNvPr id="11" name="TextBox 11"/>
            <p:cNvSpPr txBox="1"/>
            <p:nvPr/>
          </p:nvSpPr>
          <p:spPr>
            <a:xfrm>
              <a:off x="448056" y="3491865"/>
              <a:ext cx="38740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HydroNeuro｜10.3390/s26103010</a:t>
              </a:r>
            </a:p>
          </p:txBody>
        </p:sp>
        <p:sp>
          <p:nvSpPr>
            <p:cNvPr id="12" name="TextBox 12"/>
            <p:cNvSpPr txBox="1"/>
            <p:nvPr/>
          </p:nvSpPr>
          <p:spPr>
            <a:xfrm>
              <a:off x="448056" y="4053840"/>
              <a:ext cx="431939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灌溉模拟平台｜10.3390/land15030464</a:t>
              </a:r>
            </a:p>
          </p:txBody>
        </p:sp>
        <p:sp>
          <p:nvSpPr>
            <p:cNvPr id="13" name="TextBox 13"/>
            <p:cNvSpPr txBox="1"/>
            <p:nvPr/>
          </p:nvSpPr>
          <p:spPr>
            <a:xfrm>
              <a:off x="448056" y="4615815"/>
              <a:ext cx="72877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事件通信｜10.3390/s21165541；10.1016/j.ifacol.2025.11.761</a:t>
              </a:r>
            </a:p>
          </p:txBody>
        </p:sp>
        <p:sp>
          <p:nvSpPr>
            <p:cNvPr id="14" name="TextBox 14"/>
            <p:cNvSpPr txBox="1"/>
            <p:nvPr/>
          </p:nvSpPr>
          <p:spPr>
            <a:xfrm>
              <a:off x="448056" y="5177790"/>
              <a:ext cx="555772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本地证据：程序、JSON/CSV、审查报告与交互网站</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rip-research">
  <a:themeElements>
    <a:clrScheme name="drip-research">
      <a:dk1>
        <a:srgbClr val="20332F"/>
      </a:dk1>
      <a:lt1>
        <a:srgbClr val="FAF9F5"/>
      </a:lt1>
      <a:dk2>
        <a:srgbClr val="20332F"/>
      </a:dk2>
      <a:lt2>
        <a:srgbClr val="EEF3EF"/>
      </a:lt2>
      <a:accent1>
        <a:srgbClr val="164C45"/>
      </a:accent1>
      <a:accent2>
        <a:srgbClr val="B4512B"/>
      </a:accent2>
      <a:accent3>
        <a:srgbClr val="426B91"/>
      </a:accent3>
      <a:accent4>
        <a:srgbClr val="164C45"/>
      </a:accent4>
      <a:accent5>
        <a:srgbClr val="556762"/>
      </a:accent5>
      <a:accent6>
        <a:srgbClr val="C7D2CB"/>
      </a:accent6>
      <a:hlink>
        <a:srgbClr val="B4512B"/>
      </a:hlink>
      <a:folHlink>
        <a:srgbClr val="426B91"/>
      </a:folHlink>
    </a:clrScheme>
    <a:fontScheme name="drip-research">
      <a:majorFont>
        <a:latin typeface="Arial"/>
        <a:ea typeface="SimHei"/>
        <a:cs typeface="Arial"/>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ip-resear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rip-research">
  <a:themeElements>
    <a:clrScheme name="drip-research">
      <a:dk1>
        <a:srgbClr val="20332F"/>
      </a:dk1>
      <a:lt1>
        <a:srgbClr val="FAF9F5"/>
      </a:lt1>
      <a:dk2>
        <a:srgbClr val="20332F"/>
      </a:dk2>
      <a:lt2>
        <a:srgbClr val="EEF3EF"/>
      </a:lt2>
      <a:accent1>
        <a:srgbClr val="164C45"/>
      </a:accent1>
      <a:accent2>
        <a:srgbClr val="B4512B"/>
      </a:accent2>
      <a:accent3>
        <a:srgbClr val="426B91"/>
      </a:accent3>
      <a:accent4>
        <a:srgbClr val="164C45"/>
      </a:accent4>
      <a:accent5>
        <a:srgbClr val="556762"/>
      </a:accent5>
      <a:accent6>
        <a:srgbClr val="C7D2CB"/>
      </a:accent6>
      <a:hlink>
        <a:srgbClr val="B4512B"/>
      </a:hlink>
      <a:folHlink>
        <a:srgbClr val="426B91"/>
      </a:folHlink>
    </a:clrScheme>
    <a:fontScheme name="drip-research">
      <a:majorFont>
        <a:latin typeface="Arial"/>
        <a:ea typeface="SimHei"/>
        <a:cs typeface="Arial"/>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ip-resear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2026-10-02T06:25:07Z</dcterms:created>
  <dcterms:modified xsi:type="dcterms:W3CDTF">2026-10-02T06:25:07Z</dcterms:modified>
  <cp:category/>
  <cp:contentStatus/>
</cp:coreProperties>
</file>