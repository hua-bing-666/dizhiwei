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本次采用老师提出的题目，研究对象保持在滴灌支管，但交付扩大为感知、有限诊断、可靠告警和管理确认的一套原型系统。周期为二〇二七年三月至二〇二八年二月。当前已有的是文献、模型与程序，没有实物和田间实验。</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系统面向支管巡检，应告诉管理者监测支管是否需要检查、依据是什么、何时发现。主研究下游等效泄漏和支管等效受限，正常供压与切换作为对照，信息不足时输出待检查。南疆是拟部署场景，现场需求和适用性仍待调查。</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已有研究包括滴灌间接检测、阀态模型、LoRa试验平台和农业事件通信。本项目不能以这些技术名称当作创新。拟通过实验研究增加参考测点和工况信息带来多大增益、早期可观察到什么程度，以及可靠上报的代价。这些是候选研究问题而非已证明的贡献。</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四个工作包依次完成测量依据、诊断方法、可靠告警与系统验证。工作量涵盖模型、标定、嵌入式、协议、管理软件和独立实验，不只交付一个模块。每个任务都有对应证据，扩展节点和自动阀控不放进基础验收。</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P0位于监测区段入口，P1位于目标受限元件下游，Q包含下游负载和泄漏总流量。平方律假设下可以用归一化流量与压降流量比形成简单强基线，新增压力点有望改善供压与局部受限的歧义。差压偏置和未知正常负载仍会混淆，需要校准、状态记录和不确定输出。</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图示两类从三百六十秒开始渐进的模拟故障，十五个百分点的流量偏离是为了说明评价定义而设定的演示失效判据，不是作物受损阈值。早期必须参照该判据，报告正确提前发现、前期误报和未成功试次。正式水路需要独立参考测量冻结程度与失效标准，还要测本地和远端两段时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这里保留此前一千九百二十次单压力模型的公平通信回放，四策略使用相同检测、载荷与确认。慢周期有竞争力，噪声可使原始事件大量发送。帧数不能代替能耗，误差相对本地模拟量。新双压力诊断与这套通信证据尚未合并，因此端到端实物验证仍是研究任务。</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双压力假设检验包含六个场景、四种压力噪声和二十个种子，共四百八十次。在低噪声理想条件下能提前发现，但噪声为十千帕时两类均只有十二次满足无前期误报且正确提前发现。漂移和未知正常负载即使低噪声仍能误报。重复主要改变噪声，不能报告为实物识别率，也不证明优于强基线。</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软件是系统工作的一部分，提供设备档案、支管示意、趋势、事件证据、处理确认和回放导出。信息无法辨因、测量无效和节点离线分别处理，防止把没有数据当作正常。当前展示网页没有连接真实硬件，最终还要实现接收日志和管理状态持久化。</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实验首先校核两传感器差压误差与故障信号的关系，再做两类型、三供压、三程度和三个独立操作的主要网格，预计五十四次，正常及切换另做。参数在预实验确定，按独立日或批次测试，保留强基线和消融。随后测真实无线与整机能量，并进行八小时连续台架和掉电恢复。这里的数量都是计划，提交前需要导师核对。</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三四月解决测量门槛，五六月完成主要水路实验，七八月实现无线和管理系统，九十月独立验证与论文稿，之后补实验并结项。两千元是启动额度估算，已调整为双压力配置，前提是已有电脑并可借参考仪器。没有资源证据时不保证该预算足够，论文费用另行核查。</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交付包括一个双压力流量节点、接收端、台架和管理软件，还包含标定标签、对照、提前量及失败案例等研究证据，以及报告、过程记录和论文稿。按争取较高级别立项组织完整任务，但级别由评审决定。论文录用与收录不作为保证，更不能把计划成果写成已有成果。</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旧单点模型给出供压下降与受限相同观测的反例，新增入口压力只能有条件改善这类歧义，定位仍只到布置的支管区段。未知正常负载增大与等效泄漏在当前模型中同形，无法只靠复杂算法辨因，因此输出需要保留待检查和数据无效，不能声称单滴头通用早期诊断。</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申报需要完整模板、任务、证据和资源计划；大创需要实物系统、独立实测和过程；论文只从项目提炼一个贡献。现在优先研究渐进故障辨识边界，如果没有增量，可靠通信可作为另一个候选方向。两条方向均需要真实数据与强基线，不保证发表或推免认定。</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学校实施细则作为流程参考，最新批次须再核对。技术依据是综述、HydroNeuro、灌溉台架及事件通信研究。双压力模型有新增程序、协议和结果文件。案例的立项级别是用户提供的信息，文中全部性能没有由我们独立核实，不将其用于证明本项目有效。</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rip-research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zh-CN" smtClean="0"/>
              <a:t>1/27/13</a:t>
            </a:fld>
            <a:endParaRPr lang="zh-CN"/>
          </a:p>
        </p:txBody>
      </p:sp>
      <p:sp>
        <p:nvSpPr>
          <p:cNvPr id="3" name="Footer Placeholder 2"/>
          <p:cNvSpPr>
            <a:spLocks noGrp="1"/>
          </p:cNvSpPr>
          <p:nvPr>
            <p:ph type="ftr" sz="quarter" idx="11"/>
          </p:nvPr>
        </p:nvSpPr>
        <p:spPr/>
        <p:txBody>
          <a:bodyPr/>
          <a:lstStyle/>
          <a:p>
            <a:endParaRPr lang="zh-CN"/>
          </a:p>
        </p:txBody>
      </p:sp>
      <p:sp>
        <p:nvSpPr>
          <p:cNvPr id="4" name="Slide Number Placeholder 3"/>
          <p:cNvSpPr>
            <a:spLocks noGrp="1"/>
          </p:cNvSpPr>
          <p:nvPr>
            <p:ph type="sldNum" sz="quarter" idx="12"/>
          </p:nvPr>
        </p:nvSpPr>
        <p:spPr/>
        <p:txBody>
          <a:bodyPr/>
          <a:lstStyle/>
          <a:p>
            <a:fld id="{C1FF6DA9-008F-8B48-92A6-B652298478BF}" type="slidenum">
              <a:rPr lang="zh-CN" smtClean="0"/>
              <a:t>‹#›</a:t>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rip-research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zh-CN">
                <a:solidFill>
                  <a:schemeClr val="tx1">
                    <a:tint val="75000"/>
                  </a:schemeClr>
                </a:solidFill>
              </a:defRPr>
            </a:lvl1pPr>
          </a:lstStyle>
          <a:p>
            <a:fld id="{5BCAD085-E8A6-8845-BD4E-CB4CCA059FC4}" type="datetimeFigureOut">
              <a:rPr lang="zh-CN" smtClean="0"/>
              <a:t>1/27/13</a:t>
            </a:fld>
            <a:endParaRPr lang="zh-C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zh-CN">
                <a:solidFill>
                  <a:schemeClr val="tx1">
                    <a:tint val="75000"/>
                  </a:schemeClr>
                </a:solidFill>
              </a:defRPr>
            </a:lvl1pPr>
          </a:lstStyle>
          <a:p>
            <a:endParaRPr lang="zh-C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zh-CN">
                <a:solidFill>
                  <a:schemeClr val="tx1">
                    <a:tint val="75000"/>
                  </a:schemeClr>
                </a:solidFill>
              </a:defRPr>
            </a:lvl1pPr>
          </a:lstStyle>
          <a:p>
            <a:fld id="{C1FF6DA9-008F-8B48-92A6-B652298478BF}" type="slidenum">
              <a:rPr lang="zh-CN" smtClean="0"/>
              <a:t>‹#›</a:t>
            </a:fld>
            <a:endParaRPr lang="zh-C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150" kern="1200" lang="zh-C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zh-C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zh-C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zh-C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zh-C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zh-C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zh-C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zh-C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zh-C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zh-CN">
          <a:solidFill>
            <a:schemeClr val="tx1"/>
          </a:solidFill>
          <a:latin typeface="+mn-lt"/>
          <a:ea typeface="+mn-ea"/>
          <a:cs typeface="+mn-cs"/>
        </a:defRPr>
      </a:lvl9pPr>
    </p:bodyStyle>
    <p:other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700" kern="1200" lang="zh-CN">
          <a:solidFill>
            <a:schemeClr val="tx1"/>
          </a:solidFill>
          <a:latin typeface="+mn-lt"/>
          <a:ea typeface="+mn-ea"/>
          <a:cs typeface="+mn-cs"/>
        </a:defRPr>
      </a:lvl2pPr>
      <a:lvl3pPr marL="914400" algn="l" defTabSz="457200" rtl="0" eaLnBrk="1" latinLnBrk="0" hangingPunct="1">
        <a:defRPr sz="1600" kern="1200" lang="zh-CN">
          <a:solidFill>
            <a:schemeClr val="tx1"/>
          </a:solidFill>
          <a:latin typeface="+mn-lt"/>
          <a:ea typeface="+mn-ea"/>
          <a:cs typeface="+mn-cs"/>
        </a:defRPr>
      </a:lvl3pPr>
      <a:lvl4pPr marL="1371600" algn="l" defTabSz="457200" rtl="0" eaLnBrk="1" latinLnBrk="0" hangingPunct="1">
        <a:defRPr sz="1450" kern="1200" lang="zh-CN">
          <a:solidFill>
            <a:schemeClr val="tx1"/>
          </a:solidFill>
          <a:latin typeface="+mn-lt"/>
          <a:ea typeface="+mn-ea"/>
          <a:cs typeface="+mn-cs"/>
        </a:defRPr>
      </a:lvl4pPr>
      <a:lvl5pPr marL="1828800" algn="l" defTabSz="457200" rtl="0" eaLnBrk="1" latinLnBrk="0" hangingPunct="1">
        <a:defRPr sz="1350" kern="1200" lang="zh-CN">
          <a:solidFill>
            <a:schemeClr val="tx1"/>
          </a:solidFill>
          <a:latin typeface="+mn-lt"/>
          <a:ea typeface="+mn-ea"/>
          <a:cs typeface="+mn-cs"/>
        </a:defRPr>
      </a:lvl5pPr>
      <a:lvl6pPr marL="2286000" algn="l" defTabSz="457200" rtl="0" eaLnBrk="1" latinLnBrk="0" hangingPunct="1">
        <a:defRPr sz="1250" kern="1200" lang="zh-CN">
          <a:solidFill>
            <a:schemeClr val="tx1"/>
          </a:solidFill>
          <a:latin typeface="+mn-lt"/>
          <a:ea typeface="+mn-ea"/>
          <a:cs typeface="+mn-cs"/>
        </a:defRPr>
      </a:lvl6pPr>
      <a:lvl7pPr marL="2743200" algn="l" defTabSz="457200" rtl="0" eaLnBrk="1" latinLnBrk="0" hangingPunct="1">
        <a:defRPr sz="1100" kern="1200" lang="zh-CN">
          <a:solidFill>
            <a:schemeClr val="tx1"/>
          </a:solidFill>
          <a:latin typeface="+mn-lt"/>
          <a:ea typeface="+mn-ea"/>
          <a:cs typeface="+mn-cs"/>
        </a:defRPr>
      </a:lvl7pPr>
      <a:lvl8pPr marL="3200400" algn="l" defTabSz="457200" rtl="0" eaLnBrk="1" latinLnBrk="0" hangingPunct="1">
        <a:defRPr sz="1000" kern="1200" lang="zh-CN">
          <a:solidFill>
            <a:schemeClr val="tx1"/>
          </a:solidFill>
          <a:latin typeface="+mn-lt"/>
          <a:ea typeface="+mn-ea"/>
          <a:cs typeface="+mn-cs"/>
        </a:defRPr>
      </a:lvl8pPr>
      <a:lvl9pPr marL="3657600" algn="l" defTabSz="457200" rtl="0" eaLnBrk="1" latinLnBrk="0" hangingPunct="1">
        <a:defRPr sz="900" kern="1200" lang="zh-C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466088"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申报方案｜尚无实物</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b="1" dirty="0">
                <a:solidFill>
                  <a:srgbClr val="EEF3EF"/>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实施</a:t>
            </a:r>
          </a:p>
        </p:txBody>
      </p:sp>
      <p:sp>
        <p:nvSpPr>
          <p:cNvPr id="7" name="Line 7"/>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8"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rgbClr val="EEF3EF"/>
                </a:solidFill>
                <a:latin typeface="+mn-lt"/>
                <a:ea typeface="+mn-ea"/>
                <a:cs typeface="+mn-cs"/>
              </a:rPr>
              <a:t>研究计划：实物、真实无线和田间证据尚未完成；所有指标及扩展按正式任务书冻结。</a:t>
            </a:r>
          </a:p>
        </p:txBody>
      </p:sp>
      <p:sp>
        <p:nvSpPr>
          <p:cNvPr id="9"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rgbClr val="EEF3EF"/>
                </a:solidFill>
                <a:latin typeface="+mn-lt"/>
                <a:ea typeface="+mn-ea"/>
                <a:cs typeface="+mn-cs"/>
              </a:rPr>
              <a:t>01 / 15</a:t>
            </a:r>
          </a:p>
        </p:txBody>
      </p:sp>
      <p:grpSp>
        <p:nvGrpSpPr>
          <p:cNvPr id="14" name="cover-claim"/>
          <p:cNvGrpSpPr/>
          <p:nvPr/>
        </p:nvGrpSpPr>
        <p:grpSpPr>
          <a:xfrm>
            <a:off x="438150" y="1828800"/>
            <a:ext cx="4325874" cy="3937825"/>
            <a:chOff x="438150" y="1828800"/>
            <a:chExt cx="4325874" cy="3937825"/>
          </a:xfrm>
        </p:grpSpPr>
        <p:sp>
          <p:nvSpPr>
            <p:cNvPr id="10" name="TextBox 10"/>
            <p:cNvSpPr txBox="1"/>
            <p:nvPr/>
          </p:nvSpPr>
          <p:spPr>
            <a:xfrm>
              <a:off x="438150" y="1828800"/>
              <a:ext cx="3467100" cy="1676400"/>
            </a:xfrm>
            <a:prstGeom prst="rect">
              <a:avLst/>
            </a:prstGeom>
            <a:noFill/>
            <a:ln>
              <a:noFill/>
            </a:ln>
          </p:spPr>
          <p:txBody>
            <a:bodyPr wrap="none" lIns="0" tIns="0" rIns="0" bIns="0" anchor="t" anchorCtr="0">
              <a:spAutoFit/>
            </a:bodyPr>
            <a:lstStyle/>
            <a:p>
              <a:pPr algn="l">
                <a:lnSpc>
                  <a:spcPts val="6300"/>
                </a:lnSpc>
              </a:pPr>
              <a:r>
                <a:rPr lang="zh-CN" sz="4500" b="1" dirty="0">
                  <a:solidFill>
                    <a:srgbClr val="FFFFFF"/>
                  </a:solidFill>
                  <a:latin typeface="+mn-lt"/>
                  <a:ea typeface="+mn-ea"/>
                  <a:cs typeface="+mn-cs"/>
                </a:rPr>
                <a:t>南疆滴灌支管</a:t>
              </a:r>
              <a:br/>
              <a:r>
                <a:rPr lang="zh-CN" sz="4500" b="1" dirty="0">
                  <a:solidFill>
                    <a:srgbClr val="FFFFFF"/>
                  </a:solidFill>
                  <a:latin typeface="+mn-lt"/>
                  <a:ea typeface="+mn-ea"/>
                  <a:cs typeface="+mn-cs"/>
                </a:rPr>
                <a:t>早期故障诊断</a:t>
              </a:r>
            </a:p>
          </p:txBody>
        </p:sp>
        <p:sp>
          <p:nvSpPr>
            <p:cNvPr id="11" name="TextBox 11"/>
            <p:cNvSpPr txBox="1"/>
            <p:nvPr/>
          </p:nvSpPr>
          <p:spPr>
            <a:xfrm>
              <a:off x="448056" y="3758565"/>
              <a:ext cx="4315968" cy="704469"/>
            </a:xfrm>
            <a:prstGeom prst="rect">
              <a:avLst/>
            </a:prstGeom>
            <a:noFill/>
            <a:ln>
              <a:noFill/>
            </a:ln>
          </p:spPr>
          <p:txBody>
            <a:bodyPr wrap="none" lIns="0" tIns="0" rIns="0" bIns="0" anchor="t" anchorCtr="0">
              <a:spAutoFit/>
            </a:bodyPr>
            <a:lstStyle/>
            <a:p>
              <a:pPr algn="l">
                <a:lnSpc>
                  <a:spcPts val="2775"/>
                </a:lnSpc>
              </a:pPr>
              <a:r>
                <a:rPr lang="zh-CN" sz="1800" dirty="0">
                  <a:solidFill>
                    <a:srgbClr val="EEF3EF"/>
                  </a:solidFill>
                  <a:latin typeface="+mn-lt"/>
                  <a:ea typeface="+mn-ea"/>
                  <a:cs typeface="+mn-cs"/>
                </a:rPr>
                <a:t>基于 LoRa 的南疆滴灌支管道早期故障诊断</a:t>
              </a:r>
              <a:br/>
              <a:r>
                <a:rPr lang="zh-CN" sz="1800" dirty="0">
                  <a:solidFill>
                    <a:srgbClr val="EEF3EF"/>
                  </a:solidFill>
                  <a:latin typeface="+mn-lt"/>
                  <a:ea typeface="+mn-ea"/>
                  <a:cs typeface="+mn-cs"/>
                </a:rPr>
                <a:t>物联网原型系统</a:t>
              </a:r>
            </a:p>
          </p:txBody>
        </p:sp>
        <p:sp>
          <p:nvSpPr>
            <p:cNvPr id="12" name="TextBox 12"/>
            <p:cNvSpPr txBox="1"/>
            <p:nvPr/>
          </p:nvSpPr>
          <p:spPr>
            <a:xfrm>
              <a:off x="448056" y="4911090"/>
              <a:ext cx="4198239" cy="352044"/>
            </a:xfrm>
            <a:prstGeom prst="rect">
              <a:avLst/>
            </a:prstGeom>
            <a:noFill/>
            <a:ln>
              <a:noFill/>
            </a:ln>
          </p:spPr>
          <p:txBody>
            <a:bodyPr wrap="none" lIns="0" tIns="0" rIns="0" bIns="0" anchor="t" anchorCtr="0">
              <a:spAutoFit/>
            </a:bodyPr>
            <a:lstStyle/>
            <a:p>
              <a:pPr algn="l"/>
              <a:r>
                <a:rPr lang="zh-CN" sz="1800" dirty="0">
                  <a:solidFill>
                    <a:srgbClr val="EEF3EF"/>
                  </a:solidFill>
                  <a:latin typeface="+mn-lt"/>
                  <a:ea typeface="+mn-ea"/>
                  <a:cs typeface="+mn-cs"/>
                </a:rPr>
                <a:t>2027.03—2028.02｜创新训练申报方案</a:t>
              </a:r>
            </a:p>
          </p:txBody>
        </p:sp>
        <p:sp>
          <p:nvSpPr>
            <p:cNvPr id="13" name="TextBox 13"/>
            <p:cNvSpPr txBox="1"/>
            <p:nvPr/>
          </p:nvSpPr>
          <p:spPr>
            <a:xfrm>
              <a:off x="450342" y="5502592"/>
              <a:ext cx="4011930" cy="264033"/>
            </a:xfrm>
            <a:prstGeom prst="rect">
              <a:avLst/>
            </a:prstGeom>
            <a:noFill/>
            <a:ln>
              <a:noFill/>
            </a:ln>
          </p:spPr>
          <p:txBody>
            <a:bodyPr wrap="none" lIns="0" tIns="0" rIns="0" bIns="0" anchor="t" anchorCtr="0">
              <a:spAutoFit/>
            </a:bodyPr>
            <a:lstStyle/>
            <a:p>
              <a:pPr algn="l"/>
              <a:r>
                <a:rPr lang="zh-CN" sz="1350" dirty="0">
                  <a:solidFill>
                    <a:srgbClr val="EEF3EF"/>
                  </a:solidFill>
                  <a:latin typeface="+mn-lt"/>
                  <a:ea typeface="+mn-ea"/>
                  <a:cs typeface="+mn-cs"/>
                </a:rPr>
                <a:t>前期：文献、未标定模型、合成回放；无实物数据</a:t>
              </a:r>
            </a:p>
          </p:txBody>
        </p:sp>
      </p:grpSp>
      <p:grpSp>
        <p:nvGrpSpPr>
          <p:cNvPr id="26" name="cover-system"/>
          <p:cNvGrpSpPr/>
          <p:nvPr/>
        </p:nvGrpSpPr>
        <p:grpSpPr>
          <a:xfrm>
            <a:off x="8724900" y="2097405"/>
            <a:ext cx="2705100" cy="2841879"/>
            <a:chOff x="8724900" y="2097405"/>
            <a:chExt cx="2705100" cy="2841879"/>
          </a:xfrm>
        </p:grpSpPr>
        <p:sp>
          <p:nvSpPr>
            <p:cNvPr id="15" name="Line 15"/>
            <p:cNvSpPr/>
            <p:nvPr/>
          </p:nvSpPr>
          <p:spPr>
            <a:xfrm>
              <a:off x="8724900" y="2714625"/>
              <a:ext cx="1276350" cy="9525"/>
            </a:xfrm>
            <a:custGeom>
              <a:avLst/>
              <a:gdLst/>
              <a:ahLst/>
              <a:cxnLst/>
              <a:rect l="l" t="t" r="r" b="b"/>
              <a:pathLst>
                <a:path w="1276350" h="9525">
                  <a:moveTo>
                    <a:pt x="0" y="0"/>
                  </a:moveTo>
                  <a:lnTo>
                    <a:pt x="1276350" y="0"/>
                  </a:lnTo>
                </a:path>
              </a:pathLst>
            </a:custGeom>
            <a:noFill/>
            <a:ln w="38100">
              <a:solidFill>
                <a:srgbClr val="EEF3EF"/>
              </a:solidFill>
            </a:ln>
          </p:spPr>
        </p:sp>
        <p:sp>
          <p:nvSpPr>
            <p:cNvPr id="16" name="Line 16"/>
            <p:cNvSpPr/>
            <p:nvPr/>
          </p:nvSpPr>
          <p:spPr>
            <a:xfrm>
              <a:off x="10001250" y="2714625"/>
              <a:ext cx="9525" cy="1285875"/>
            </a:xfrm>
            <a:custGeom>
              <a:avLst/>
              <a:gdLst/>
              <a:ahLst/>
              <a:cxnLst/>
              <a:rect l="l" t="t" r="r" b="b"/>
              <a:pathLst>
                <a:path w="9525" h="1285875">
                  <a:moveTo>
                    <a:pt x="0" y="0"/>
                  </a:moveTo>
                  <a:lnTo>
                    <a:pt x="0" y="1285875"/>
                  </a:lnTo>
                </a:path>
              </a:pathLst>
            </a:custGeom>
            <a:noFill/>
            <a:ln w="38100">
              <a:solidFill>
                <a:srgbClr val="EEF3EF"/>
              </a:solidFill>
            </a:ln>
          </p:spPr>
        </p:sp>
        <p:sp>
          <p:nvSpPr>
            <p:cNvPr id="17" name="Line 17"/>
            <p:cNvSpPr/>
            <p:nvPr/>
          </p:nvSpPr>
          <p:spPr>
            <a:xfrm>
              <a:off x="10001250" y="2714625"/>
              <a:ext cx="1428750" cy="9525"/>
            </a:xfrm>
            <a:custGeom>
              <a:avLst/>
              <a:gdLst/>
              <a:ahLst/>
              <a:cxnLst/>
              <a:rect l="l" t="t" r="r" b="b"/>
              <a:pathLst>
                <a:path w="1428750" h="9525">
                  <a:moveTo>
                    <a:pt x="0" y="0"/>
                  </a:moveTo>
                  <a:lnTo>
                    <a:pt x="1428750" y="0"/>
                  </a:lnTo>
                </a:path>
              </a:pathLst>
            </a:custGeom>
            <a:noFill/>
            <a:ln w="38100">
              <a:solidFill>
                <a:srgbClr val="EEF3EF"/>
              </a:solidFill>
            </a:ln>
          </p:spPr>
        </p:sp>
        <p:sp>
          <p:nvSpPr>
            <p:cNvPr id="18" name="Line 18"/>
            <p:cNvSpPr/>
            <p:nvPr/>
          </p:nvSpPr>
          <p:spPr>
            <a:xfrm>
              <a:off x="10001250" y="4000500"/>
              <a:ext cx="1428750" cy="9525"/>
            </a:xfrm>
            <a:custGeom>
              <a:avLst/>
              <a:gdLst/>
              <a:ahLst/>
              <a:cxnLst/>
              <a:rect l="l" t="t" r="r" b="b"/>
              <a:pathLst>
                <a:path w="1428750" h="9525">
                  <a:moveTo>
                    <a:pt x="0" y="0"/>
                  </a:moveTo>
                  <a:lnTo>
                    <a:pt x="1428750" y="0"/>
                  </a:lnTo>
                </a:path>
              </a:pathLst>
            </a:custGeom>
            <a:noFill/>
            <a:ln w="38100">
              <a:solidFill>
                <a:srgbClr val="EEF3EF"/>
              </a:solidFill>
            </a:ln>
          </p:spPr>
        </p:sp>
        <p:sp>
          <p:nvSpPr>
            <p:cNvPr id="19" name="Ellipse 19"/>
            <p:cNvSpPr/>
            <p:nvPr/>
          </p:nvSpPr>
          <p:spPr>
            <a:xfrm>
              <a:off x="10372725" y="2514600"/>
              <a:ext cx="400050" cy="400050"/>
            </a:xfrm>
            <a:prstGeom prst="ellipse">
              <a:avLst/>
            </a:prstGeom>
            <a:solidFill>
              <a:schemeClr val="accent1"/>
            </a:solidFill>
            <a:ln w="28575">
              <a:solidFill>
                <a:srgbClr val="EEF3EF"/>
              </a:solidFill>
            </a:ln>
          </p:spPr>
        </p:sp>
        <p:sp>
          <p:nvSpPr>
            <p:cNvPr id="20" name="Ellipse 20"/>
            <p:cNvSpPr/>
            <p:nvPr/>
          </p:nvSpPr>
          <p:spPr>
            <a:xfrm>
              <a:off x="10372725" y="3800475"/>
              <a:ext cx="400050" cy="400050"/>
            </a:xfrm>
            <a:prstGeom prst="ellipse">
              <a:avLst/>
            </a:prstGeom>
            <a:solidFill>
              <a:schemeClr val="accent1"/>
            </a:solidFill>
            <a:ln w="28575">
              <a:solidFill>
                <a:srgbClr val="EEF3EF"/>
              </a:solidFill>
            </a:ln>
          </p:spPr>
        </p:sp>
        <p:sp>
          <p:nvSpPr>
            <p:cNvPr id="21" name="TextBox 21"/>
            <p:cNvSpPr txBox="1"/>
            <p:nvPr/>
          </p:nvSpPr>
          <p:spPr>
            <a:xfrm>
              <a:off x="10493197" y="2596515"/>
              <a:ext cx="159106" cy="352044"/>
            </a:xfrm>
            <a:prstGeom prst="rect">
              <a:avLst/>
            </a:prstGeom>
            <a:noFill/>
            <a:ln>
              <a:noFill/>
            </a:ln>
          </p:spPr>
          <p:txBody>
            <a:bodyPr wrap="none" lIns="0" tIns="0" rIns="0" bIns="0" anchor="t" anchorCtr="0">
              <a:spAutoFit/>
            </a:bodyPr>
            <a:lstStyle/>
            <a:p>
              <a:pPr algn="ctr"/>
              <a:r>
                <a:rPr lang="en-US" sz="1800" dirty="0">
                  <a:solidFill>
                    <a:srgbClr val="EEF3EF"/>
                  </a:solidFill>
                  <a:latin typeface="+mn-lt"/>
                  <a:ea typeface="+mn-ea"/>
                  <a:cs typeface="+mn-cs"/>
                </a:rPr>
                <a:t>P</a:t>
              </a:r>
            </a:p>
          </p:txBody>
        </p:sp>
        <p:sp>
          <p:nvSpPr>
            <p:cNvPr id="22" name="TextBox 22"/>
            <p:cNvSpPr txBox="1"/>
            <p:nvPr/>
          </p:nvSpPr>
          <p:spPr>
            <a:xfrm>
              <a:off x="10467594" y="3882390"/>
              <a:ext cx="210312" cy="352044"/>
            </a:xfrm>
            <a:prstGeom prst="rect">
              <a:avLst/>
            </a:prstGeom>
            <a:noFill/>
            <a:ln>
              <a:noFill/>
            </a:ln>
          </p:spPr>
          <p:txBody>
            <a:bodyPr wrap="none" lIns="0" tIns="0" rIns="0" bIns="0" anchor="t" anchorCtr="0">
              <a:spAutoFit/>
            </a:bodyPr>
            <a:lstStyle/>
            <a:p>
              <a:pPr algn="ctr"/>
              <a:r>
                <a:rPr lang="en-US" sz="1800" dirty="0">
                  <a:solidFill>
                    <a:srgbClr val="EEF3EF"/>
                  </a:solidFill>
                  <a:latin typeface="+mn-lt"/>
                  <a:ea typeface="+mn-ea"/>
                  <a:cs typeface="+mn-cs"/>
                </a:rPr>
                <a:t>Q</a:t>
              </a:r>
            </a:p>
          </p:txBody>
        </p:sp>
        <p:sp>
          <p:nvSpPr>
            <p:cNvPr id="23" name="TextBox 23"/>
            <p:cNvSpPr txBox="1"/>
            <p:nvPr/>
          </p:nvSpPr>
          <p:spPr>
            <a:xfrm>
              <a:off x="8942832" y="2097405"/>
              <a:ext cx="869442" cy="410718"/>
            </a:xfrm>
            <a:prstGeom prst="rect">
              <a:avLst/>
            </a:prstGeom>
            <a:noFill/>
            <a:ln>
              <a:noFill/>
            </a:ln>
          </p:spPr>
          <p:txBody>
            <a:bodyPr wrap="none" lIns="0" tIns="0" rIns="0" bIns="0" anchor="t" anchorCtr="0">
              <a:spAutoFit/>
            </a:bodyPr>
            <a:lstStyle/>
            <a:p>
              <a:pPr algn="l"/>
              <a:r>
                <a:rPr lang="zh-CN" sz="2100" dirty="0">
                  <a:solidFill>
                    <a:srgbClr val="EEF3EF"/>
                  </a:solidFill>
                  <a:latin typeface="+mn-lt"/>
                  <a:ea typeface="+mn-ea"/>
                  <a:cs typeface="+mn-cs"/>
                </a:rPr>
                <a:t>双压力</a:t>
              </a:r>
            </a:p>
          </p:txBody>
        </p:sp>
        <p:sp>
          <p:nvSpPr>
            <p:cNvPr id="24" name="TextBox 24"/>
            <p:cNvSpPr txBox="1"/>
            <p:nvPr/>
          </p:nvSpPr>
          <p:spPr>
            <a:xfrm>
              <a:off x="10053942" y="4587240"/>
              <a:ext cx="1266215" cy="352044"/>
            </a:xfrm>
            <a:prstGeom prst="rect">
              <a:avLst/>
            </a:prstGeom>
            <a:noFill/>
            <a:ln>
              <a:noFill/>
            </a:ln>
          </p:spPr>
          <p:txBody>
            <a:bodyPr wrap="none" lIns="0" tIns="0" rIns="0" bIns="0" anchor="t" anchorCtr="0">
              <a:spAutoFit/>
            </a:bodyPr>
            <a:lstStyle/>
            <a:p>
              <a:pPr algn="ctr"/>
              <a:r>
                <a:rPr lang="zh-CN" sz="1800" dirty="0">
                  <a:solidFill>
                    <a:srgbClr val="EEF3EF"/>
                  </a:solidFill>
                  <a:latin typeface="+mn-lt"/>
                  <a:ea typeface="+mn-ea"/>
                  <a:cs typeface="+mn-cs"/>
                </a:rPr>
                <a:t>诊断 → 告警</a:t>
              </a:r>
            </a:p>
          </p:txBody>
        </p:sp>
        <p:sp>
          <p:nvSpPr>
            <p:cNvPr id="25" name="Line 25"/>
            <p:cNvSpPr/>
            <p:nvPr/>
          </p:nvSpPr>
          <p:spPr>
            <a:xfrm>
              <a:off x="10572750" y="4295775"/>
              <a:ext cx="9525" cy="247650"/>
            </a:xfrm>
            <a:custGeom>
              <a:avLst/>
              <a:gdLst/>
              <a:ahLst/>
              <a:cxnLst/>
              <a:rect l="l" t="t" r="r" b="b"/>
              <a:pathLst>
                <a:path w="9525" h="247650">
                  <a:moveTo>
                    <a:pt x="0" y="0"/>
                  </a:moveTo>
                  <a:lnTo>
                    <a:pt x="0" y="247650"/>
                  </a:lnTo>
                </a:path>
              </a:pathLst>
            </a:custGeom>
            <a:noFill/>
            <a:ln w="19050">
              <a:solidFill>
                <a:srgbClr val="EEF3EF"/>
              </a:solidFill>
              <a:custDash>
                <a:ds d="300000" sp="250000"/>
              </a:custDash>
            </a:ln>
          </p:spPr>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14300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场景与研究对象</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6816852" cy="616077"/>
            <a:chOff x="441198" y="812483"/>
            <a:chExt cx="6816852" cy="616077"/>
          </a:xfrm>
        </p:grpSpPr>
        <p:sp>
          <p:nvSpPr>
            <p:cNvPr id="7" name="TextBox 7"/>
            <p:cNvSpPr txBox="1"/>
            <p:nvPr/>
          </p:nvSpPr>
          <p:spPr>
            <a:xfrm>
              <a:off x="441198" y="812483"/>
              <a:ext cx="6816852"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支管故障需要系统给出可检查的证据</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研究计划：实物、真实无线和田间证据尚未完成；所有指标及扩展按正式任务书冻结。</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02 / 15</a:t>
            </a:r>
          </a:p>
        </p:txBody>
      </p:sp>
      <p:grpSp>
        <p:nvGrpSpPr>
          <p:cNvPr id="21" name="problem-comparison"/>
          <p:cNvGrpSpPr/>
          <p:nvPr/>
        </p:nvGrpSpPr>
        <p:grpSpPr>
          <a:xfrm>
            <a:off x="445770" y="1757362"/>
            <a:ext cx="11289030" cy="3741611"/>
            <a:chOff x="445770" y="1757362"/>
            <a:chExt cx="11289030" cy="3741611"/>
          </a:xfrm>
        </p:grpSpPr>
        <p:sp>
          <p:nvSpPr>
            <p:cNvPr id="12" name="TextBox 12"/>
            <p:cNvSpPr txBox="1"/>
            <p:nvPr/>
          </p:nvSpPr>
          <p:spPr>
            <a:xfrm>
              <a:off x="445770" y="1757362"/>
              <a:ext cx="2748915" cy="440055"/>
            </a:xfrm>
            <a:prstGeom prst="rect">
              <a:avLst/>
            </a:prstGeom>
            <a:noFill/>
            <a:ln>
              <a:noFill/>
            </a:ln>
          </p:spPr>
          <p:txBody>
            <a:bodyPr wrap="none" lIns="0" tIns="0" rIns="0" bIns="0" anchor="t" anchorCtr="0">
              <a:spAutoFit/>
            </a:bodyPr>
            <a:lstStyle/>
            <a:p>
              <a:pPr algn="l"/>
              <a:r>
                <a:rPr lang="zh-CN" sz="2250" dirty="0">
                  <a:solidFill>
                    <a:schemeClr val="accent1"/>
                  </a:solidFill>
                  <a:latin typeface="+mn-lt"/>
                  <a:ea typeface="+mn-ea"/>
                  <a:cs typeface="+mn-cs"/>
                </a:rPr>
                <a:t>一组测量，两类来源</a:t>
              </a:r>
            </a:p>
          </p:txBody>
        </p:sp>
        <p:sp>
          <p:nvSpPr>
            <p:cNvPr id="13" name="Rectangle 13"/>
            <p:cNvSpPr/>
            <p:nvPr/>
          </p:nvSpPr>
          <p:spPr>
            <a:xfrm>
              <a:off x="457200" y="2343150"/>
              <a:ext cx="5391150" cy="1628775"/>
            </a:xfrm>
            <a:prstGeom prst="rect">
              <a:avLst/>
            </a:prstGeom>
            <a:solidFill>
              <a:schemeClr val="lt2"/>
            </a:solidFill>
            <a:ln>
              <a:noFill/>
            </a:ln>
          </p:spPr>
        </p:sp>
        <p:sp>
          <p:nvSpPr>
            <p:cNvPr id="14" name="TextBox 14"/>
            <p:cNvSpPr txBox="1"/>
            <p:nvPr/>
          </p:nvSpPr>
          <p:spPr>
            <a:xfrm>
              <a:off x="694182" y="2535555"/>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正常运行</a:t>
              </a:r>
            </a:p>
          </p:txBody>
        </p:sp>
        <p:sp>
          <p:nvSpPr>
            <p:cNvPr id="15" name="TextBox 15"/>
            <p:cNvSpPr txBox="1"/>
            <p:nvPr/>
          </p:nvSpPr>
          <p:spPr>
            <a:xfrm>
              <a:off x="695706" y="3053715"/>
              <a:ext cx="341071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支路开关、供压调整、负载改变</a:t>
              </a:r>
            </a:p>
          </p:txBody>
        </p:sp>
        <p:sp>
          <p:nvSpPr>
            <p:cNvPr id="16" name="Rectangle 16"/>
            <p:cNvSpPr/>
            <p:nvPr/>
          </p:nvSpPr>
          <p:spPr>
            <a:xfrm>
              <a:off x="6172200" y="2343150"/>
              <a:ext cx="5562600" cy="1628775"/>
            </a:xfrm>
            <a:prstGeom prst="rect">
              <a:avLst/>
            </a:prstGeom>
            <a:solidFill>
              <a:srgbClr val="F4ECE5"/>
            </a:solidFill>
            <a:ln>
              <a:noFill/>
            </a:ln>
          </p:spPr>
        </p:sp>
        <p:sp>
          <p:nvSpPr>
            <p:cNvPr id="17" name="TextBox 17"/>
            <p:cNvSpPr txBox="1"/>
            <p:nvPr/>
          </p:nvSpPr>
          <p:spPr>
            <a:xfrm>
              <a:off x="6409182" y="2535555"/>
              <a:ext cx="2000250" cy="410718"/>
            </a:xfrm>
            <a:prstGeom prst="rect">
              <a:avLst/>
            </a:prstGeom>
            <a:noFill/>
            <a:ln>
              <a:noFill/>
            </a:ln>
          </p:spPr>
          <p:txBody>
            <a:bodyPr wrap="none" lIns="0" tIns="0" rIns="0" bIns="0" anchor="t" anchorCtr="0">
              <a:spAutoFit/>
            </a:bodyPr>
            <a:lstStyle/>
            <a:p>
              <a:pPr algn="l"/>
              <a:r>
                <a:rPr lang="zh-CN" sz="2100" b="1" dirty="0">
                  <a:solidFill>
                    <a:schemeClr val="accent2"/>
                  </a:solidFill>
                  <a:latin typeface="+mn-lt"/>
                  <a:ea typeface="+mn-ea"/>
                  <a:cs typeface="+mn-cs"/>
                </a:rPr>
                <a:t>需要检查的异常</a:t>
              </a:r>
            </a:p>
          </p:txBody>
        </p:sp>
        <p:sp>
          <p:nvSpPr>
            <p:cNvPr id="18" name="TextBox 18"/>
            <p:cNvSpPr txBox="1"/>
            <p:nvPr/>
          </p:nvSpPr>
          <p:spPr>
            <a:xfrm>
              <a:off x="6410706" y="3053715"/>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可控泄漏、水力受限、切换期短时异常</a:t>
              </a:r>
            </a:p>
          </p:txBody>
        </p:sp>
        <p:sp>
          <p:nvSpPr>
            <p:cNvPr id="19" name="TextBox 19"/>
            <p:cNvSpPr txBox="1"/>
            <p:nvPr/>
          </p:nvSpPr>
          <p:spPr>
            <a:xfrm>
              <a:off x="446532" y="4421505"/>
              <a:ext cx="6523482"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诊断：能观察到多小的故障，何时需要输出待检查？</a:t>
              </a:r>
            </a:p>
          </p:txBody>
        </p:sp>
        <p:sp>
          <p:nvSpPr>
            <p:cNvPr id="20" name="TextBox 20"/>
            <p:cNvSpPr txBox="1"/>
            <p:nvPr/>
          </p:nvSpPr>
          <p:spPr>
            <a:xfrm>
              <a:off x="446532" y="5088255"/>
              <a:ext cx="6240780"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系统：本地发现的证据能否可靠送达并回放确认？</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466088"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已有研究与候选贡献</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6392799" cy="616077"/>
            <a:chOff x="441198" y="812483"/>
            <a:chExt cx="6392799" cy="616077"/>
          </a:xfrm>
        </p:grpSpPr>
        <p:sp>
          <p:nvSpPr>
            <p:cNvPr id="7" name="TextBox 7"/>
            <p:cNvSpPr txBox="1"/>
            <p:nvPr/>
          </p:nvSpPr>
          <p:spPr>
            <a:xfrm>
              <a:off x="441198" y="812483"/>
              <a:ext cx="6392799"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已有系统很多，增量需要实验验证</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735572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文献：AWM 2022；HydroNeuro 2026；Land 2026；Sensors 2021；IFAC 2025。完整DOI见备用页。</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03 / 15</a:t>
            </a:r>
          </a:p>
        </p:txBody>
      </p:sp>
      <p:grpSp>
        <p:nvGrpSpPr>
          <p:cNvPr id="24" name="research-position"/>
          <p:cNvGrpSpPr/>
          <p:nvPr/>
        </p:nvGrpSpPr>
        <p:grpSpPr>
          <a:xfrm>
            <a:off x="446532" y="1840230"/>
            <a:ext cx="11288268" cy="3661029"/>
            <a:chOff x="446532" y="1840230"/>
            <a:chExt cx="11288268" cy="3661029"/>
          </a:xfrm>
        </p:grpSpPr>
        <p:sp>
          <p:nvSpPr>
            <p:cNvPr id="12" name="TextBox 12"/>
            <p:cNvSpPr txBox="1"/>
            <p:nvPr/>
          </p:nvSpPr>
          <p:spPr>
            <a:xfrm>
              <a:off x="446532" y="1840230"/>
              <a:ext cx="2000250"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间接检测的边界</a:t>
              </a:r>
            </a:p>
          </p:txBody>
        </p:sp>
        <p:sp>
          <p:nvSpPr>
            <p:cNvPr id="13" name="TextBox 13"/>
            <p:cNvSpPr txBox="1"/>
            <p:nvPr/>
          </p:nvSpPr>
          <p:spPr>
            <a:xfrm>
              <a:off x="6565392" y="1921192"/>
              <a:ext cx="1867433"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滴灌堵塞综述（2022）</a:t>
              </a:r>
            </a:p>
          </p:txBody>
        </p:sp>
        <p:sp>
          <p:nvSpPr>
            <p:cNvPr id="14" name="Line 14"/>
            <p:cNvSpPr/>
            <p:nvPr/>
          </p:nvSpPr>
          <p:spPr>
            <a:xfrm>
              <a:off x="457200" y="2257425"/>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5" name="TextBox 15"/>
            <p:cNvSpPr txBox="1"/>
            <p:nvPr/>
          </p:nvSpPr>
          <p:spPr>
            <a:xfrm>
              <a:off x="448056" y="2501265"/>
              <a:ext cx="559155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限定低成本测点可观测范围，不承诺逐滴头早期诊断</a:t>
              </a:r>
            </a:p>
          </p:txBody>
        </p:sp>
        <p:sp>
          <p:nvSpPr>
            <p:cNvPr id="16" name="TextBox 16"/>
            <p:cNvSpPr txBox="1"/>
            <p:nvPr/>
          </p:nvSpPr>
          <p:spPr>
            <a:xfrm>
              <a:off x="446532" y="3164205"/>
              <a:ext cx="2282952"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阀态建模已有先例</a:t>
              </a:r>
            </a:p>
          </p:txBody>
        </p:sp>
        <p:sp>
          <p:nvSpPr>
            <p:cNvPr id="17" name="TextBox 17"/>
            <p:cNvSpPr txBox="1"/>
            <p:nvPr/>
          </p:nvSpPr>
          <p:spPr>
            <a:xfrm>
              <a:off x="6565392" y="3245168"/>
              <a:ext cx="1787881"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HydroNeuro（2026）</a:t>
              </a:r>
            </a:p>
          </p:txBody>
        </p:sp>
        <p:sp>
          <p:nvSpPr>
            <p:cNvPr id="18" name="Line 18"/>
            <p:cNvSpPr/>
            <p:nvPr/>
          </p:nvSpPr>
          <p:spPr>
            <a:xfrm>
              <a:off x="457200" y="35814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9" name="TextBox 19"/>
            <p:cNvSpPr txBox="1"/>
            <p:nvPr/>
          </p:nvSpPr>
          <p:spPr>
            <a:xfrm>
              <a:off x="448056" y="3825240"/>
              <a:ext cx="583387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检验连续切换与短时异常，不把状态辅助直接当作创新</a:t>
              </a:r>
            </a:p>
          </p:txBody>
        </p:sp>
        <p:sp>
          <p:nvSpPr>
            <p:cNvPr id="20" name="TextBox 20"/>
            <p:cNvSpPr txBox="1"/>
            <p:nvPr/>
          </p:nvSpPr>
          <p:spPr>
            <a:xfrm>
              <a:off x="446532" y="4488180"/>
              <a:ext cx="3131058"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平台和事件通信已有研究</a:t>
              </a:r>
            </a:p>
          </p:txBody>
        </p:sp>
        <p:sp>
          <p:nvSpPr>
            <p:cNvPr id="21" name="TextBox 21"/>
            <p:cNvSpPr txBox="1"/>
            <p:nvPr/>
          </p:nvSpPr>
          <p:spPr>
            <a:xfrm>
              <a:off x="6565392" y="4569142"/>
              <a:ext cx="3675717"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灌溉平台（2026）；农业通信（2021/2025）</a:t>
              </a:r>
            </a:p>
          </p:txBody>
        </p:sp>
        <p:sp>
          <p:nvSpPr>
            <p:cNvPr id="22" name="Line 22"/>
            <p:cNvSpPr/>
            <p:nvPr/>
          </p:nvSpPr>
          <p:spPr>
            <a:xfrm>
              <a:off x="457200" y="4905375"/>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23" name="TextBox 23"/>
            <p:cNvSpPr txBox="1"/>
            <p:nvPr/>
          </p:nvSpPr>
          <p:spPr>
            <a:xfrm>
              <a:off x="448056" y="5149215"/>
              <a:ext cx="607618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增加强周期对照与相同告警确认，评价取舍而非预设优越</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819912"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拟开展任务</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5544693" cy="616077"/>
            <a:chOff x="441198" y="812483"/>
            <a:chExt cx="5544693" cy="616077"/>
          </a:xfrm>
        </p:grpSpPr>
        <p:sp>
          <p:nvSpPr>
            <p:cNvPr id="7" name="TextBox 7"/>
            <p:cNvSpPr txBox="1"/>
            <p:nvPr/>
          </p:nvSpPr>
          <p:spPr>
            <a:xfrm>
              <a:off x="441198" y="812483"/>
              <a:ext cx="5544693"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四个工作包支撑一个完整原型</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研究计划：实物、真实无线和田间证据尚未完成；所有指标及扩展按正式任务书冻结。</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04 / 15</a:t>
            </a:r>
          </a:p>
        </p:txBody>
      </p:sp>
      <p:grpSp>
        <p:nvGrpSpPr>
          <p:cNvPr id="28" name="research-packages"/>
          <p:cNvGrpSpPr/>
          <p:nvPr/>
        </p:nvGrpSpPr>
        <p:grpSpPr>
          <a:xfrm>
            <a:off x="438150" y="1792605"/>
            <a:ext cx="11296650" cy="4093845"/>
            <a:chOff x="438150" y="1792605"/>
            <a:chExt cx="11296650" cy="4093845"/>
          </a:xfrm>
        </p:grpSpPr>
        <p:sp>
          <p:nvSpPr>
            <p:cNvPr id="12" name="TextBox 12"/>
            <p:cNvSpPr txBox="1"/>
            <p:nvPr/>
          </p:nvSpPr>
          <p:spPr>
            <a:xfrm>
              <a:off x="438150" y="1809750"/>
              <a:ext cx="704469" cy="876300"/>
            </a:xfrm>
            <a:prstGeom prst="rect">
              <a:avLst/>
            </a:prstGeom>
            <a:noFill/>
            <a:ln>
              <a:noFill/>
            </a:ln>
          </p:spPr>
          <p:txBody>
            <a:bodyPr wrap="none" lIns="0" tIns="0" rIns="0" bIns="0" anchor="t" anchorCtr="0">
              <a:spAutoFit/>
            </a:bodyPr>
            <a:lstStyle/>
            <a:p>
              <a:pPr algn="l"/>
              <a:r>
                <a:rPr lang="zh-CN" sz="4500" dirty="0">
                  <a:solidFill>
                    <a:schemeClr val="accent1"/>
                  </a:solidFill>
                  <a:latin typeface="+mn-lt"/>
                  <a:ea typeface="+mn-ea"/>
                  <a:cs typeface="+mn-cs"/>
                </a:rPr>
                <a:t>01</a:t>
              </a:r>
            </a:p>
          </p:txBody>
        </p:sp>
        <p:sp>
          <p:nvSpPr>
            <p:cNvPr id="13" name="TextBox 13"/>
            <p:cNvSpPr txBox="1"/>
            <p:nvPr/>
          </p:nvSpPr>
          <p:spPr>
            <a:xfrm>
              <a:off x="1618107" y="1792605"/>
              <a:ext cx="2109170"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WP1 测量与建模</a:t>
              </a:r>
            </a:p>
          </p:txBody>
        </p:sp>
        <p:sp>
          <p:nvSpPr>
            <p:cNvPr id="14" name="TextBox 14"/>
            <p:cNvSpPr txBox="1"/>
            <p:nvPr/>
          </p:nvSpPr>
          <p:spPr>
            <a:xfrm>
              <a:off x="1619631" y="2244090"/>
              <a:ext cx="387408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P0 / P1 / Q → 参考标定 → 差压误差</a:t>
              </a:r>
            </a:p>
          </p:txBody>
        </p:sp>
        <p:sp>
          <p:nvSpPr>
            <p:cNvPr id="15" name="Line 15"/>
            <p:cNvSpPr/>
            <p:nvPr/>
          </p:nvSpPr>
          <p:spPr>
            <a:xfrm>
              <a:off x="1628775" y="2638425"/>
              <a:ext cx="10106025" cy="9525"/>
            </a:xfrm>
            <a:custGeom>
              <a:avLst/>
              <a:gdLst/>
              <a:ahLst/>
              <a:cxnLst/>
              <a:rect l="l" t="t" r="r" b="b"/>
              <a:pathLst>
                <a:path w="10106025" h="9525">
                  <a:moveTo>
                    <a:pt x="0" y="0"/>
                  </a:moveTo>
                  <a:lnTo>
                    <a:pt x="10106025" y="0"/>
                  </a:lnTo>
                </a:path>
              </a:pathLst>
            </a:custGeom>
            <a:noFill/>
            <a:ln w="9525">
              <a:solidFill>
                <a:schemeClr val="accent6"/>
              </a:solidFill>
            </a:ln>
          </p:spPr>
        </p:sp>
        <p:sp>
          <p:nvSpPr>
            <p:cNvPr id="16" name="TextBox 16"/>
            <p:cNvSpPr txBox="1"/>
            <p:nvPr/>
          </p:nvSpPr>
          <p:spPr>
            <a:xfrm>
              <a:off x="438150" y="2876550"/>
              <a:ext cx="704469" cy="876300"/>
            </a:xfrm>
            <a:prstGeom prst="rect">
              <a:avLst/>
            </a:prstGeom>
            <a:noFill/>
            <a:ln>
              <a:noFill/>
            </a:ln>
          </p:spPr>
          <p:txBody>
            <a:bodyPr wrap="none" lIns="0" tIns="0" rIns="0" bIns="0" anchor="t" anchorCtr="0">
              <a:spAutoFit/>
            </a:bodyPr>
            <a:lstStyle/>
            <a:p>
              <a:pPr algn="l"/>
              <a:r>
                <a:rPr lang="zh-CN" sz="4500" dirty="0">
                  <a:solidFill>
                    <a:schemeClr val="accent1"/>
                  </a:solidFill>
                  <a:latin typeface="+mn-lt"/>
                  <a:ea typeface="+mn-ea"/>
                  <a:cs typeface="+mn-cs"/>
                </a:rPr>
                <a:t>02</a:t>
              </a:r>
            </a:p>
          </p:txBody>
        </p:sp>
        <p:sp>
          <p:nvSpPr>
            <p:cNvPr id="17" name="TextBox 17"/>
            <p:cNvSpPr txBox="1"/>
            <p:nvPr/>
          </p:nvSpPr>
          <p:spPr>
            <a:xfrm>
              <a:off x="1618107" y="2859405"/>
              <a:ext cx="2109170"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WP2 诊断与边界</a:t>
              </a:r>
            </a:p>
          </p:txBody>
        </p:sp>
        <p:sp>
          <p:nvSpPr>
            <p:cNvPr id="18" name="TextBox 18"/>
            <p:cNvSpPr txBox="1"/>
            <p:nvPr/>
          </p:nvSpPr>
          <p:spPr>
            <a:xfrm>
              <a:off x="1619631" y="3310890"/>
              <a:ext cx="448901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渐进故障 → 状态 / 强基线 → 程度与提前量</a:t>
              </a:r>
            </a:p>
          </p:txBody>
        </p:sp>
        <p:sp>
          <p:nvSpPr>
            <p:cNvPr id="19" name="Line 19"/>
            <p:cNvSpPr/>
            <p:nvPr/>
          </p:nvSpPr>
          <p:spPr>
            <a:xfrm>
              <a:off x="1628775" y="3705225"/>
              <a:ext cx="10106025" cy="9525"/>
            </a:xfrm>
            <a:custGeom>
              <a:avLst/>
              <a:gdLst/>
              <a:ahLst/>
              <a:cxnLst/>
              <a:rect l="l" t="t" r="r" b="b"/>
              <a:pathLst>
                <a:path w="10106025" h="9525">
                  <a:moveTo>
                    <a:pt x="0" y="0"/>
                  </a:moveTo>
                  <a:lnTo>
                    <a:pt x="10106025" y="0"/>
                  </a:lnTo>
                </a:path>
              </a:pathLst>
            </a:custGeom>
            <a:noFill/>
            <a:ln w="9525">
              <a:solidFill>
                <a:schemeClr val="accent6"/>
              </a:solidFill>
            </a:ln>
          </p:spPr>
        </p:sp>
        <p:sp>
          <p:nvSpPr>
            <p:cNvPr id="20" name="TextBox 20"/>
            <p:cNvSpPr txBox="1"/>
            <p:nvPr/>
          </p:nvSpPr>
          <p:spPr>
            <a:xfrm>
              <a:off x="438150" y="3943350"/>
              <a:ext cx="704469" cy="876300"/>
            </a:xfrm>
            <a:prstGeom prst="rect">
              <a:avLst/>
            </a:prstGeom>
            <a:noFill/>
            <a:ln>
              <a:noFill/>
            </a:ln>
          </p:spPr>
          <p:txBody>
            <a:bodyPr wrap="none" lIns="0" tIns="0" rIns="0" bIns="0" anchor="t" anchorCtr="0">
              <a:spAutoFit/>
            </a:bodyPr>
            <a:lstStyle/>
            <a:p>
              <a:pPr algn="l"/>
              <a:r>
                <a:rPr lang="zh-CN" sz="4500" dirty="0">
                  <a:solidFill>
                    <a:schemeClr val="accent1"/>
                  </a:solidFill>
                  <a:latin typeface="+mn-lt"/>
                  <a:ea typeface="+mn-ea"/>
                  <a:cs typeface="+mn-cs"/>
                </a:rPr>
                <a:t>03</a:t>
              </a:r>
            </a:p>
          </p:txBody>
        </p:sp>
        <p:sp>
          <p:nvSpPr>
            <p:cNvPr id="21" name="TextBox 21"/>
            <p:cNvSpPr txBox="1"/>
            <p:nvPr/>
          </p:nvSpPr>
          <p:spPr>
            <a:xfrm>
              <a:off x="1618107" y="3926205"/>
              <a:ext cx="1826468"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WP3 可靠告警</a:t>
              </a:r>
            </a:p>
          </p:txBody>
        </p:sp>
        <p:sp>
          <p:nvSpPr>
            <p:cNvPr id="22" name="TextBox 22"/>
            <p:cNvSpPr txBox="1"/>
            <p:nvPr/>
          </p:nvSpPr>
          <p:spPr>
            <a:xfrm>
              <a:off x="1619631" y="4377690"/>
              <a:ext cx="53186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固定采样 → 周期/事件公平对照 → ACK / 整机测量</a:t>
              </a:r>
            </a:p>
          </p:txBody>
        </p:sp>
        <p:sp>
          <p:nvSpPr>
            <p:cNvPr id="23" name="Line 23"/>
            <p:cNvSpPr/>
            <p:nvPr/>
          </p:nvSpPr>
          <p:spPr>
            <a:xfrm>
              <a:off x="1628775" y="4772025"/>
              <a:ext cx="10106025" cy="9525"/>
            </a:xfrm>
            <a:custGeom>
              <a:avLst/>
              <a:gdLst/>
              <a:ahLst/>
              <a:cxnLst/>
              <a:rect l="l" t="t" r="r" b="b"/>
              <a:pathLst>
                <a:path w="10106025" h="9525">
                  <a:moveTo>
                    <a:pt x="0" y="0"/>
                  </a:moveTo>
                  <a:lnTo>
                    <a:pt x="10106025" y="0"/>
                  </a:lnTo>
                </a:path>
              </a:pathLst>
            </a:custGeom>
            <a:noFill/>
            <a:ln w="9525">
              <a:solidFill>
                <a:schemeClr val="accent6"/>
              </a:solidFill>
            </a:ln>
          </p:spPr>
        </p:sp>
        <p:sp>
          <p:nvSpPr>
            <p:cNvPr id="24" name="TextBox 24"/>
            <p:cNvSpPr txBox="1"/>
            <p:nvPr/>
          </p:nvSpPr>
          <p:spPr>
            <a:xfrm>
              <a:off x="438150" y="5010150"/>
              <a:ext cx="704469" cy="876300"/>
            </a:xfrm>
            <a:prstGeom prst="rect">
              <a:avLst/>
            </a:prstGeom>
            <a:noFill/>
            <a:ln>
              <a:noFill/>
            </a:ln>
          </p:spPr>
          <p:txBody>
            <a:bodyPr wrap="none" lIns="0" tIns="0" rIns="0" bIns="0" anchor="t" anchorCtr="0">
              <a:spAutoFit/>
            </a:bodyPr>
            <a:lstStyle/>
            <a:p>
              <a:pPr algn="l"/>
              <a:r>
                <a:rPr lang="zh-CN" sz="4500" dirty="0">
                  <a:solidFill>
                    <a:schemeClr val="accent1"/>
                  </a:solidFill>
                  <a:latin typeface="+mn-lt"/>
                  <a:ea typeface="+mn-ea"/>
                  <a:cs typeface="+mn-cs"/>
                </a:rPr>
                <a:t>04</a:t>
              </a:r>
            </a:p>
          </p:txBody>
        </p:sp>
        <p:sp>
          <p:nvSpPr>
            <p:cNvPr id="25" name="TextBox 25"/>
            <p:cNvSpPr txBox="1"/>
            <p:nvPr/>
          </p:nvSpPr>
          <p:spPr>
            <a:xfrm>
              <a:off x="1618107" y="4993005"/>
              <a:ext cx="2109170"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WP4 系统与验证</a:t>
              </a:r>
            </a:p>
          </p:txBody>
        </p:sp>
        <p:sp>
          <p:nvSpPr>
            <p:cNvPr id="26" name="TextBox 26"/>
            <p:cNvSpPr txBox="1"/>
            <p:nvPr/>
          </p:nvSpPr>
          <p:spPr>
            <a:xfrm>
              <a:off x="1619631" y="5444490"/>
              <a:ext cx="525231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节点 / 管理软件 / 台架 → 独立实测 → 数据与报告</a:t>
              </a:r>
            </a:p>
          </p:txBody>
        </p:sp>
        <p:sp>
          <p:nvSpPr>
            <p:cNvPr id="27" name="Line 27"/>
            <p:cNvSpPr/>
            <p:nvPr/>
          </p:nvSpPr>
          <p:spPr>
            <a:xfrm>
              <a:off x="1628775" y="5838825"/>
              <a:ext cx="10106025" cy="9525"/>
            </a:xfrm>
            <a:custGeom>
              <a:avLst/>
              <a:gdLst/>
              <a:ahLst/>
              <a:cxnLst/>
              <a:rect l="l" t="t" r="r" b="b"/>
              <a:pathLst>
                <a:path w="10106025" h="9525">
                  <a:moveTo>
                    <a:pt x="0" y="0"/>
                  </a:moveTo>
                  <a:lnTo>
                    <a:pt x="10106025" y="0"/>
                  </a:lnTo>
                </a:path>
              </a:pathLst>
            </a:custGeom>
            <a:noFill/>
            <a:ln w="9525">
              <a:solidFill>
                <a:schemeClr val="accent6"/>
              </a:solidFill>
            </a:ln>
          </p:spPr>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304544"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布点假设｜未标定</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5968746" cy="616077"/>
            <a:chOff x="441198" y="812483"/>
            <a:chExt cx="5968746" cy="616077"/>
          </a:xfrm>
        </p:grpSpPr>
        <p:sp>
          <p:nvSpPr>
            <p:cNvPr id="7" name="TextBox 7"/>
            <p:cNvSpPr txBox="1"/>
            <p:nvPr/>
          </p:nvSpPr>
          <p:spPr>
            <a:xfrm>
              <a:off x="441198" y="812483"/>
              <a:ext cx="5968746"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双压力测点为有限诊断补充依据</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473952"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来源：diagnosis_feasibility.py 的布点假设；平方律及负载未标定。设计示意，非样机。</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05 / 15</a:t>
            </a:r>
          </a:p>
        </p:txBody>
      </p:sp>
      <p:grpSp>
        <p:nvGrpSpPr>
          <p:cNvPr id="40" name="hydraulic-model"/>
          <p:cNvGrpSpPr/>
          <p:nvPr/>
        </p:nvGrpSpPr>
        <p:grpSpPr>
          <a:xfrm>
            <a:off x="484632" y="1830705"/>
            <a:ext cx="10486644" cy="4221670"/>
            <a:chOff x="484632" y="1830705"/>
            <a:chExt cx="10486644" cy="4221670"/>
          </a:xfrm>
        </p:grpSpPr>
        <p:sp>
          <p:nvSpPr>
            <p:cNvPr id="12" name="TextBox 12"/>
            <p:cNvSpPr txBox="1"/>
            <p:nvPr/>
          </p:nvSpPr>
          <p:spPr>
            <a:xfrm>
              <a:off x="484632" y="1830705"/>
              <a:ext cx="4237063"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共同供水 → 双支路 → P0 / P1 / Q</a:t>
              </a:r>
            </a:p>
          </p:txBody>
        </p:sp>
        <p:sp>
          <p:nvSpPr>
            <p:cNvPr id="13" name="Line 13"/>
            <p:cNvSpPr/>
            <p:nvPr/>
          </p:nvSpPr>
          <p:spPr>
            <a:xfrm>
              <a:off x="762000" y="3400425"/>
              <a:ext cx="2667000" cy="9525"/>
            </a:xfrm>
            <a:custGeom>
              <a:avLst/>
              <a:gdLst/>
              <a:ahLst/>
              <a:cxnLst/>
              <a:rect l="l" t="t" r="r" b="b"/>
              <a:pathLst>
                <a:path w="2667000" h="9525">
                  <a:moveTo>
                    <a:pt x="0" y="0"/>
                  </a:moveTo>
                  <a:lnTo>
                    <a:pt x="2667000" y="0"/>
                  </a:lnTo>
                </a:path>
              </a:pathLst>
            </a:custGeom>
            <a:noFill/>
            <a:ln w="38100">
              <a:solidFill>
                <a:schemeClr val="accent1"/>
              </a:solidFill>
            </a:ln>
          </p:spPr>
        </p:sp>
        <p:sp>
          <p:nvSpPr>
            <p:cNvPr id="14" name="Line 14"/>
            <p:cNvSpPr/>
            <p:nvPr/>
          </p:nvSpPr>
          <p:spPr>
            <a:xfrm>
              <a:off x="3429000" y="2714625"/>
              <a:ext cx="9525" cy="1981200"/>
            </a:xfrm>
            <a:custGeom>
              <a:avLst/>
              <a:gdLst/>
              <a:ahLst/>
              <a:cxnLst/>
              <a:rect l="l" t="t" r="r" b="b"/>
              <a:pathLst>
                <a:path w="9525" h="1981200">
                  <a:moveTo>
                    <a:pt x="0" y="0"/>
                  </a:moveTo>
                  <a:lnTo>
                    <a:pt x="0" y="1981200"/>
                  </a:lnTo>
                </a:path>
              </a:pathLst>
            </a:custGeom>
            <a:noFill/>
            <a:ln w="38100">
              <a:solidFill>
                <a:schemeClr val="accent1"/>
              </a:solidFill>
            </a:ln>
          </p:spPr>
        </p:sp>
        <p:sp>
          <p:nvSpPr>
            <p:cNvPr id="15" name="Line 15"/>
            <p:cNvSpPr/>
            <p:nvPr/>
          </p:nvSpPr>
          <p:spPr>
            <a:xfrm>
              <a:off x="3429000" y="2714625"/>
              <a:ext cx="6572250" cy="9525"/>
            </a:xfrm>
            <a:custGeom>
              <a:avLst/>
              <a:gdLst/>
              <a:ahLst/>
              <a:cxnLst/>
              <a:rect l="l" t="t" r="r" b="b"/>
              <a:pathLst>
                <a:path w="6572250" h="9525">
                  <a:moveTo>
                    <a:pt x="0" y="0"/>
                  </a:moveTo>
                  <a:lnTo>
                    <a:pt x="6572250" y="0"/>
                  </a:lnTo>
                </a:path>
              </a:pathLst>
            </a:custGeom>
            <a:noFill/>
            <a:ln w="38100">
              <a:solidFill>
                <a:schemeClr val="accent1"/>
              </a:solidFill>
            </a:ln>
          </p:spPr>
        </p:sp>
        <p:sp>
          <p:nvSpPr>
            <p:cNvPr id="16" name="Line 16"/>
            <p:cNvSpPr/>
            <p:nvPr/>
          </p:nvSpPr>
          <p:spPr>
            <a:xfrm>
              <a:off x="3429000" y="4695825"/>
              <a:ext cx="6572250" cy="9525"/>
            </a:xfrm>
            <a:custGeom>
              <a:avLst/>
              <a:gdLst/>
              <a:ahLst/>
              <a:cxnLst/>
              <a:rect l="l" t="t" r="r" b="b"/>
              <a:pathLst>
                <a:path w="6572250" h="9525">
                  <a:moveTo>
                    <a:pt x="0" y="0"/>
                  </a:moveTo>
                  <a:lnTo>
                    <a:pt x="6572250" y="0"/>
                  </a:lnTo>
                </a:path>
              </a:pathLst>
            </a:custGeom>
            <a:noFill/>
            <a:ln w="38100">
              <a:solidFill>
                <a:schemeClr val="accent1"/>
              </a:solidFill>
            </a:ln>
          </p:spPr>
        </p:sp>
        <p:sp>
          <p:nvSpPr>
            <p:cNvPr id="17" name="Rectangle 17"/>
            <p:cNvSpPr/>
            <p:nvPr/>
          </p:nvSpPr>
          <p:spPr>
            <a:xfrm>
              <a:off x="1771650" y="3143250"/>
              <a:ext cx="952500" cy="514350"/>
            </a:xfrm>
            <a:prstGeom prst="rect">
              <a:avLst/>
            </a:prstGeom>
            <a:solidFill>
              <a:schemeClr val="lt1"/>
            </a:solidFill>
            <a:ln w="9525">
              <a:solidFill>
                <a:schemeClr val="accent1"/>
              </a:solidFill>
            </a:ln>
          </p:spPr>
        </p:sp>
        <p:sp>
          <p:nvSpPr>
            <p:cNvPr id="18" name="TextBox 18"/>
            <p:cNvSpPr txBox="1"/>
            <p:nvPr/>
          </p:nvSpPr>
          <p:spPr>
            <a:xfrm>
              <a:off x="1941957" y="3259455"/>
              <a:ext cx="341109" cy="410718"/>
            </a:xfrm>
            <a:prstGeom prst="rect">
              <a:avLst/>
            </a:prstGeom>
            <a:noFill/>
            <a:ln>
              <a:noFill/>
            </a:ln>
          </p:spPr>
          <p:txBody>
            <a:bodyPr wrap="none" lIns="0" tIns="0" rIns="0" bIns="0" anchor="t" anchorCtr="0">
              <a:spAutoFit/>
            </a:bodyPr>
            <a:lstStyle/>
            <a:p>
              <a:pPr algn="l"/>
              <a:r>
                <a:rPr lang="en-US" sz="2100" dirty="0">
                  <a:solidFill>
                    <a:schemeClr val="accent1"/>
                  </a:solidFill>
                  <a:latin typeface="+mn-lt"/>
                  <a:ea typeface="+mn-ea"/>
                  <a:cs typeface="+mn-cs"/>
                </a:rPr>
                <a:t>Rc</a:t>
              </a:r>
            </a:p>
          </p:txBody>
        </p:sp>
        <p:sp>
          <p:nvSpPr>
            <p:cNvPr id="19" name="Rectangle 19"/>
            <p:cNvSpPr/>
            <p:nvPr/>
          </p:nvSpPr>
          <p:spPr>
            <a:xfrm>
              <a:off x="4362450" y="2457450"/>
              <a:ext cx="1162050" cy="514350"/>
            </a:xfrm>
            <a:prstGeom prst="rect">
              <a:avLst/>
            </a:prstGeom>
            <a:solidFill>
              <a:schemeClr val="lt1"/>
            </a:solidFill>
            <a:ln w="9525">
              <a:solidFill>
                <a:schemeClr val="accent2"/>
              </a:solidFill>
            </a:ln>
          </p:spPr>
        </p:sp>
        <p:sp>
          <p:nvSpPr>
            <p:cNvPr id="20" name="TextBox 20"/>
            <p:cNvSpPr txBox="1"/>
            <p:nvPr/>
          </p:nvSpPr>
          <p:spPr>
            <a:xfrm>
              <a:off x="4515231" y="2606040"/>
              <a:ext cx="502920" cy="352044"/>
            </a:xfrm>
            <a:prstGeom prst="rect">
              <a:avLst/>
            </a:prstGeom>
            <a:noFill/>
            <a:ln>
              <a:noFill/>
            </a:ln>
          </p:spPr>
          <p:txBody>
            <a:bodyPr wrap="none" lIns="0" tIns="0" rIns="0" bIns="0" anchor="t" anchorCtr="0">
              <a:spAutoFit/>
            </a:bodyPr>
            <a:lstStyle/>
            <a:p>
              <a:pPr algn="l"/>
              <a:r>
                <a:rPr lang="zh-CN" sz="1800" dirty="0">
                  <a:solidFill>
                    <a:schemeClr val="accent2"/>
                  </a:solidFill>
                  <a:latin typeface="+mn-lt"/>
                  <a:ea typeface="+mn-ea"/>
                  <a:cs typeface="+mn-cs"/>
                </a:rPr>
                <a:t>节流</a:t>
              </a:r>
            </a:p>
          </p:txBody>
        </p:sp>
        <p:sp>
          <p:nvSpPr>
            <p:cNvPr id="21" name="Ellipse 21"/>
            <p:cNvSpPr/>
            <p:nvPr/>
          </p:nvSpPr>
          <p:spPr>
            <a:xfrm>
              <a:off x="3590925" y="2466975"/>
              <a:ext cx="495300" cy="495300"/>
            </a:xfrm>
            <a:prstGeom prst="ellipse">
              <a:avLst/>
            </a:prstGeom>
            <a:solidFill>
              <a:schemeClr val="lt1"/>
            </a:solidFill>
            <a:ln w="28575">
              <a:solidFill>
                <a:schemeClr val="accent3"/>
              </a:solidFill>
            </a:ln>
          </p:spPr>
        </p:sp>
        <p:sp>
          <p:nvSpPr>
            <p:cNvPr id="22" name="TextBox 22"/>
            <p:cNvSpPr txBox="1"/>
            <p:nvPr/>
          </p:nvSpPr>
          <p:spPr>
            <a:xfrm>
              <a:off x="3688613" y="2606040"/>
              <a:ext cx="299923" cy="352044"/>
            </a:xfrm>
            <a:prstGeom prst="rect">
              <a:avLst/>
            </a:prstGeom>
            <a:noFill/>
            <a:ln>
              <a:noFill/>
            </a:ln>
          </p:spPr>
          <p:txBody>
            <a:bodyPr wrap="none" lIns="0" tIns="0" rIns="0" bIns="0" anchor="t" anchorCtr="0">
              <a:spAutoFit/>
            </a:bodyPr>
            <a:lstStyle/>
            <a:p>
              <a:pPr algn="ctr"/>
              <a:r>
                <a:rPr lang="en-US" sz="1800" dirty="0">
                  <a:solidFill>
                    <a:schemeClr val="accent3"/>
                  </a:solidFill>
                  <a:latin typeface="+mn-lt"/>
                  <a:ea typeface="+mn-ea"/>
                  <a:cs typeface="+mn-cs"/>
                </a:rPr>
                <a:t>P0</a:t>
              </a:r>
            </a:p>
          </p:txBody>
        </p:sp>
        <p:sp>
          <p:nvSpPr>
            <p:cNvPr id="23" name="Ellipse 23"/>
            <p:cNvSpPr/>
            <p:nvPr/>
          </p:nvSpPr>
          <p:spPr>
            <a:xfrm>
              <a:off x="6677025" y="2466975"/>
              <a:ext cx="495300" cy="495300"/>
            </a:xfrm>
            <a:prstGeom prst="ellipse">
              <a:avLst/>
            </a:prstGeom>
            <a:solidFill>
              <a:schemeClr val="lt1"/>
            </a:solidFill>
            <a:ln w="28575">
              <a:solidFill>
                <a:schemeClr val="accent1"/>
              </a:solidFill>
            </a:ln>
          </p:spPr>
        </p:sp>
        <p:sp>
          <p:nvSpPr>
            <p:cNvPr id="24" name="TextBox 24"/>
            <p:cNvSpPr txBox="1"/>
            <p:nvPr/>
          </p:nvSpPr>
          <p:spPr>
            <a:xfrm>
              <a:off x="6774713" y="2606040"/>
              <a:ext cx="299923" cy="352044"/>
            </a:xfrm>
            <a:prstGeom prst="rect">
              <a:avLst/>
            </a:prstGeom>
            <a:noFill/>
            <a:ln>
              <a:noFill/>
            </a:ln>
          </p:spPr>
          <p:txBody>
            <a:bodyPr wrap="none" lIns="0" tIns="0" rIns="0" bIns="0" anchor="t" anchorCtr="0">
              <a:spAutoFit/>
            </a:bodyPr>
            <a:lstStyle/>
            <a:p>
              <a:pPr algn="ctr"/>
              <a:r>
                <a:rPr lang="en-US" sz="1800" dirty="0">
                  <a:solidFill>
                    <a:schemeClr val="accent1"/>
                  </a:solidFill>
                  <a:latin typeface="+mn-lt"/>
                  <a:ea typeface="+mn-ea"/>
                  <a:cs typeface="+mn-cs"/>
                </a:rPr>
                <a:t>P1</a:t>
              </a:r>
            </a:p>
          </p:txBody>
        </p:sp>
        <p:sp>
          <p:nvSpPr>
            <p:cNvPr id="25" name="Ellipse 25"/>
            <p:cNvSpPr/>
            <p:nvPr/>
          </p:nvSpPr>
          <p:spPr>
            <a:xfrm>
              <a:off x="7991475" y="2466975"/>
              <a:ext cx="495300" cy="495300"/>
            </a:xfrm>
            <a:prstGeom prst="ellipse">
              <a:avLst/>
            </a:prstGeom>
            <a:solidFill>
              <a:schemeClr val="lt1"/>
            </a:solidFill>
            <a:ln w="28575">
              <a:solidFill>
                <a:schemeClr val="accent1"/>
              </a:solidFill>
            </a:ln>
          </p:spPr>
        </p:sp>
        <p:sp>
          <p:nvSpPr>
            <p:cNvPr id="26" name="TextBox 26"/>
            <p:cNvSpPr txBox="1"/>
            <p:nvPr/>
          </p:nvSpPr>
          <p:spPr>
            <a:xfrm>
              <a:off x="8133969" y="2606040"/>
              <a:ext cx="210312" cy="352044"/>
            </a:xfrm>
            <a:prstGeom prst="rect">
              <a:avLst/>
            </a:prstGeom>
            <a:noFill/>
            <a:ln>
              <a:noFill/>
            </a:ln>
          </p:spPr>
          <p:txBody>
            <a:bodyPr wrap="none" lIns="0" tIns="0" rIns="0" bIns="0" anchor="t" anchorCtr="0">
              <a:spAutoFit/>
            </a:bodyPr>
            <a:lstStyle/>
            <a:p>
              <a:pPr algn="ctr"/>
              <a:r>
                <a:rPr lang="en-US" sz="1800" dirty="0">
                  <a:solidFill>
                    <a:schemeClr val="accent1"/>
                  </a:solidFill>
                  <a:latin typeface="+mn-lt"/>
                  <a:ea typeface="+mn-ea"/>
                  <a:cs typeface="+mn-cs"/>
                </a:rPr>
                <a:t>Q</a:t>
              </a:r>
            </a:p>
          </p:txBody>
        </p:sp>
        <p:sp>
          <p:nvSpPr>
            <p:cNvPr id="27" name="Rectangle 27"/>
            <p:cNvSpPr/>
            <p:nvPr/>
          </p:nvSpPr>
          <p:spPr>
            <a:xfrm>
              <a:off x="9277350" y="2381250"/>
              <a:ext cx="781050" cy="647700"/>
            </a:xfrm>
            <a:prstGeom prst="rect">
              <a:avLst/>
            </a:prstGeom>
            <a:solidFill>
              <a:schemeClr val="lt2"/>
            </a:solidFill>
            <a:ln w="9525">
              <a:solidFill>
                <a:schemeClr val="accent1"/>
              </a:solidFill>
            </a:ln>
          </p:spPr>
        </p:sp>
        <p:sp>
          <p:nvSpPr>
            <p:cNvPr id="28" name="Rectangle 28"/>
            <p:cNvSpPr/>
            <p:nvPr/>
          </p:nvSpPr>
          <p:spPr>
            <a:xfrm>
              <a:off x="9277350" y="4371975"/>
              <a:ext cx="781050" cy="647700"/>
            </a:xfrm>
            <a:prstGeom prst="rect">
              <a:avLst/>
            </a:prstGeom>
            <a:solidFill>
              <a:schemeClr val="lt2"/>
            </a:solidFill>
            <a:ln w="9525">
              <a:solidFill>
                <a:schemeClr val="accent1"/>
              </a:solidFill>
            </a:ln>
          </p:spPr>
        </p:sp>
        <p:sp>
          <p:nvSpPr>
            <p:cNvPr id="29" name="TextBox 29"/>
            <p:cNvSpPr txBox="1"/>
            <p:nvPr/>
          </p:nvSpPr>
          <p:spPr>
            <a:xfrm>
              <a:off x="609981" y="2777490"/>
              <a:ext cx="777011"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供压Ps</a:t>
              </a:r>
            </a:p>
          </p:txBody>
        </p:sp>
        <p:sp>
          <p:nvSpPr>
            <p:cNvPr id="30" name="TextBox 30"/>
            <p:cNvSpPr txBox="1"/>
            <p:nvPr/>
          </p:nvSpPr>
          <p:spPr>
            <a:xfrm>
              <a:off x="6353556" y="2063115"/>
              <a:ext cx="643738"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A下游</a:t>
              </a:r>
            </a:p>
          </p:txBody>
        </p:sp>
        <p:sp>
          <p:nvSpPr>
            <p:cNvPr id="31" name="TextBox 31"/>
            <p:cNvSpPr txBox="1"/>
            <p:nvPr/>
          </p:nvSpPr>
          <p:spPr>
            <a:xfrm>
              <a:off x="5686806" y="4110990"/>
              <a:ext cx="1128370"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B支路切换</a:t>
              </a:r>
            </a:p>
          </p:txBody>
        </p:sp>
        <p:sp>
          <p:nvSpPr>
            <p:cNvPr id="32" name="Line 32"/>
            <p:cNvSpPr/>
            <p:nvPr/>
          </p:nvSpPr>
          <p:spPr>
            <a:xfrm>
              <a:off x="8801100" y="2714625"/>
              <a:ext cx="9525" cy="762000"/>
            </a:xfrm>
            <a:custGeom>
              <a:avLst/>
              <a:gdLst/>
              <a:ahLst/>
              <a:cxnLst/>
              <a:rect l="l" t="t" r="r" b="b"/>
              <a:pathLst>
                <a:path w="9525" h="762000">
                  <a:moveTo>
                    <a:pt x="0" y="0"/>
                  </a:moveTo>
                  <a:lnTo>
                    <a:pt x="0" y="762000"/>
                  </a:lnTo>
                </a:path>
              </a:pathLst>
            </a:custGeom>
            <a:noFill/>
            <a:ln w="19050">
              <a:solidFill>
                <a:schemeClr val="accent2"/>
              </a:solidFill>
            </a:ln>
          </p:spPr>
        </p:sp>
        <p:sp>
          <p:nvSpPr>
            <p:cNvPr id="33" name="Line 33"/>
            <p:cNvSpPr/>
            <p:nvPr/>
          </p:nvSpPr>
          <p:spPr>
            <a:xfrm>
              <a:off x="8801100" y="3476625"/>
              <a:ext cx="1485900" cy="9525"/>
            </a:xfrm>
            <a:custGeom>
              <a:avLst/>
              <a:gdLst/>
              <a:ahLst/>
              <a:cxnLst/>
              <a:rect l="l" t="t" r="r" b="b"/>
              <a:pathLst>
                <a:path w="1485900" h="9525">
                  <a:moveTo>
                    <a:pt x="0" y="0"/>
                  </a:moveTo>
                  <a:lnTo>
                    <a:pt x="1485900" y="0"/>
                  </a:lnTo>
                </a:path>
              </a:pathLst>
            </a:custGeom>
            <a:noFill/>
            <a:ln w="19050">
              <a:solidFill>
                <a:schemeClr val="accent2"/>
              </a:solidFill>
            </a:ln>
          </p:spPr>
        </p:sp>
        <p:sp>
          <p:nvSpPr>
            <p:cNvPr id="34" name="TextBox 34"/>
            <p:cNvSpPr txBox="1"/>
            <p:nvPr/>
          </p:nvSpPr>
          <p:spPr>
            <a:xfrm>
              <a:off x="10468356" y="3348990"/>
              <a:ext cx="502920" cy="352044"/>
            </a:xfrm>
            <a:prstGeom prst="rect">
              <a:avLst/>
            </a:prstGeom>
            <a:noFill/>
            <a:ln>
              <a:noFill/>
            </a:ln>
          </p:spPr>
          <p:txBody>
            <a:bodyPr wrap="none" lIns="0" tIns="0" rIns="0" bIns="0" anchor="t" anchorCtr="0">
              <a:spAutoFit/>
            </a:bodyPr>
            <a:lstStyle/>
            <a:p>
              <a:pPr algn="l"/>
              <a:r>
                <a:rPr lang="zh-CN" sz="1800" dirty="0">
                  <a:solidFill>
                    <a:schemeClr val="accent2"/>
                  </a:solidFill>
                  <a:latin typeface="+mn-lt"/>
                  <a:ea typeface="+mn-ea"/>
                  <a:cs typeface="+mn-cs"/>
                </a:rPr>
                <a:t>泄漏</a:t>
              </a:r>
            </a:p>
          </p:txBody>
        </p:sp>
        <p:sp>
          <p:nvSpPr>
            <p:cNvPr id="35" name="TextBox 35"/>
            <p:cNvSpPr txBox="1"/>
            <p:nvPr/>
          </p:nvSpPr>
          <p:spPr>
            <a:xfrm>
              <a:off x="10287381" y="2567940"/>
              <a:ext cx="50292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负载</a:t>
              </a:r>
            </a:p>
          </p:txBody>
        </p:sp>
        <p:sp>
          <p:nvSpPr>
            <p:cNvPr id="36" name="TextBox 36"/>
            <p:cNvSpPr txBox="1"/>
            <p:nvPr/>
          </p:nvSpPr>
          <p:spPr>
            <a:xfrm>
              <a:off x="10287381" y="4577715"/>
              <a:ext cx="50292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负载</a:t>
              </a:r>
            </a:p>
          </p:txBody>
        </p:sp>
        <mc:AlternateContent xmlns:mc="http://schemas.openxmlformats.org/markup-compatibility/2006">
          <mc:Choice xmlns:a14="http://schemas.microsoft.com/office/drawing/2010/main" Requires="a14">
            <p:sp>
              <p:nvSpPr>
                <p:cNvPr id="37" name="TextBox 37"/>
                <p:cNvSpPr txBox="1"/>
                <p:nvPr/>
              </p:nvSpPr>
              <p:spPr>
                <a:xfrm>
                  <a:off x="484632" y="5196840"/>
                  <a:ext cx="2659532" cy="508597"/>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负载假设：</a:t>
                  </a:r>
                  <a14:m>
                    <m:oMath xmlns:a="http://schemas.openxmlformats.org/drawingml/2006/main" xmlns:m="http://schemas.openxmlformats.org/officeDocument/2006/math">
                      <m:r>
                        <a:rPr lang="zh-CN" sz="2100" dirty="0">
                          <a:solidFill>
                            <a:schemeClr val="accent1"/>
                          </a:solidFill>
                          <a:latin typeface="Cambria Math"/>
                          <a:ea typeface="Cambria Math"/>
                          <a:cs typeface="Cambria Math"/>
                        </a:rPr>
                        <m:t>Q</m:t>
                      </m:r>
                      <m:r>
                        <m:rPr>
                          <m:sty m:val="p"/>
                        </m:rPr>
                        <a:rPr lang="zh-CN" sz="2100" dirty="0">
                          <a:solidFill>
                            <a:schemeClr val="accent1"/>
                          </a:solidFill>
                          <a:latin typeface="Cambria Math"/>
                          <a:ea typeface="Cambria Math"/>
                          <a:cs typeface="Cambria Math"/>
                        </a:rPr>
                        <m:t>=</m:t>
                      </m:r>
                      <m:r>
                        <a:rPr lang="zh-CN" sz="2100" dirty="0">
                          <a:solidFill>
                            <a:schemeClr val="accent1"/>
                          </a:solidFill>
                          <a:latin typeface="Cambria Math"/>
                          <a:ea typeface="Cambria Math"/>
                          <a:cs typeface="Cambria Math"/>
                        </a:rPr>
                        <m:t>C</m:t>
                      </m:r>
                      <m:rad>
                        <m:radPr>
                          <m:degHide m:val="on"/>
                          <m:ctrlPr>
                            <a:rPr lang="zh-CN" sz="2100" dirty="0">
                              <a:solidFill>
                                <a:schemeClr val="accent1"/>
                              </a:solidFill>
                              <a:latin typeface="Cambria Math"/>
                              <a:ea typeface="Cambria Math"/>
                              <a:cs typeface="Cambria Math"/>
                            </a:rPr>
                          </m:ctrlPr>
                        </m:radPr>
                        <m:deg/>
                        <m:e>
                          <m:sSub>
                            <m:e>
                              <m:r>
                                <a:rPr lang="zh-CN" sz="2100" dirty="0">
                                  <a:solidFill>
                                    <a:schemeClr val="accent1"/>
                                  </a:solidFill>
                                  <a:latin typeface="Cambria Math"/>
                                  <a:ea typeface="Cambria Math"/>
                                  <a:cs typeface="Cambria Math"/>
                                </a:rPr>
                                <m:t>P</m:t>
                              </m:r>
                            </m:e>
                            <m:sub>
                              <m:r>
                                <a:rPr lang="zh-CN" sz="2100" dirty="0">
                                  <a:solidFill>
                                    <a:schemeClr val="accent1"/>
                                  </a:solidFill>
                                  <a:latin typeface="Cambria Math"/>
                                  <a:ea typeface="Cambria Math"/>
                                  <a:cs typeface="Cambria Math"/>
                                </a:rPr>
                                <m:t>1</m:t>
                              </m:r>
                            </m:sub>
                          </m:sSub>
                        </m:e>
                      </m:rad>
                    </m:oMath>
                  </a14:m>
                </a:p>
              </p:txBody>
            </p:sp>
          </mc:Choice>
        </mc:AlternateContent>
        <p:sp>
          <p:nvSpPr>
            <p:cNvPr id="38" name="TextBox 38"/>
            <p:cNvSpPr txBox="1"/>
            <p:nvPr/>
          </p:nvSpPr>
          <p:spPr>
            <a:xfrm>
              <a:off x="5001006" y="5282565"/>
              <a:ext cx="2996489"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压降假设：P0 − P1 = R·Q²</a:t>
              </a:r>
            </a:p>
          </p:txBody>
        </p:sp>
        <p:sp>
          <p:nvSpPr>
            <p:cNvPr id="39" name="TextBox 39"/>
            <p:cNvSpPr txBox="1"/>
            <p:nvPr/>
          </p:nvSpPr>
          <p:spPr>
            <a:xfrm>
              <a:off x="488442" y="5788342"/>
              <a:ext cx="5284089"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测点间健康压降与差分不确定度必须先标定；图为集中等效模型。</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304544"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合成模型｜非实测</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6392799" cy="616077"/>
            <a:chOff x="441198" y="812483"/>
            <a:chExt cx="6392799" cy="616077"/>
          </a:xfrm>
        </p:grpSpPr>
        <p:sp>
          <p:nvSpPr>
            <p:cNvPr id="7" name="TextBox 7"/>
            <p:cNvSpPr txBox="1"/>
            <p:nvPr/>
          </p:nvSpPr>
          <p:spPr>
            <a:xfrm>
              <a:off x="441198" y="812483"/>
              <a:ext cx="6392799"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早期必须参照故障程度与失效判据</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753278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来源：diagnosis_results/summary.json，种子10300、压力噪声σ0.3kPa；未标定合成数据，非实测。</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06 / 15</a:t>
            </a:r>
          </a:p>
        </p:txBody>
      </p:sp>
      <p:grpSp>
        <p:nvGrpSpPr>
          <p:cNvPr id="16" name="pressure-heading"/>
          <p:cNvGrpSpPr/>
          <p:nvPr/>
        </p:nvGrpSpPr>
        <p:grpSpPr>
          <a:xfrm>
            <a:off x="448056" y="1701165"/>
            <a:ext cx="9967836" cy="352044"/>
            <a:chOff x="448056" y="1701165"/>
            <a:chExt cx="9967836" cy="352044"/>
          </a:xfrm>
        </p:grpSpPr>
        <p:sp>
          <p:nvSpPr>
            <p:cNvPr id="12" name="TextBox 12"/>
            <p:cNvSpPr txBox="1"/>
            <p:nvPr/>
          </p:nvSpPr>
          <p:spPr>
            <a:xfrm>
              <a:off x="448056" y="1701165"/>
              <a:ext cx="987552" cy="352044"/>
            </a:xfrm>
            <a:prstGeom prst="rect">
              <a:avLst/>
            </a:prstGeom>
            <a:noFill/>
            <a:ln>
              <a:noFill/>
            </a:ln>
          </p:spPr>
          <p:txBody>
            <a:bodyPr wrap="none" lIns="0" tIns="0" rIns="0" bIns="0" anchor="t" anchorCtr="0">
              <a:spAutoFit/>
            </a:bodyPr>
            <a:lstStyle/>
            <a:p>
              <a:pPr algn="l"/>
              <a:r>
                <a:rPr lang="zh-CN" sz="1800" dirty="0">
                  <a:solidFill>
                    <a:schemeClr val="accent2"/>
                  </a:solidFill>
                  <a:latin typeface="+mn-lt"/>
                  <a:ea typeface="+mn-ea"/>
                  <a:cs typeface="+mn-cs"/>
                </a:rPr>
                <a:t>渐进泄漏</a:t>
              </a:r>
            </a:p>
          </p:txBody>
        </p:sp>
        <p:sp>
          <p:nvSpPr>
            <p:cNvPr id="13" name="TextBox 13"/>
            <p:cNvSpPr txBox="1"/>
            <p:nvPr/>
          </p:nvSpPr>
          <p:spPr>
            <a:xfrm>
              <a:off x="2705481" y="1701165"/>
              <a:ext cx="987552"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渐进受限</a:t>
              </a:r>
            </a:p>
          </p:txBody>
        </p:sp>
        <p:sp>
          <p:nvSpPr>
            <p:cNvPr id="14" name="TextBox 14"/>
            <p:cNvSpPr txBox="1"/>
            <p:nvPr/>
          </p:nvSpPr>
          <p:spPr>
            <a:xfrm>
              <a:off x="5210556" y="1701165"/>
              <a:ext cx="1435837" cy="352044"/>
            </a:xfrm>
            <a:prstGeom prst="rect">
              <a:avLst/>
            </a:prstGeom>
            <a:noFill/>
            <a:ln>
              <a:noFill/>
            </a:ln>
          </p:spPr>
          <p:txBody>
            <a:bodyPr wrap="none" lIns="0" tIns="0" rIns="0" bIns="0" anchor="t" anchorCtr="0">
              <a:spAutoFit/>
            </a:bodyPr>
            <a:lstStyle/>
            <a:p>
              <a:pPr algn="l"/>
              <a:r>
                <a:rPr lang="zh-CN" sz="1800" dirty="0">
                  <a:solidFill>
                    <a:schemeClr val="accent3"/>
                  </a:solidFill>
                  <a:latin typeface="+mn-lt"/>
                  <a:ea typeface="+mn-ea"/>
                  <a:cs typeface="+mn-cs"/>
                </a:rPr>
                <a:t>15%演示判据</a:t>
              </a:r>
            </a:p>
          </p:txBody>
        </p:sp>
        <p:sp>
          <p:nvSpPr>
            <p:cNvPr id="15" name="TextBox 15"/>
            <p:cNvSpPr txBox="1"/>
            <p:nvPr/>
          </p:nvSpPr>
          <p:spPr>
            <a:xfrm>
              <a:off x="8784717" y="1749742"/>
              <a:ext cx="1631175"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纵轴：流量偏离 / %</a:t>
              </a:r>
            </a:p>
          </p:txBody>
        </p:sp>
      </p:grpSp>
      <p:grpSp>
        <p:nvGrpSpPr>
          <p:cNvPr id="42" name="pressure-response"/>
          <p:cNvGrpSpPr/>
          <p:nvPr/>
        </p:nvGrpSpPr>
        <p:grpSpPr>
          <a:xfrm>
            <a:off x="764781" y="2025968"/>
            <a:ext cx="10669610" cy="2931033"/>
            <a:chOff x="764781" y="2025968"/>
            <a:chExt cx="10669610" cy="2931033"/>
          </a:xfrm>
        </p:grpSpPr>
        <p:grpSp>
          <p:nvGrpSpPr>
            <p:cNvPr id="41" name="pressure-response-chartArea"/>
            <p:cNvGrpSpPr/>
            <p:nvPr/>
          </p:nvGrpSpPr>
          <p:grpSpPr>
            <a:xfrm>
              <a:off x="764781" y="2025968"/>
              <a:ext cx="10669610" cy="2931033"/>
              <a:chOff x="764781" y="2025968"/>
              <a:chExt cx="10669610" cy="2931033"/>
            </a:xfrm>
          </p:grpSpPr>
          <p:sp>
            <p:nvSpPr>
              <p:cNvPr id="17" name="Line 17"/>
              <p:cNvSpPr/>
              <p:nvPr/>
            </p:nvSpPr>
            <p:spPr>
              <a:xfrm>
                <a:off x="1123950" y="4572000"/>
                <a:ext cx="10153650" cy="9525"/>
              </a:xfrm>
              <a:custGeom>
                <a:avLst/>
                <a:gdLst/>
                <a:ahLst/>
                <a:cxnLst/>
                <a:rect l="l" t="t" r="r" b="b"/>
                <a:pathLst>
                  <a:path w="10153650" h="9525">
                    <a:moveTo>
                      <a:pt x="0" y="0"/>
                    </a:moveTo>
                    <a:lnTo>
                      <a:pt x="10153650" y="0"/>
                    </a:lnTo>
                  </a:path>
                </a:pathLst>
              </a:custGeom>
              <a:noFill/>
              <a:ln w="9525">
                <a:solidFill>
                  <a:srgbClr val="E0E7E2"/>
                </a:solidFill>
              </a:ln>
            </p:spPr>
          </p:sp>
          <p:sp>
            <p:nvSpPr>
              <p:cNvPr id="18" name="TextBox 18"/>
              <p:cNvSpPr txBox="1"/>
              <p:nvPr/>
            </p:nvSpPr>
            <p:spPr>
              <a:xfrm>
                <a:off x="864737" y="4483418"/>
                <a:ext cx="113671"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a:t>
                </a:r>
              </a:p>
            </p:txBody>
          </p:sp>
          <p:sp>
            <p:nvSpPr>
              <p:cNvPr id="19" name="Line 19"/>
              <p:cNvSpPr/>
              <p:nvPr/>
            </p:nvSpPr>
            <p:spPr>
              <a:xfrm>
                <a:off x="1123950" y="4080510"/>
                <a:ext cx="10153650" cy="9525"/>
              </a:xfrm>
              <a:custGeom>
                <a:avLst/>
                <a:gdLst/>
                <a:ahLst/>
                <a:cxnLst/>
                <a:rect l="l" t="t" r="r" b="b"/>
                <a:pathLst>
                  <a:path w="10153650" h="9525">
                    <a:moveTo>
                      <a:pt x="0" y="0"/>
                    </a:moveTo>
                    <a:lnTo>
                      <a:pt x="10153650" y="0"/>
                    </a:lnTo>
                  </a:path>
                </a:pathLst>
              </a:custGeom>
              <a:noFill/>
              <a:ln w="9525">
                <a:solidFill>
                  <a:srgbClr val="E0E7E2"/>
                </a:solidFill>
              </a:ln>
            </p:spPr>
          </p:sp>
          <p:sp>
            <p:nvSpPr>
              <p:cNvPr id="20" name="TextBox 20"/>
              <p:cNvSpPr txBox="1"/>
              <p:nvPr/>
            </p:nvSpPr>
            <p:spPr>
              <a:xfrm>
                <a:off x="864737" y="3991927"/>
                <a:ext cx="113671"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6</a:t>
                </a:r>
              </a:p>
            </p:txBody>
          </p:sp>
          <p:sp>
            <p:nvSpPr>
              <p:cNvPr id="21" name="Line 21"/>
              <p:cNvSpPr/>
              <p:nvPr/>
            </p:nvSpPr>
            <p:spPr>
              <a:xfrm>
                <a:off x="1123950" y="3589020"/>
                <a:ext cx="10153650" cy="9525"/>
              </a:xfrm>
              <a:custGeom>
                <a:avLst/>
                <a:gdLst/>
                <a:ahLst/>
                <a:cxnLst/>
                <a:rect l="l" t="t" r="r" b="b"/>
                <a:pathLst>
                  <a:path w="10153650" h="9525">
                    <a:moveTo>
                      <a:pt x="0" y="0"/>
                    </a:moveTo>
                    <a:lnTo>
                      <a:pt x="10153650" y="0"/>
                    </a:lnTo>
                  </a:path>
                </a:pathLst>
              </a:custGeom>
              <a:noFill/>
              <a:ln w="9525">
                <a:solidFill>
                  <a:srgbClr val="E0E7E2"/>
                </a:solidFill>
              </a:ln>
            </p:spPr>
          </p:sp>
          <p:sp>
            <p:nvSpPr>
              <p:cNvPr id="22" name="TextBox 22"/>
              <p:cNvSpPr txBox="1"/>
              <p:nvPr/>
            </p:nvSpPr>
            <p:spPr>
              <a:xfrm>
                <a:off x="764781" y="3500438"/>
                <a:ext cx="21362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12</a:t>
                </a:r>
              </a:p>
            </p:txBody>
          </p:sp>
          <p:sp>
            <p:nvSpPr>
              <p:cNvPr id="23" name="Line 23"/>
              <p:cNvSpPr/>
              <p:nvPr/>
            </p:nvSpPr>
            <p:spPr>
              <a:xfrm>
                <a:off x="1123950" y="3097530"/>
                <a:ext cx="10153650" cy="9525"/>
              </a:xfrm>
              <a:custGeom>
                <a:avLst/>
                <a:gdLst/>
                <a:ahLst/>
                <a:cxnLst/>
                <a:rect l="l" t="t" r="r" b="b"/>
                <a:pathLst>
                  <a:path w="10153650" h="9525">
                    <a:moveTo>
                      <a:pt x="0" y="0"/>
                    </a:moveTo>
                    <a:lnTo>
                      <a:pt x="10153650" y="0"/>
                    </a:lnTo>
                  </a:path>
                </a:pathLst>
              </a:custGeom>
              <a:noFill/>
              <a:ln w="9525">
                <a:solidFill>
                  <a:srgbClr val="E0E7E2"/>
                </a:solidFill>
              </a:ln>
            </p:spPr>
          </p:sp>
          <p:sp>
            <p:nvSpPr>
              <p:cNvPr id="24" name="TextBox 24"/>
              <p:cNvSpPr txBox="1"/>
              <p:nvPr/>
            </p:nvSpPr>
            <p:spPr>
              <a:xfrm>
                <a:off x="764781" y="3008948"/>
                <a:ext cx="21362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18</a:t>
                </a:r>
              </a:p>
            </p:txBody>
          </p:sp>
          <p:sp>
            <p:nvSpPr>
              <p:cNvPr id="25" name="Line 25"/>
              <p:cNvSpPr/>
              <p:nvPr/>
            </p:nvSpPr>
            <p:spPr>
              <a:xfrm>
                <a:off x="1123950" y="2606040"/>
                <a:ext cx="10153650" cy="9525"/>
              </a:xfrm>
              <a:custGeom>
                <a:avLst/>
                <a:gdLst/>
                <a:ahLst/>
                <a:cxnLst/>
                <a:rect l="l" t="t" r="r" b="b"/>
                <a:pathLst>
                  <a:path w="10153650" h="9525">
                    <a:moveTo>
                      <a:pt x="0" y="0"/>
                    </a:moveTo>
                    <a:lnTo>
                      <a:pt x="10153650" y="0"/>
                    </a:lnTo>
                  </a:path>
                </a:pathLst>
              </a:custGeom>
              <a:noFill/>
              <a:ln w="9525">
                <a:solidFill>
                  <a:srgbClr val="E0E7E2"/>
                </a:solidFill>
              </a:ln>
            </p:spPr>
          </p:sp>
          <p:sp>
            <p:nvSpPr>
              <p:cNvPr id="26" name="TextBox 26"/>
              <p:cNvSpPr txBox="1"/>
              <p:nvPr/>
            </p:nvSpPr>
            <p:spPr>
              <a:xfrm>
                <a:off x="764781" y="2517458"/>
                <a:ext cx="21362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24</a:t>
                </a:r>
              </a:p>
            </p:txBody>
          </p:sp>
          <p:sp>
            <p:nvSpPr>
              <p:cNvPr id="27" name="Line 27"/>
              <p:cNvSpPr/>
              <p:nvPr/>
            </p:nvSpPr>
            <p:spPr>
              <a:xfrm>
                <a:off x="1123950" y="2114550"/>
                <a:ext cx="10153650" cy="9525"/>
              </a:xfrm>
              <a:custGeom>
                <a:avLst/>
                <a:gdLst/>
                <a:ahLst/>
                <a:cxnLst/>
                <a:rect l="l" t="t" r="r" b="b"/>
                <a:pathLst>
                  <a:path w="10153650" h="9525">
                    <a:moveTo>
                      <a:pt x="0" y="0"/>
                    </a:moveTo>
                    <a:lnTo>
                      <a:pt x="10153650" y="0"/>
                    </a:lnTo>
                  </a:path>
                </a:pathLst>
              </a:custGeom>
              <a:noFill/>
              <a:ln w="9525">
                <a:solidFill>
                  <a:srgbClr val="E0E7E2"/>
                </a:solidFill>
              </a:ln>
            </p:spPr>
          </p:sp>
          <p:sp>
            <p:nvSpPr>
              <p:cNvPr id="28" name="TextBox 28"/>
              <p:cNvSpPr txBox="1"/>
              <p:nvPr/>
            </p:nvSpPr>
            <p:spPr>
              <a:xfrm>
                <a:off x="764781" y="2025968"/>
                <a:ext cx="213627"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30</a:t>
                </a:r>
              </a:p>
            </p:txBody>
          </p:sp>
          <p:sp>
            <p:nvSpPr>
              <p:cNvPr id="29" name="TextBox 29"/>
              <p:cNvSpPr txBox="1"/>
              <p:nvPr/>
            </p:nvSpPr>
            <p:spPr>
              <a:xfrm>
                <a:off x="967159" y="46929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330</a:t>
                </a:r>
              </a:p>
            </p:txBody>
          </p:sp>
          <p:sp>
            <p:nvSpPr>
              <p:cNvPr id="30" name="TextBox 30"/>
              <p:cNvSpPr txBox="1"/>
              <p:nvPr/>
            </p:nvSpPr>
            <p:spPr>
              <a:xfrm>
                <a:off x="2659434" y="46929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375</a:t>
                </a:r>
              </a:p>
            </p:txBody>
          </p:sp>
          <p:sp>
            <p:nvSpPr>
              <p:cNvPr id="31" name="TextBox 31"/>
              <p:cNvSpPr txBox="1"/>
              <p:nvPr/>
            </p:nvSpPr>
            <p:spPr>
              <a:xfrm>
                <a:off x="4351709" y="46929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420</a:t>
                </a:r>
              </a:p>
            </p:txBody>
          </p:sp>
          <p:sp>
            <p:nvSpPr>
              <p:cNvPr id="32" name="TextBox 32"/>
              <p:cNvSpPr txBox="1"/>
              <p:nvPr/>
            </p:nvSpPr>
            <p:spPr>
              <a:xfrm>
                <a:off x="6043984" y="46929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465</a:t>
                </a:r>
              </a:p>
            </p:txBody>
          </p:sp>
          <p:sp>
            <p:nvSpPr>
              <p:cNvPr id="33" name="TextBox 33"/>
              <p:cNvSpPr txBox="1"/>
              <p:nvPr/>
            </p:nvSpPr>
            <p:spPr>
              <a:xfrm>
                <a:off x="7736259" y="46929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510</a:t>
                </a:r>
              </a:p>
            </p:txBody>
          </p:sp>
          <p:sp>
            <p:nvSpPr>
              <p:cNvPr id="34" name="TextBox 34"/>
              <p:cNvSpPr txBox="1"/>
              <p:nvPr/>
            </p:nvSpPr>
            <p:spPr>
              <a:xfrm>
                <a:off x="9428534" y="46929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555</a:t>
                </a:r>
              </a:p>
            </p:txBody>
          </p:sp>
          <p:sp>
            <p:nvSpPr>
              <p:cNvPr id="35" name="TextBox 35"/>
              <p:cNvSpPr txBox="1"/>
              <p:nvPr/>
            </p:nvSpPr>
            <p:spPr>
              <a:xfrm>
                <a:off x="11120809" y="469296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600</a:t>
                </a:r>
              </a:p>
            </p:txBody>
          </p:sp>
          <p:sp>
            <p:nvSpPr>
              <p:cNvPr id="36" name="Line 36"/>
              <p:cNvSpPr/>
              <p:nvPr/>
            </p:nvSpPr>
            <p:spPr>
              <a:xfrm>
                <a:off x="1123950" y="2114550"/>
                <a:ext cx="9525" cy="2457450"/>
              </a:xfrm>
              <a:custGeom>
                <a:avLst/>
                <a:gdLst/>
                <a:ahLst/>
                <a:cxnLst/>
                <a:rect l="l" t="t" r="r" b="b"/>
                <a:pathLst>
                  <a:path w="9525" h="2457450">
                    <a:moveTo>
                      <a:pt x="0" y="0"/>
                    </a:moveTo>
                    <a:lnTo>
                      <a:pt x="0" y="2457450"/>
                    </a:lnTo>
                  </a:path>
                </a:pathLst>
              </a:custGeom>
              <a:noFill/>
              <a:ln w="9525">
                <a:solidFill>
                  <a:srgbClr val="556762"/>
                </a:solidFill>
              </a:ln>
            </p:spPr>
          </p:sp>
          <p:sp>
            <p:nvSpPr>
              <p:cNvPr id="37" name="Line 37"/>
              <p:cNvSpPr/>
              <p:nvPr/>
            </p:nvSpPr>
            <p:spPr>
              <a:xfrm>
                <a:off x="1123950" y="4572000"/>
                <a:ext cx="10153650" cy="9525"/>
              </a:xfrm>
              <a:custGeom>
                <a:avLst/>
                <a:gdLst/>
                <a:ahLst/>
                <a:cxnLst/>
                <a:rect l="l" t="t" r="r" b="b"/>
                <a:pathLst>
                  <a:path w="10153650" h="9525">
                    <a:moveTo>
                      <a:pt x="0" y="0"/>
                    </a:moveTo>
                    <a:lnTo>
                      <a:pt x="10153650" y="0"/>
                    </a:lnTo>
                  </a:path>
                </a:pathLst>
              </a:custGeom>
              <a:noFill/>
              <a:ln w="9525">
                <a:solidFill>
                  <a:srgbClr val="556762"/>
                </a:solidFill>
              </a:ln>
            </p:spPr>
          </p:sp>
          <p:sp>
            <p:nvSpPr>
              <p:cNvPr id="38" name="Polyline 38"/>
              <p:cNvSpPr/>
              <p:nvPr/>
            </p:nvSpPr>
            <p:spPr>
              <a:xfrm>
                <a:off x="1123950" y="2828496"/>
                <a:ext cx="10153650" cy="1743504"/>
              </a:xfrm>
              <a:custGeom>
                <a:avLst/>
                <a:gdLst/>
                <a:ahLst/>
                <a:cxnLst/>
                <a:rect l="l" t="t" r="r" b="b"/>
                <a:pathLst>
                  <a:path w="10153650" h="1743504">
                    <a:moveTo>
                      <a:pt x="0" y="1743504"/>
                    </a:moveTo>
                    <a:lnTo>
                      <a:pt x="188033" y="1743504"/>
                    </a:lnTo>
                    <a:lnTo>
                      <a:pt x="376057" y="1743504"/>
                    </a:lnTo>
                    <a:lnTo>
                      <a:pt x="564090" y="1743504"/>
                    </a:lnTo>
                    <a:lnTo>
                      <a:pt x="752123" y="1743504"/>
                    </a:lnTo>
                    <a:lnTo>
                      <a:pt x="940156" y="1743504"/>
                    </a:lnTo>
                    <a:lnTo>
                      <a:pt x="1128179" y="1743504"/>
                    </a:lnTo>
                    <a:lnTo>
                      <a:pt x="1316212" y="1692564"/>
                    </a:lnTo>
                    <a:lnTo>
                      <a:pt x="1504245" y="1641758"/>
                    </a:lnTo>
                    <a:lnTo>
                      <a:pt x="1692278" y="1591104"/>
                    </a:lnTo>
                    <a:lnTo>
                      <a:pt x="1880302" y="1540583"/>
                    </a:lnTo>
                    <a:lnTo>
                      <a:pt x="2068335" y="1490205"/>
                    </a:lnTo>
                    <a:lnTo>
                      <a:pt x="2256368" y="1439970"/>
                    </a:lnTo>
                    <a:lnTo>
                      <a:pt x="2444401" y="1389869"/>
                    </a:lnTo>
                    <a:lnTo>
                      <a:pt x="2632424" y="1339920"/>
                    </a:lnTo>
                    <a:lnTo>
                      <a:pt x="2820457" y="1290114"/>
                    </a:lnTo>
                    <a:lnTo>
                      <a:pt x="3008490" y="1240441"/>
                    </a:lnTo>
                    <a:lnTo>
                      <a:pt x="3196523" y="1190920"/>
                    </a:lnTo>
                    <a:lnTo>
                      <a:pt x="3384547" y="1141543"/>
                    </a:lnTo>
                    <a:lnTo>
                      <a:pt x="3572580" y="1092308"/>
                    </a:lnTo>
                    <a:lnTo>
                      <a:pt x="3760613" y="1043216"/>
                    </a:lnTo>
                    <a:lnTo>
                      <a:pt x="3948646" y="994267"/>
                    </a:lnTo>
                    <a:lnTo>
                      <a:pt x="4136669" y="945461"/>
                    </a:lnTo>
                    <a:lnTo>
                      <a:pt x="4324702" y="896807"/>
                    </a:lnTo>
                    <a:lnTo>
                      <a:pt x="4512735" y="848287"/>
                    </a:lnTo>
                    <a:lnTo>
                      <a:pt x="4700768" y="799919"/>
                    </a:lnTo>
                    <a:lnTo>
                      <a:pt x="4888792" y="751703"/>
                    </a:lnTo>
                    <a:lnTo>
                      <a:pt x="5076825" y="703621"/>
                    </a:lnTo>
                    <a:lnTo>
                      <a:pt x="5264858" y="655691"/>
                    </a:lnTo>
                    <a:lnTo>
                      <a:pt x="5452882" y="607905"/>
                    </a:lnTo>
                    <a:lnTo>
                      <a:pt x="5640915" y="560260"/>
                    </a:lnTo>
                    <a:lnTo>
                      <a:pt x="5828948" y="512769"/>
                    </a:lnTo>
                    <a:lnTo>
                      <a:pt x="6016981" y="465420"/>
                    </a:lnTo>
                    <a:lnTo>
                      <a:pt x="6205004" y="418214"/>
                    </a:lnTo>
                    <a:lnTo>
                      <a:pt x="6393037" y="371161"/>
                    </a:lnTo>
                    <a:lnTo>
                      <a:pt x="6581070" y="324250"/>
                    </a:lnTo>
                    <a:lnTo>
                      <a:pt x="6769103" y="277492"/>
                    </a:lnTo>
                    <a:lnTo>
                      <a:pt x="6957127" y="230876"/>
                    </a:lnTo>
                    <a:lnTo>
                      <a:pt x="7145160" y="184404"/>
                    </a:lnTo>
                    <a:lnTo>
                      <a:pt x="7333193" y="138084"/>
                    </a:lnTo>
                    <a:lnTo>
                      <a:pt x="7521226" y="91907"/>
                    </a:lnTo>
                    <a:lnTo>
                      <a:pt x="7709249" y="45882"/>
                    </a:lnTo>
                    <a:lnTo>
                      <a:pt x="7897282" y="0"/>
                    </a:lnTo>
                    <a:lnTo>
                      <a:pt x="8085315" y="0"/>
                    </a:lnTo>
                    <a:lnTo>
                      <a:pt x="8273348" y="0"/>
                    </a:lnTo>
                    <a:lnTo>
                      <a:pt x="8461372" y="0"/>
                    </a:lnTo>
                    <a:lnTo>
                      <a:pt x="8649405" y="0"/>
                    </a:lnTo>
                    <a:lnTo>
                      <a:pt x="8837438" y="0"/>
                    </a:lnTo>
                    <a:lnTo>
                      <a:pt x="9025471" y="0"/>
                    </a:lnTo>
                    <a:lnTo>
                      <a:pt x="9213494" y="0"/>
                    </a:lnTo>
                    <a:lnTo>
                      <a:pt x="9401527" y="0"/>
                    </a:lnTo>
                    <a:lnTo>
                      <a:pt x="9589560" y="0"/>
                    </a:lnTo>
                    <a:lnTo>
                      <a:pt x="9777593" y="0"/>
                    </a:lnTo>
                    <a:lnTo>
                      <a:pt x="9965617" y="0"/>
                    </a:lnTo>
                    <a:lnTo>
                      <a:pt x="10153650" y="0"/>
                    </a:lnTo>
                  </a:path>
                </a:pathLst>
              </a:custGeom>
              <a:noFill/>
              <a:ln w="28575">
                <a:solidFill>
                  <a:schemeClr val="accent2"/>
                </a:solidFill>
              </a:ln>
            </p:spPr>
          </p:sp>
          <p:sp>
            <p:nvSpPr>
              <p:cNvPr id="39" name="Polyline 39"/>
              <p:cNvSpPr/>
              <p:nvPr/>
            </p:nvSpPr>
            <p:spPr>
              <a:xfrm>
                <a:off x="1123950" y="3237290"/>
                <a:ext cx="10153650" cy="1334710"/>
              </a:xfrm>
              <a:custGeom>
                <a:avLst/>
                <a:gdLst/>
                <a:ahLst/>
                <a:cxnLst/>
                <a:rect l="l" t="t" r="r" b="b"/>
                <a:pathLst>
                  <a:path w="10153650" h="1334710">
                    <a:moveTo>
                      <a:pt x="0" y="1334710"/>
                    </a:moveTo>
                    <a:lnTo>
                      <a:pt x="188033" y="1334710"/>
                    </a:lnTo>
                    <a:lnTo>
                      <a:pt x="376057" y="1334710"/>
                    </a:lnTo>
                    <a:lnTo>
                      <a:pt x="564090" y="1334710"/>
                    </a:lnTo>
                    <a:lnTo>
                      <a:pt x="752123" y="1334710"/>
                    </a:lnTo>
                    <a:lnTo>
                      <a:pt x="940156" y="1334710"/>
                    </a:lnTo>
                    <a:lnTo>
                      <a:pt x="1128179" y="1334710"/>
                    </a:lnTo>
                    <a:lnTo>
                      <a:pt x="1316212" y="1286532"/>
                    </a:lnTo>
                    <a:lnTo>
                      <a:pt x="1504245" y="1239203"/>
                    </a:lnTo>
                    <a:lnTo>
                      <a:pt x="1692278" y="1192682"/>
                    </a:lnTo>
                    <a:lnTo>
                      <a:pt x="1880302" y="1146953"/>
                    </a:lnTo>
                    <a:lnTo>
                      <a:pt x="2068335" y="1102004"/>
                    </a:lnTo>
                    <a:lnTo>
                      <a:pt x="2256368" y="1057789"/>
                    </a:lnTo>
                    <a:lnTo>
                      <a:pt x="2444401" y="1014317"/>
                    </a:lnTo>
                    <a:lnTo>
                      <a:pt x="2632424" y="971550"/>
                    </a:lnTo>
                    <a:lnTo>
                      <a:pt x="2820457" y="929469"/>
                    </a:lnTo>
                    <a:lnTo>
                      <a:pt x="3008490" y="888063"/>
                    </a:lnTo>
                    <a:lnTo>
                      <a:pt x="3196523" y="847306"/>
                    </a:lnTo>
                    <a:lnTo>
                      <a:pt x="3384547" y="807187"/>
                    </a:lnTo>
                    <a:lnTo>
                      <a:pt x="3572580" y="767686"/>
                    </a:lnTo>
                    <a:lnTo>
                      <a:pt x="3760613" y="728796"/>
                    </a:lnTo>
                    <a:lnTo>
                      <a:pt x="3948646" y="690496"/>
                    </a:lnTo>
                    <a:lnTo>
                      <a:pt x="4136669" y="652767"/>
                    </a:lnTo>
                    <a:lnTo>
                      <a:pt x="4324702" y="615591"/>
                    </a:lnTo>
                    <a:lnTo>
                      <a:pt x="4512735" y="578977"/>
                    </a:lnTo>
                    <a:lnTo>
                      <a:pt x="4700768" y="542887"/>
                    </a:lnTo>
                    <a:lnTo>
                      <a:pt x="4888792" y="507311"/>
                    </a:lnTo>
                    <a:lnTo>
                      <a:pt x="5076825" y="472249"/>
                    </a:lnTo>
                    <a:lnTo>
                      <a:pt x="5264858" y="437693"/>
                    </a:lnTo>
                    <a:lnTo>
                      <a:pt x="5452882" y="403612"/>
                    </a:lnTo>
                    <a:lnTo>
                      <a:pt x="5640915" y="369999"/>
                    </a:lnTo>
                    <a:lnTo>
                      <a:pt x="5828948" y="336852"/>
                    </a:lnTo>
                    <a:lnTo>
                      <a:pt x="6016981" y="304162"/>
                    </a:lnTo>
                    <a:lnTo>
                      <a:pt x="6205004" y="271910"/>
                    </a:lnTo>
                    <a:lnTo>
                      <a:pt x="6393037" y="240097"/>
                    </a:lnTo>
                    <a:lnTo>
                      <a:pt x="6581070" y="208693"/>
                    </a:lnTo>
                    <a:lnTo>
                      <a:pt x="6769103" y="177708"/>
                    </a:lnTo>
                    <a:lnTo>
                      <a:pt x="6957127" y="147133"/>
                    </a:lnTo>
                    <a:lnTo>
                      <a:pt x="7145160" y="116948"/>
                    </a:lnTo>
                    <a:lnTo>
                      <a:pt x="7333193" y="87154"/>
                    </a:lnTo>
                    <a:lnTo>
                      <a:pt x="7521226" y="57731"/>
                    </a:lnTo>
                    <a:lnTo>
                      <a:pt x="7709249" y="28680"/>
                    </a:lnTo>
                    <a:lnTo>
                      <a:pt x="7897282" y="0"/>
                    </a:lnTo>
                    <a:lnTo>
                      <a:pt x="8085315" y="0"/>
                    </a:lnTo>
                    <a:lnTo>
                      <a:pt x="8273348" y="0"/>
                    </a:lnTo>
                    <a:lnTo>
                      <a:pt x="8461372" y="0"/>
                    </a:lnTo>
                    <a:lnTo>
                      <a:pt x="8649405" y="0"/>
                    </a:lnTo>
                    <a:lnTo>
                      <a:pt x="8837438" y="0"/>
                    </a:lnTo>
                    <a:lnTo>
                      <a:pt x="9025471" y="0"/>
                    </a:lnTo>
                    <a:lnTo>
                      <a:pt x="9213494" y="0"/>
                    </a:lnTo>
                    <a:lnTo>
                      <a:pt x="9401527" y="0"/>
                    </a:lnTo>
                    <a:lnTo>
                      <a:pt x="9589560" y="0"/>
                    </a:lnTo>
                    <a:lnTo>
                      <a:pt x="9777593" y="0"/>
                    </a:lnTo>
                    <a:lnTo>
                      <a:pt x="9965617" y="0"/>
                    </a:lnTo>
                    <a:lnTo>
                      <a:pt x="10153650" y="0"/>
                    </a:lnTo>
                  </a:path>
                </a:pathLst>
              </a:custGeom>
              <a:noFill/>
              <a:ln w="28575">
                <a:solidFill>
                  <a:schemeClr val="accent1"/>
                </a:solidFill>
              </a:ln>
            </p:spPr>
          </p:sp>
          <p:sp>
            <p:nvSpPr>
              <p:cNvPr id="40" name="Polyline 40"/>
              <p:cNvSpPr/>
              <p:nvPr/>
            </p:nvSpPr>
            <p:spPr>
              <a:xfrm>
                <a:off x="1123950" y="3343275"/>
                <a:ext cx="10153650" cy="9525"/>
              </a:xfrm>
              <a:custGeom>
                <a:avLst/>
                <a:gdLst/>
                <a:ahLst/>
                <a:cxnLst/>
                <a:rect l="l" t="t" r="r" b="b"/>
                <a:pathLst>
                  <a:path w="10153650" h="9525">
                    <a:moveTo>
                      <a:pt x="0" y="0"/>
                    </a:moveTo>
                    <a:lnTo>
                      <a:pt x="188033" y="0"/>
                    </a:lnTo>
                    <a:lnTo>
                      <a:pt x="376057" y="0"/>
                    </a:lnTo>
                    <a:lnTo>
                      <a:pt x="564090" y="0"/>
                    </a:lnTo>
                    <a:lnTo>
                      <a:pt x="752123" y="0"/>
                    </a:lnTo>
                    <a:lnTo>
                      <a:pt x="940156" y="0"/>
                    </a:lnTo>
                    <a:lnTo>
                      <a:pt x="1128179" y="0"/>
                    </a:lnTo>
                    <a:lnTo>
                      <a:pt x="1316212" y="0"/>
                    </a:lnTo>
                    <a:lnTo>
                      <a:pt x="1504245" y="0"/>
                    </a:lnTo>
                    <a:lnTo>
                      <a:pt x="1692278" y="0"/>
                    </a:lnTo>
                    <a:lnTo>
                      <a:pt x="1880302" y="0"/>
                    </a:lnTo>
                    <a:lnTo>
                      <a:pt x="2068335" y="0"/>
                    </a:lnTo>
                    <a:lnTo>
                      <a:pt x="2256368" y="0"/>
                    </a:lnTo>
                    <a:lnTo>
                      <a:pt x="2444401" y="0"/>
                    </a:lnTo>
                    <a:lnTo>
                      <a:pt x="2632424" y="0"/>
                    </a:lnTo>
                    <a:lnTo>
                      <a:pt x="2820457" y="0"/>
                    </a:lnTo>
                    <a:lnTo>
                      <a:pt x="3008490" y="0"/>
                    </a:lnTo>
                    <a:lnTo>
                      <a:pt x="3196523" y="0"/>
                    </a:lnTo>
                    <a:lnTo>
                      <a:pt x="3384547" y="0"/>
                    </a:lnTo>
                    <a:lnTo>
                      <a:pt x="3572580" y="0"/>
                    </a:lnTo>
                    <a:lnTo>
                      <a:pt x="3760613" y="0"/>
                    </a:lnTo>
                    <a:lnTo>
                      <a:pt x="3948646" y="0"/>
                    </a:lnTo>
                    <a:lnTo>
                      <a:pt x="4136669" y="0"/>
                    </a:lnTo>
                    <a:lnTo>
                      <a:pt x="4324702" y="0"/>
                    </a:lnTo>
                    <a:lnTo>
                      <a:pt x="4512735" y="0"/>
                    </a:lnTo>
                    <a:lnTo>
                      <a:pt x="4700768" y="0"/>
                    </a:lnTo>
                    <a:lnTo>
                      <a:pt x="4888792" y="0"/>
                    </a:lnTo>
                    <a:lnTo>
                      <a:pt x="5076825" y="0"/>
                    </a:lnTo>
                    <a:lnTo>
                      <a:pt x="5264858" y="0"/>
                    </a:lnTo>
                    <a:lnTo>
                      <a:pt x="5452882" y="0"/>
                    </a:lnTo>
                    <a:lnTo>
                      <a:pt x="5640915" y="0"/>
                    </a:lnTo>
                    <a:lnTo>
                      <a:pt x="5828948" y="0"/>
                    </a:lnTo>
                    <a:lnTo>
                      <a:pt x="6016981" y="0"/>
                    </a:lnTo>
                    <a:lnTo>
                      <a:pt x="6205004" y="0"/>
                    </a:lnTo>
                    <a:lnTo>
                      <a:pt x="6393037" y="0"/>
                    </a:lnTo>
                    <a:lnTo>
                      <a:pt x="6581070" y="0"/>
                    </a:lnTo>
                    <a:lnTo>
                      <a:pt x="6769103" y="0"/>
                    </a:lnTo>
                    <a:lnTo>
                      <a:pt x="6957127" y="0"/>
                    </a:lnTo>
                    <a:lnTo>
                      <a:pt x="7145160" y="0"/>
                    </a:lnTo>
                    <a:lnTo>
                      <a:pt x="7333193" y="0"/>
                    </a:lnTo>
                    <a:lnTo>
                      <a:pt x="7521226" y="0"/>
                    </a:lnTo>
                    <a:lnTo>
                      <a:pt x="7709249" y="0"/>
                    </a:lnTo>
                    <a:lnTo>
                      <a:pt x="7897282" y="0"/>
                    </a:lnTo>
                    <a:lnTo>
                      <a:pt x="8085315" y="0"/>
                    </a:lnTo>
                    <a:lnTo>
                      <a:pt x="8273348" y="0"/>
                    </a:lnTo>
                    <a:lnTo>
                      <a:pt x="8461372" y="0"/>
                    </a:lnTo>
                    <a:lnTo>
                      <a:pt x="8649405" y="0"/>
                    </a:lnTo>
                    <a:lnTo>
                      <a:pt x="8837438" y="0"/>
                    </a:lnTo>
                    <a:lnTo>
                      <a:pt x="9025471" y="0"/>
                    </a:lnTo>
                    <a:lnTo>
                      <a:pt x="9213494" y="0"/>
                    </a:lnTo>
                    <a:lnTo>
                      <a:pt x="9401527" y="0"/>
                    </a:lnTo>
                    <a:lnTo>
                      <a:pt x="9589560" y="0"/>
                    </a:lnTo>
                    <a:lnTo>
                      <a:pt x="9777593" y="0"/>
                    </a:lnTo>
                    <a:lnTo>
                      <a:pt x="9965617" y="0"/>
                    </a:lnTo>
                    <a:lnTo>
                      <a:pt x="10153650" y="0"/>
                    </a:lnTo>
                  </a:path>
                </a:pathLst>
              </a:custGeom>
              <a:noFill/>
              <a:ln w="28575">
                <a:solidFill>
                  <a:schemeClr val="accent3"/>
                </a:solidFill>
              </a:ln>
            </p:spPr>
          </p:sp>
        </p:grpSp>
      </p:grpSp>
      <p:grpSp>
        <p:nvGrpSpPr>
          <p:cNvPr id="45" name="response-implication"/>
          <p:cNvGrpSpPr/>
          <p:nvPr/>
        </p:nvGrpSpPr>
        <p:grpSpPr>
          <a:xfrm>
            <a:off x="448056" y="5425440"/>
            <a:ext cx="7336231" cy="665035"/>
            <a:chOff x="448056" y="5425440"/>
            <a:chExt cx="7336231" cy="665035"/>
          </a:xfrm>
        </p:grpSpPr>
        <p:sp>
          <p:nvSpPr>
            <p:cNvPr id="43" name="TextBox 43"/>
            <p:cNvSpPr txBox="1"/>
            <p:nvPr/>
          </p:nvSpPr>
          <p:spPr>
            <a:xfrm>
              <a:off x="448056" y="5425440"/>
              <a:ext cx="7336231"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从360s渐进增长；早期需在判据前正确提示，并同时报告前期误报。</a:t>
              </a:r>
            </a:p>
          </p:txBody>
        </p:sp>
        <p:sp>
          <p:nvSpPr>
            <p:cNvPr id="44" name="TextBox 44"/>
            <p:cNvSpPr txBox="1"/>
            <p:nvPr/>
          </p:nvSpPr>
          <p:spPr>
            <a:xfrm>
              <a:off x="450342" y="5826442"/>
              <a:ext cx="6728898"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横轴：模型时间/s；15%非农学阈值；实际判据、故障程度和两段时间须独立测量。</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789176"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旧模型公平回放｜非射频</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5120640" cy="616077"/>
            <a:chOff x="441198" y="812483"/>
            <a:chExt cx="5120640" cy="616077"/>
          </a:xfrm>
        </p:grpSpPr>
        <p:sp>
          <p:nvSpPr>
            <p:cNvPr id="7" name="TextBox 7"/>
            <p:cNvSpPr txBox="1"/>
            <p:nvPr/>
          </p:nvSpPr>
          <p:spPr>
            <a:xfrm>
              <a:off x="441198" y="812483"/>
              <a:ext cx="5120640"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可靠告警同时承担通信代价</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7826807"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来源：旧单压力communication_results/summary.json；相同检测/ACK；非射频/功耗，未与新诊断合并。</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07 / 15</a:t>
            </a:r>
          </a:p>
        </p:txBody>
      </p:sp>
      <p:grpSp>
        <p:nvGrpSpPr>
          <p:cNvPr id="13" name="communication-heading"/>
          <p:cNvGrpSpPr/>
          <p:nvPr/>
        </p:nvGrpSpPr>
        <p:grpSpPr>
          <a:xfrm>
            <a:off x="448056" y="1682115"/>
            <a:ext cx="7166610" cy="352044"/>
            <a:chOff x="448056" y="1682115"/>
            <a:chExt cx="7166610" cy="352044"/>
          </a:xfrm>
        </p:grpSpPr>
        <p:sp>
          <p:nvSpPr>
            <p:cNvPr id="12" name="TextBox 12"/>
            <p:cNvSpPr txBox="1"/>
            <p:nvPr/>
          </p:nvSpPr>
          <p:spPr>
            <a:xfrm>
              <a:off x="448056" y="1682115"/>
              <a:ext cx="716661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相同检测、滤波载荷与告警确认；示例：10%随机丢包＋15s全丢包</a:t>
              </a:r>
            </a:p>
          </p:txBody>
        </p:sp>
      </p:grpSp>
      <p:grpSp>
        <p:nvGrpSpPr>
          <p:cNvPr id="16" name="normal-label"/>
          <p:cNvGrpSpPr/>
          <p:nvPr/>
        </p:nvGrpSpPr>
        <p:grpSpPr>
          <a:xfrm>
            <a:off x="448056" y="2139315"/>
            <a:ext cx="2686336" cy="352044"/>
            <a:chOff x="448056" y="2139315"/>
            <a:chExt cx="2686336" cy="352044"/>
          </a:xfrm>
        </p:grpSpPr>
        <p:sp>
          <p:nvSpPr>
            <p:cNvPr id="14" name="TextBox 14"/>
            <p:cNvSpPr txBox="1"/>
            <p:nvPr/>
          </p:nvSpPr>
          <p:spPr>
            <a:xfrm>
              <a:off x="448056" y="2139315"/>
              <a:ext cx="987552"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正常轮灌</a:t>
              </a:r>
            </a:p>
          </p:txBody>
        </p:sp>
        <p:sp>
          <p:nvSpPr>
            <p:cNvPr id="15" name="TextBox 15"/>
            <p:cNvSpPr txBox="1"/>
            <p:nvPr/>
          </p:nvSpPr>
          <p:spPr>
            <a:xfrm>
              <a:off x="1993392" y="2187892"/>
              <a:ext cx="1141000"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纵轴MAE/kPa</a:t>
              </a:r>
            </a:p>
          </p:txBody>
        </p:sp>
      </p:grpSp>
      <p:grpSp>
        <p:nvGrpSpPr>
          <p:cNvPr id="19" name="noise-label"/>
          <p:cNvGrpSpPr/>
          <p:nvPr/>
        </p:nvGrpSpPr>
        <p:grpSpPr>
          <a:xfrm>
            <a:off x="6277356" y="2139315"/>
            <a:ext cx="2686336" cy="352044"/>
            <a:chOff x="6277356" y="2139315"/>
            <a:chExt cx="2686336" cy="352044"/>
          </a:xfrm>
        </p:grpSpPr>
        <p:sp>
          <p:nvSpPr>
            <p:cNvPr id="17" name="TextBox 17"/>
            <p:cNvSpPr txBox="1"/>
            <p:nvPr/>
          </p:nvSpPr>
          <p:spPr>
            <a:xfrm>
              <a:off x="6277356" y="2139315"/>
              <a:ext cx="987552"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较大噪声</a:t>
              </a:r>
            </a:p>
          </p:txBody>
        </p:sp>
        <p:sp>
          <p:nvSpPr>
            <p:cNvPr id="18" name="TextBox 18"/>
            <p:cNvSpPr txBox="1"/>
            <p:nvPr/>
          </p:nvSpPr>
          <p:spPr>
            <a:xfrm>
              <a:off x="7822692" y="2187892"/>
              <a:ext cx="1141000"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纵轴MAE/kPa</a:t>
              </a:r>
            </a:p>
          </p:txBody>
        </p:sp>
      </p:grpSp>
      <p:grpSp>
        <p:nvGrpSpPr>
          <p:cNvPr id="48" name="normal-tradeoff"/>
          <p:cNvGrpSpPr/>
          <p:nvPr/>
        </p:nvGrpSpPr>
        <p:grpSpPr>
          <a:xfrm>
            <a:off x="626726" y="2702242"/>
            <a:ext cx="4892640" cy="2388109"/>
            <a:chOff x="626726" y="2702242"/>
            <a:chExt cx="4892640" cy="2388109"/>
          </a:xfrm>
        </p:grpSpPr>
        <p:grpSp>
          <p:nvGrpSpPr>
            <p:cNvPr id="47" name="normal-tradeoff-chartArea"/>
            <p:cNvGrpSpPr/>
            <p:nvPr/>
          </p:nvGrpSpPr>
          <p:grpSpPr>
            <a:xfrm>
              <a:off x="626726" y="2702242"/>
              <a:ext cx="4892640" cy="2388109"/>
              <a:chOff x="626726" y="2702242"/>
              <a:chExt cx="4892640" cy="2388109"/>
            </a:xfrm>
          </p:grpSpPr>
          <p:sp>
            <p:nvSpPr>
              <p:cNvPr id="20" name="Line 20"/>
              <p:cNvSpPr/>
              <p:nvPr/>
            </p:nvSpPr>
            <p:spPr>
              <a:xfrm>
                <a:off x="1047750" y="4705350"/>
                <a:ext cx="4314825" cy="9525"/>
              </a:xfrm>
              <a:custGeom>
                <a:avLst/>
                <a:gdLst/>
                <a:ahLst/>
                <a:cxnLst/>
                <a:rect l="l" t="t" r="r" b="b"/>
                <a:pathLst>
                  <a:path w="4314825" h="9525">
                    <a:moveTo>
                      <a:pt x="0" y="0"/>
                    </a:moveTo>
                    <a:lnTo>
                      <a:pt x="4314825" y="0"/>
                    </a:lnTo>
                  </a:path>
                </a:pathLst>
              </a:custGeom>
              <a:noFill/>
              <a:ln w="9525">
                <a:solidFill>
                  <a:srgbClr val="E0E7E2"/>
                </a:solidFill>
              </a:ln>
            </p:spPr>
          </p:sp>
          <p:sp>
            <p:nvSpPr>
              <p:cNvPr id="21" name="TextBox 21"/>
              <p:cNvSpPr txBox="1"/>
              <p:nvPr/>
            </p:nvSpPr>
            <p:spPr>
              <a:xfrm>
                <a:off x="626726" y="461676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0.0</a:t>
                </a:r>
              </a:p>
            </p:txBody>
          </p:sp>
          <p:sp>
            <p:nvSpPr>
              <p:cNvPr id="22" name="Line 22"/>
              <p:cNvSpPr/>
              <p:nvPr/>
            </p:nvSpPr>
            <p:spPr>
              <a:xfrm>
                <a:off x="1047750" y="4322445"/>
                <a:ext cx="4314825" cy="9525"/>
              </a:xfrm>
              <a:custGeom>
                <a:avLst/>
                <a:gdLst/>
                <a:ahLst/>
                <a:cxnLst/>
                <a:rect l="l" t="t" r="r" b="b"/>
                <a:pathLst>
                  <a:path w="4314825" h="9525">
                    <a:moveTo>
                      <a:pt x="0" y="0"/>
                    </a:moveTo>
                    <a:lnTo>
                      <a:pt x="4314825" y="0"/>
                    </a:lnTo>
                  </a:path>
                </a:pathLst>
              </a:custGeom>
              <a:noFill/>
              <a:ln w="9525">
                <a:solidFill>
                  <a:srgbClr val="E0E7E2"/>
                </a:solidFill>
              </a:ln>
            </p:spPr>
          </p:sp>
          <p:sp>
            <p:nvSpPr>
              <p:cNvPr id="23" name="TextBox 23"/>
              <p:cNvSpPr txBox="1"/>
              <p:nvPr/>
            </p:nvSpPr>
            <p:spPr>
              <a:xfrm>
                <a:off x="626726" y="423386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0.3</a:t>
                </a:r>
              </a:p>
            </p:txBody>
          </p:sp>
          <p:sp>
            <p:nvSpPr>
              <p:cNvPr id="24" name="Line 24"/>
              <p:cNvSpPr/>
              <p:nvPr/>
            </p:nvSpPr>
            <p:spPr>
              <a:xfrm>
                <a:off x="1047750" y="3939540"/>
                <a:ext cx="4314825" cy="9525"/>
              </a:xfrm>
              <a:custGeom>
                <a:avLst/>
                <a:gdLst/>
                <a:ahLst/>
                <a:cxnLst/>
                <a:rect l="l" t="t" r="r" b="b"/>
                <a:pathLst>
                  <a:path w="4314825" h="9525">
                    <a:moveTo>
                      <a:pt x="0" y="0"/>
                    </a:moveTo>
                    <a:lnTo>
                      <a:pt x="4314825" y="0"/>
                    </a:lnTo>
                  </a:path>
                </a:pathLst>
              </a:custGeom>
              <a:noFill/>
              <a:ln w="9525">
                <a:solidFill>
                  <a:srgbClr val="E0E7E2"/>
                </a:solidFill>
              </a:ln>
            </p:spPr>
          </p:sp>
          <p:sp>
            <p:nvSpPr>
              <p:cNvPr id="25" name="TextBox 25"/>
              <p:cNvSpPr txBox="1"/>
              <p:nvPr/>
            </p:nvSpPr>
            <p:spPr>
              <a:xfrm>
                <a:off x="626726" y="385095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0.6</a:t>
                </a:r>
              </a:p>
            </p:txBody>
          </p:sp>
          <p:sp>
            <p:nvSpPr>
              <p:cNvPr id="26" name="Line 26"/>
              <p:cNvSpPr/>
              <p:nvPr/>
            </p:nvSpPr>
            <p:spPr>
              <a:xfrm>
                <a:off x="1047750" y="3556635"/>
                <a:ext cx="4314825" cy="9525"/>
              </a:xfrm>
              <a:custGeom>
                <a:avLst/>
                <a:gdLst/>
                <a:ahLst/>
                <a:cxnLst/>
                <a:rect l="l" t="t" r="r" b="b"/>
                <a:pathLst>
                  <a:path w="4314825" h="9525">
                    <a:moveTo>
                      <a:pt x="0" y="0"/>
                    </a:moveTo>
                    <a:lnTo>
                      <a:pt x="4314825" y="0"/>
                    </a:lnTo>
                  </a:path>
                </a:pathLst>
              </a:custGeom>
              <a:noFill/>
              <a:ln w="9525">
                <a:solidFill>
                  <a:srgbClr val="E0E7E2"/>
                </a:solidFill>
              </a:ln>
            </p:spPr>
          </p:sp>
          <p:sp>
            <p:nvSpPr>
              <p:cNvPr id="27" name="TextBox 27"/>
              <p:cNvSpPr txBox="1"/>
              <p:nvPr/>
            </p:nvSpPr>
            <p:spPr>
              <a:xfrm>
                <a:off x="626726" y="346805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0.9</a:t>
                </a:r>
              </a:p>
            </p:txBody>
          </p:sp>
          <p:sp>
            <p:nvSpPr>
              <p:cNvPr id="28" name="Line 28"/>
              <p:cNvSpPr/>
              <p:nvPr/>
            </p:nvSpPr>
            <p:spPr>
              <a:xfrm>
                <a:off x="1047750" y="3173730"/>
                <a:ext cx="4314825" cy="9525"/>
              </a:xfrm>
              <a:custGeom>
                <a:avLst/>
                <a:gdLst/>
                <a:ahLst/>
                <a:cxnLst/>
                <a:rect l="l" t="t" r="r" b="b"/>
                <a:pathLst>
                  <a:path w="4314825" h="9525">
                    <a:moveTo>
                      <a:pt x="0" y="0"/>
                    </a:moveTo>
                    <a:lnTo>
                      <a:pt x="4314825" y="0"/>
                    </a:lnTo>
                  </a:path>
                </a:pathLst>
              </a:custGeom>
              <a:noFill/>
              <a:ln w="9525">
                <a:solidFill>
                  <a:srgbClr val="E0E7E2"/>
                </a:solidFill>
              </a:ln>
            </p:spPr>
          </p:sp>
          <p:sp>
            <p:nvSpPr>
              <p:cNvPr id="29" name="TextBox 29"/>
              <p:cNvSpPr txBox="1"/>
              <p:nvPr/>
            </p:nvSpPr>
            <p:spPr>
              <a:xfrm>
                <a:off x="626726" y="308514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1.2</a:t>
                </a:r>
              </a:p>
            </p:txBody>
          </p:sp>
          <p:sp>
            <p:nvSpPr>
              <p:cNvPr id="30" name="Line 30"/>
              <p:cNvSpPr/>
              <p:nvPr/>
            </p:nvSpPr>
            <p:spPr>
              <a:xfrm>
                <a:off x="1047750" y="2790825"/>
                <a:ext cx="4314825" cy="9525"/>
              </a:xfrm>
              <a:custGeom>
                <a:avLst/>
                <a:gdLst/>
                <a:ahLst/>
                <a:cxnLst/>
                <a:rect l="l" t="t" r="r" b="b"/>
                <a:pathLst>
                  <a:path w="4314825" h="9525">
                    <a:moveTo>
                      <a:pt x="0" y="0"/>
                    </a:moveTo>
                    <a:lnTo>
                      <a:pt x="4314825" y="0"/>
                    </a:lnTo>
                  </a:path>
                </a:pathLst>
              </a:custGeom>
              <a:noFill/>
              <a:ln w="9525">
                <a:solidFill>
                  <a:srgbClr val="E0E7E2"/>
                </a:solidFill>
              </a:ln>
            </p:spPr>
          </p:sp>
          <p:sp>
            <p:nvSpPr>
              <p:cNvPr id="31" name="TextBox 31"/>
              <p:cNvSpPr txBox="1"/>
              <p:nvPr/>
            </p:nvSpPr>
            <p:spPr>
              <a:xfrm>
                <a:off x="626726" y="270224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1.5</a:t>
                </a:r>
              </a:p>
            </p:txBody>
          </p:sp>
          <p:sp>
            <p:nvSpPr>
              <p:cNvPr id="32" name="TextBox 32"/>
              <p:cNvSpPr txBox="1"/>
              <p:nvPr/>
            </p:nvSpPr>
            <p:spPr>
              <a:xfrm>
                <a:off x="990914" y="4826318"/>
                <a:ext cx="113671"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0</a:t>
                </a:r>
              </a:p>
            </p:txBody>
          </p:sp>
          <p:sp>
            <p:nvSpPr>
              <p:cNvPr id="33" name="TextBox 33"/>
              <p:cNvSpPr txBox="1"/>
              <p:nvPr/>
            </p:nvSpPr>
            <p:spPr>
              <a:xfrm>
                <a:off x="2019643" y="4826318"/>
                <a:ext cx="213627"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25</a:t>
                </a:r>
              </a:p>
            </p:txBody>
          </p:sp>
          <p:sp>
            <p:nvSpPr>
              <p:cNvPr id="34" name="TextBox 34"/>
              <p:cNvSpPr txBox="1"/>
              <p:nvPr/>
            </p:nvSpPr>
            <p:spPr>
              <a:xfrm>
                <a:off x="3098349" y="4826318"/>
                <a:ext cx="213627"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50</a:t>
                </a:r>
              </a:p>
            </p:txBody>
          </p:sp>
          <p:sp>
            <p:nvSpPr>
              <p:cNvPr id="35" name="TextBox 35"/>
              <p:cNvSpPr txBox="1"/>
              <p:nvPr/>
            </p:nvSpPr>
            <p:spPr>
              <a:xfrm>
                <a:off x="4177055" y="4826318"/>
                <a:ext cx="213627"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75</a:t>
                </a:r>
              </a:p>
            </p:txBody>
          </p:sp>
          <p:sp>
            <p:nvSpPr>
              <p:cNvPr id="36" name="TextBox 36"/>
              <p:cNvSpPr txBox="1"/>
              <p:nvPr/>
            </p:nvSpPr>
            <p:spPr>
              <a:xfrm>
                <a:off x="5205784" y="48263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100</a:t>
                </a:r>
              </a:p>
            </p:txBody>
          </p:sp>
          <p:sp>
            <p:nvSpPr>
              <p:cNvPr id="37" name="Line 37"/>
              <p:cNvSpPr/>
              <p:nvPr/>
            </p:nvSpPr>
            <p:spPr>
              <a:xfrm>
                <a:off x="1047750" y="2790825"/>
                <a:ext cx="9525" cy="1914525"/>
              </a:xfrm>
              <a:custGeom>
                <a:avLst/>
                <a:gdLst/>
                <a:ahLst/>
                <a:cxnLst/>
                <a:rect l="l" t="t" r="r" b="b"/>
                <a:pathLst>
                  <a:path w="9525" h="1914525">
                    <a:moveTo>
                      <a:pt x="0" y="0"/>
                    </a:moveTo>
                    <a:lnTo>
                      <a:pt x="0" y="1914525"/>
                    </a:lnTo>
                  </a:path>
                </a:pathLst>
              </a:custGeom>
              <a:noFill/>
              <a:ln w="9525">
                <a:solidFill>
                  <a:srgbClr val="556762"/>
                </a:solidFill>
              </a:ln>
            </p:spPr>
          </p:sp>
          <p:sp>
            <p:nvSpPr>
              <p:cNvPr id="38" name="Line 38"/>
              <p:cNvSpPr/>
              <p:nvPr/>
            </p:nvSpPr>
            <p:spPr>
              <a:xfrm>
                <a:off x="1047750" y="4705350"/>
                <a:ext cx="4314825" cy="9525"/>
              </a:xfrm>
              <a:custGeom>
                <a:avLst/>
                <a:gdLst/>
                <a:ahLst/>
                <a:cxnLst/>
                <a:rect l="l" t="t" r="r" b="b"/>
                <a:pathLst>
                  <a:path w="4314825" h="9525">
                    <a:moveTo>
                      <a:pt x="0" y="0"/>
                    </a:moveTo>
                    <a:lnTo>
                      <a:pt x="4314825" y="0"/>
                    </a:lnTo>
                  </a:path>
                </a:pathLst>
              </a:custGeom>
              <a:noFill/>
              <a:ln w="9525">
                <a:solidFill>
                  <a:srgbClr val="556762"/>
                </a:solidFill>
              </a:ln>
            </p:spPr>
          </p:sp>
          <p:sp>
            <p:nvSpPr>
              <p:cNvPr id="39" name="Ellipse 39"/>
              <p:cNvSpPr/>
              <p:nvPr/>
            </p:nvSpPr>
            <p:spPr>
              <a:xfrm>
                <a:off x="3881533" y="4082844"/>
                <a:ext cx="114300" cy="114300"/>
              </a:xfrm>
              <a:prstGeom prst="ellipse">
                <a:avLst/>
              </a:prstGeom>
              <a:solidFill>
                <a:schemeClr val="accent1"/>
              </a:solidFill>
              <a:ln>
                <a:noFill/>
              </a:ln>
            </p:spPr>
          </p:sp>
          <p:sp>
            <p:nvSpPr>
              <p:cNvPr id="40" name="TextBox 40"/>
              <p:cNvSpPr txBox="1"/>
              <p:nvPr/>
            </p:nvSpPr>
            <p:spPr>
              <a:xfrm>
                <a:off x="4027075" y="3851386"/>
                <a:ext cx="677056" cy="264033"/>
              </a:xfrm>
              <a:prstGeom prst="rect">
                <a:avLst/>
              </a:prstGeom>
              <a:noFill/>
              <a:ln>
                <a:noFill/>
              </a:ln>
            </p:spPr>
            <p:txBody>
              <a:bodyPr wrap="none" lIns="0" tIns="0" rIns="0" bIns="0" anchor="t" anchorCtr="0">
                <a:spAutoFit/>
              </a:bodyPr>
              <a:lstStyle/>
              <a:p>
                <a:pPr algn="l"/>
                <a:r>
                  <a:rPr lang="zh-CN" sz="1350" dirty="0">
                    <a:solidFill>
                      <a:schemeClr val="accent1"/>
                    </a:solidFill>
                    <a:latin typeface="+mn-lt"/>
                    <a:ea typeface="+mn-ea"/>
                    <a:cs typeface="+mn-cs"/>
                  </a:rPr>
                  <a:t>周期10s</a:t>
                </a:r>
              </a:p>
            </p:txBody>
          </p:sp>
          <p:sp>
            <p:nvSpPr>
              <p:cNvPr id="41" name="Ellipse 41"/>
              <p:cNvSpPr/>
              <p:nvPr/>
            </p:nvSpPr>
            <p:spPr>
              <a:xfrm>
                <a:off x="1983010" y="3219869"/>
                <a:ext cx="114300" cy="114300"/>
              </a:xfrm>
              <a:prstGeom prst="ellipse">
                <a:avLst/>
              </a:prstGeom>
              <a:solidFill>
                <a:schemeClr val="accent3"/>
              </a:solidFill>
              <a:ln>
                <a:noFill/>
              </a:ln>
            </p:spPr>
          </p:sp>
          <p:sp>
            <p:nvSpPr>
              <p:cNvPr id="42" name="TextBox 42"/>
              <p:cNvSpPr txBox="1"/>
              <p:nvPr/>
            </p:nvSpPr>
            <p:spPr>
              <a:xfrm>
                <a:off x="2147602" y="2997937"/>
                <a:ext cx="67705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周期30s</a:t>
                </a:r>
              </a:p>
            </p:txBody>
          </p:sp>
          <p:sp>
            <p:nvSpPr>
              <p:cNvPr id="43" name="Ellipse 43"/>
              <p:cNvSpPr/>
              <p:nvPr/>
            </p:nvSpPr>
            <p:spPr>
              <a:xfrm>
                <a:off x="2377811" y="3898478"/>
                <a:ext cx="114300" cy="114300"/>
              </a:xfrm>
              <a:prstGeom prst="ellipse">
                <a:avLst/>
              </a:prstGeom>
              <a:solidFill>
                <a:schemeClr val="accent2"/>
              </a:solidFill>
              <a:ln>
                <a:noFill/>
              </a:ln>
            </p:spPr>
          </p:sp>
          <p:sp>
            <p:nvSpPr>
              <p:cNvPr id="44" name="TextBox 44"/>
              <p:cNvSpPr txBox="1"/>
              <p:nvPr/>
            </p:nvSpPr>
            <p:spPr>
              <a:xfrm>
                <a:off x="2523353" y="4057545"/>
                <a:ext cx="740664"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原始事件</a:t>
                </a:r>
              </a:p>
            </p:txBody>
          </p:sp>
          <p:sp>
            <p:nvSpPr>
              <p:cNvPr id="45" name="Ellipse 45"/>
              <p:cNvSpPr/>
              <p:nvPr/>
            </p:nvSpPr>
            <p:spPr>
              <a:xfrm>
                <a:off x="1689602" y="3655790"/>
                <a:ext cx="114300" cy="114300"/>
              </a:xfrm>
              <a:prstGeom prst="ellipse">
                <a:avLst/>
              </a:prstGeom>
              <a:solidFill>
                <a:srgbClr val="83639B"/>
              </a:solidFill>
              <a:ln>
                <a:noFill/>
              </a:ln>
            </p:spPr>
          </p:sp>
          <p:sp>
            <p:nvSpPr>
              <p:cNvPr id="46" name="TextBox 46"/>
              <p:cNvSpPr txBox="1"/>
              <p:nvPr/>
            </p:nvSpPr>
            <p:spPr>
              <a:xfrm>
                <a:off x="1854194" y="3395758"/>
                <a:ext cx="1104138" cy="264033"/>
              </a:xfrm>
              <a:prstGeom prst="rect">
                <a:avLst/>
              </a:prstGeom>
              <a:noFill/>
              <a:ln>
                <a:noFill/>
              </a:ln>
            </p:spPr>
            <p:txBody>
              <a:bodyPr wrap="none" lIns="0" tIns="0" rIns="0" bIns="0" anchor="t" anchorCtr="0">
                <a:spAutoFit/>
              </a:bodyPr>
              <a:lstStyle/>
              <a:p>
                <a:pPr algn="l"/>
                <a:r>
                  <a:rPr lang="zh-CN" sz="1350" dirty="0">
                    <a:solidFill>
                      <a:srgbClr val="83639B"/>
                    </a:solidFill>
                    <a:latin typeface="+mn-lt"/>
                    <a:ea typeface="+mn-ea"/>
                    <a:cs typeface="+mn-cs"/>
                  </a:rPr>
                  <a:t>滤波限频事件</a:t>
                </a:r>
              </a:p>
            </p:txBody>
          </p:sp>
        </p:grpSp>
      </p:grpSp>
      <p:grpSp>
        <p:nvGrpSpPr>
          <p:cNvPr id="77" name="noise-tradeoff"/>
          <p:cNvGrpSpPr/>
          <p:nvPr/>
        </p:nvGrpSpPr>
        <p:grpSpPr>
          <a:xfrm>
            <a:off x="6456026" y="2702242"/>
            <a:ext cx="5045040" cy="2388109"/>
            <a:chOff x="6456026" y="2702242"/>
            <a:chExt cx="5045040" cy="2388109"/>
          </a:xfrm>
        </p:grpSpPr>
        <p:grpSp>
          <p:nvGrpSpPr>
            <p:cNvPr id="76" name="noise-tradeoff-chartArea"/>
            <p:cNvGrpSpPr/>
            <p:nvPr/>
          </p:nvGrpSpPr>
          <p:grpSpPr>
            <a:xfrm>
              <a:off x="6456026" y="2702242"/>
              <a:ext cx="5045040" cy="2388109"/>
              <a:chOff x="6456026" y="2702242"/>
              <a:chExt cx="5045040" cy="2388109"/>
            </a:xfrm>
          </p:grpSpPr>
          <p:sp>
            <p:nvSpPr>
              <p:cNvPr id="49" name="Line 49"/>
              <p:cNvSpPr/>
              <p:nvPr/>
            </p:nvSpPr>
            <p:spPr>
              <a:xfrm>
                <a:off x="6877050" y="4705350"/>
                <a:ext cx="4467225" cy="9525"/>
              </a:xfrm>
              <a:custGeom>
                <a:avLst/>
                <a:gdLst/>
                <a:ahLst/>
                <a:cxnLst/>
                <a:rect l="l" t="t" r="r" b="b"/>
                <a:pathLst>
                  <a:path w="4467225" h="9525">
                    <a:moveTo>
                      <a:pt x="0" y="0"/>
                    </a:moveTo>
                    <a:lnTo>
                      <a:pt x="4467225" y="0"/>
                    </a:lnTo>
                  </a:path>
                </a:pathLst>
              </a:custGeom>
              <a:noFill/>
              <a:ln w="9525">
                <a:solidFill>
                  <a:srgbClr val="E0E7E2"/>
                </a:solidFill>
              </a:ln>
            </p:spPr>
          </p:sp>
          <p:sp>
            <p:nvSpPr>
              <p:cNvPr id="50" name="TextBox 50"/>
              <p:cNvSpPr txBox="1"/>
              <p:nvPr/>
            </p:nvSpPr>
            <p:spPr>
              <a:xfrm>
                <a:off x="6456026" y="461676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0.0</a:t>
                </a:r>
              </a:p>
            </p:txBody>
          </p:sp>
          <p:sp>
            <p:nvSpPr>
              <p:cNvPr id="51" name="Line 51"/>
              <p:cNvSpPr/>
              <p:nvPr/>
            </p:nvSpPr>
            <p:spPr>
              <a:xfrm>
                <a:off x="6877050" y="4322445"/>
                <a:ext cx="4467225" cy="9525"/>
              </a:xfrm>
              <a:custGeom>
                <a:avLst/>
                <a:gdLst/>
                <a:ahLst/>
                <a:cxnLst/>
                <a:rect l="l" t="t" r="r" b="b"/>
                <a:pathLst>
                  <a:path w="4467225" h="9525">
                    <a:moveTo>
                      <a:pt x="0" y="0"/>
                    </a:moveTo>
                    <a:lnTo>
                      <a:pt x="4467225" y="0"/>
                    </a:lnTo>
                  </a:path>
                </a:pathLst>
              </a:custGeom>
              <a:noFill/>
              <a:ln w="9525">
                <a:solidFill>
                  <a:srgbClr val="E0E7E2"/>
                </a:solidFill>
              </a:ln>
            </p:spPr>
          </p:sp>
          <p:sp>
            <p:nvSpPr>
              <p:cNvPr id="52" name="TextBox 52"/>
              <p:cNvSpPr txBox="1"/>
              <p:nvPr/>
            </p:nvSpPr>
            <p:spPr>
              <a:xfrm>
                <a:off x="6456026" y="423386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0.5</a:t>
                </a:r>
              </a:p>
            </p:txBody>
          </p:sp>
          <p:sp>
            <p:nvSpPr>
              <p:cNvPr id="53" name="Line 53"/>
              <p:cNvSpPr/>
              <p:nvPr/>
            </p:nvSpPr>
            <p:spPr>
              <a:xfrm>
                <a:off x="6877050" y="3939540"/>
                <a:ext cx="4467225" cy="9525"/>
              </a:xfrm>
              <a:custGeom>
                <a:avLst/>
                <a:gdLst/>
                <a:ahLst/>
                <a:cxnLst/>
                <a:rect l="l" t="t" r="r" b="b"/>
                <a:pathLst>
                  <a:path w="4467225" h="9525">
                    <a:moveTo>
                      <a:pt x="0" y="0"/>
                    </a:moveTo>
                    <a:lnTo>
                      <a:pt x="4467225" y="0"/>
                    </a:lnTo>
                  </a:path>
                </a:pathLst>
              </a:custGeom>
              <a:noFill/>
              <a:ln w="9525">
                <a:solidFill>
                  <a:srgbClr val="E0E7E2"/>
                </a:solidFill>
              </a:ln>
            </p:spPr>
          </p:sp>
          <p:sp>
            <p:nvSpPr>
              <p:cNvPr id="54" name="TextBox 54"/>
              <p:cNvSpPr txBox="1"/>
              <p:nvPr/>
            </p:nvSpPr>
            <p:spPr>
              <a:xfrm>
                <a:off x="6456026" y="385095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1.0</a:t>
                </a:r>
              </a:p>
            </p:txBody>
          </p:sp>
          <p:sp>
            <p:nvSpPr>
              <p:cNvPr id="55" name="Line 55"/>
              <p:cNvSpPr/>
              <p:nvPr/>
            </p:nvSpPr>
            <p:spPr>
              <a:xfrm>
                <a:off x="6877050" y="3556635"/>
                <a:ext cx="4467225" cy="9525"/>
              </a:xfrm>
              <a:custGeom>
                <a:avLst/>
                <a:gdLst/>
                <a:ahLst/>
                <a:cxnLst/>
                <a:rect l="l" t="t" r="r" b="b"/>
                <a:pathLst>
                  <a:path w="4467225" h="9525">
                    <a:moveTo>
                      <a:pt x="0" y="0"/>
                    </a:moveTo>
                    <a:lnTo>
                      <a:pt x="4467225" y="0"/>
                    </a:lnTo>
                  </a:path>
                </a:pathLst>
              </a:custGeom>
              <a:noFill/>
              <a:ln w="9525">
                <a:solidFill>
                  <a:srgbClr val="E0E7E2"/>
                </a:solidFill>
              </a:ln>
            </p:spPr>
          </p:sp>
          <p:sp>
            <p:nvSpPr>
              <p:cNvPr id="56" name="TextBox 56"/>
              <p:cNvSpPr txBox="1"/>
              <p:nvPr/>
            </p:nvSpPr>
            <p:spPr>
              <a:xfrm>
                <a:off x="6456026" y="346805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1.5</a:t>
                </a:r>
              </a:p>
            </p:txBody>
          </p:sp>
          <p:sp>
            <p:nvSpPr>
              <p:cNvPr id="57" name="Line 57"/>
              <p:cNvSpPr/>
              <p:nvPr/>
            </p:nvSpPr>
            <p:spPr>
              <a:xfrm>
                <a:off x="6877050" y="3173730"/>
                <a:ext cx="4467225" cy="9525"/>
              </a:xfrm>
              <a:custGeom>
                <a:avLst/>
                <a:gdLst/>
                <a:ahLst/>
                <a:cxnLst/>
                <a:rect l="l" t="t" r="r" b="b"/>
                <a:pathLst>
                  <a:path w="4467225" h="9525">
                    <a:moveTo>
                      <a:pt x="0" y="0"/>
                    </a:moveTo>
                    <a:lnTo>
                      <a:pt x="4467225" y="0"/>
                    </a:lnTo>
                  </a:path>
                </a:pathLst>
              </a:custGeom>
              <a:noFill/>
              <a:ln w="9525">
                <a:solidFill>
                  <a:srgbClr val="E0E7E2"/>
                </a:solidFill>
              </a:ln>
            </p:spPr>
          </p:sp>
          <p:sp>
            <p:nvSpPr>
              <p:cNvPr id="58" name="TextBox 58"/>
              <p:cNvSpPr txBox="1"/>
              <p:nvPr/>
            </p:nvSpPr>
            <p:spPr>
              <a:xfrm>
                <a:off x="6456026" y="3085148"/>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2.0</a:t>
                </a:r>
              </a:p>
            </p:txBody>
          </p:sp>
          <p:sp>
            <p:nvSpPr>
              <p:cNvPr id="59" name="Line 59"/>
              <p:cNvSpPr/>
              <p:nvPr/>
            </p:nvSpPr>
            <p:spPr>
              <a:xfrm>
                <a:off x="6877050" y="2790825"/>
                <a:ext cx="4467225" cy="9525"/>
              </a:xfrm>
              <a:custGeom>
                <a:avLst/>
                <a:gdLst/>
                <a:ahLst/>
                <a:cxnLst/>
                <a:rect l="l" t="t" r="r" b="b"/>
                <a:pathLst>
                  <a:path w="4467225" h="9525">
                    <a:moveTo>
                      <a:pt x="0" y="0"/>
                    </a:moveTo>
                    <a:lnTo>
                      <a:pt x="4467225" y="0"/>
                    </a:lnTo>
                  </a:path>
                </a:pathLst>
              </a:custGeom>
              <a:noFill/>
              <a:ln w="9525">
                <a:solidFill>
                  <a:srgbClr val="E0E7E2"/>
                </a:solidFill>
              </a:ln>
            </p:spPr>
          </p:sp>
          <p:sp>
            <p:nvSpPr>
              <p:cNvPr id="60" name="TextBox 60"/>
              <p:cNvSpPr txBox="1"/>
              <p:nvPr/>
            </p:nvSpPr>
            <p:spPr>
              <a:xfrm>
                <a:off x="6456026" y="2702242"/>
                <a:ext cx="313582" cy="264033"/>
              </a:xfrm>
              <a:prstGeom prst="rect">
                <a:avLst/>
              </a:prstGeom>
              <a:noFill/>
              <a:ln>
                <a:noFill/>
              </a:ln>
            </p:spPr>
            <p:txBody>
              <a:bodyPr wrap="none" lIns="0" tIns="0" rIns="0" bIns="0" anchor="t" anchorCtr="0">
                <a:spAutoFit/>
              </a:bodyPr>
              <a:lstStyle/>
              <a:p>
                <a:pPr algn="r"/>
                <a:r>
                  <a:rPr lang="zh-CN" sz="1350" dirty="0">
                    <a:solidFill>
                      <a:schemeClr val="accent5"/>
                    </a:solidFill>
                    <a:latin typeface="+mn-lt"/>
                    <a:ea typeface="+mn-ea"/>
                    <a:cs typeface="+mn-cs"/>
                  </a:rPr>
                  <a:t>2.5</a:t>
                </a:r>
              </a:p>
            </p:txBody>
          </p:sp>
          <p:sp>
            <p:nvSpPr>
              <p:cNvPr id="61" name="TextBox 61"/>
              <p:cNvSpPr txBox="1"/>
              <p:nvPr/>
            </p:nvSpPr>
            <p:spPr>
              <a:xfrm>
                <a:off x="6820214" y="4826318"/>
                <a:ext cx="113671"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0</a:t>
                </a:r>
              </a:p>
            </p:txBody>
          </p:sp>
          <p:sp>
            <p:nvSpPr>
              <p:cNvPr id="62" name="TextBox 62"/>
              <p:cNvSpPr txBox="1"/>
              <p:nvPr/>
            </p:nvSpPr>
            <p:spPr>
              <a:xfrm>
                <a:off x="7837065" y="48263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150</a:t>
                </a:r>
              </a:p>
            </p:txBody>
          </p:sp>
          <p:sp>
            <p:nvSpPr>
              <p:cNvPr id="63" name="TextBox 63"/>
              <p:cNvSpPr txBox="1"/>
              <p:nvPr/>
            </p:nvSpPr>
            <p:spPr>
              <a:xfrm>
                <a:off x="8953871" y="48263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300</a:t>
                </a:r>
              </a:p>
            </p:txBody>
          </p:sp>
          <p:sp>
            <p:nvSpPr>
              <p:cNvPr id="64" name="TextBox 64"/>
              <p:cNvSpPr txBox="1"/>
              <p:nvPr/>
            </p:nvSpPr>
            <p:spPr>
              <a:xfrm>
                <a:off x="10070678" y="48263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450</a:t>
                </a:r>
              </a:p>
            </p:txBody>
          </p:sp>
          <p:sp>
            <p:nvSpPr>
              <p:cNvPr id="65" name="TextBox 65"/>
              <p:cNvSpPr txBox="1"/>
              <p:nvPr/>
            </p:nvSpPr>
            <p:spPr>
              <a:xfrm>
                <a:off x="11187484" y="4826318"/>
                <a:ext cx="313582" cy="264033"/>
              </a:xfrm>
              <a:prstGeom prst="rect">
                <a:avLst/>
              </a:prstGeom>
              <a:noFill/>
              <a:ln>
                <a:noFill/>
              </a:ln>
            </p:spPr>
            <p:txBody>
              <a:bodyPr wrap="none" lIns="0" tIns="0" rIns="0" bIns="0" anchor="t" anchorCtr="0">
                <a:spAutoFit/>
              </a:bodyPr>
              <a:lstStyle/>
              <a:p>
                <a:pPr algn="ctr"/>
                <a:r>
                  <a:rPr lang="zh-CN" sz="1350" dirty="0">
                    <a:solidFill>
                      <a:schemeClr val="accent5"/>
                    </a:solidFill>
                    <a:latin typeface="+mn-lt"/>
                    <a:ea typeface="+mn-ea"/>
                    <a:cs typeface="+mn-cs"/>
                  </a:rPr>
                  <a:t>600</a:t>
                </a:r>
              </a:p>
            </p:txBody>
          </p:sp>
          <p:sp>
            <p:nvSpPr>
              <p:cNvPr id="66" name="Line 66"/>
              <p:cNvSpPr/>
              <p:nvPr/>
            </p:nvSpPr>
            <p:spPr>
              <a:xfrm>
                <a:off x="6877050" y="2790825"/>
                <a:ext cx="9525" cy="1914525"/>
              </a:xfrm>
              <a:custGeom>
                <a:avLst/>
                <a:gdLst/>
                <a:ahLst/>
                <a:cxnLst/>
                <a:rect l="l" t="t" r="r" b="b"/>
                <a:pathLst>
                  <a:path w="9525" h="1914525">
                    <a:moveTo>
                      <a:pt x="0" y="0"/>
                    </a:moveTo>
                    <a:lnTo>
                      <a:pt x="0" y="1914525"/>
                    </a:lnTo>
                  </a:path>
                </a:pathLst>
              </a:custGeom>
              <a:noFill/>
              <a:ln w="9525">
                <a:solidFill>
                  <a:srgbClr val="556762"/>
                </a:solidFill>
              </a:ln>
            </p:spPr>
          </p:sp>
          <p:sp>
            <p:nvSpPr>
              <p:cNvPr id="67" name="Line 67"/>
              <p:cNvSpPr/>
              <p:nvPr/>
            </p:nvSpPr>
            <p:spPr>
              <a:xfrm>
                <a:off x="6877050" y="4705350"/>
                <a:ext cx="4467225" cy="9525"/>
              </a:xfrm>
              <a:custGeom>
                <a:avLst/>
                <a:gdLst/>
                <a:ahLst/>
                <a:cxnLst/>
                <a:rect l="l" t="t" r="r" b="b"/>
                <a:pathLst>
                  <a:path w="4467225" h="9525">
                    <a:moveTo>
                      <a:pt x="0" y="0"/>
                    </a:moveTo>
                    <a:lnTo>
                      <a:pt x="4467225" y="0"/>
                    </a:lnTo>
                  </a:path>
                </a:pathLst>
              </a:custGeom>
              <a:noFill/>
              <a:ln w="9525">
                <a:solidFill>
                  <a:srgbClr val="556762"/>
                </a:solidFill>
              </a:ln>
            </p:spPr>
          </p:sp>
          <p:sp>
            <p:nvSpPr>
              <p:cNvPr id="68" name="Ellipse 68"/>
              <p:cNvSpPr/>
              <p:nvPr/>
            </p:nvSpPr>
            <p:spPr>
              <a:xfrm>
                <a:off x="7390962" y="3854358"/>
                <a:ext cx="114300" cy="114300"/>
              </a:xfrm>
              <a:prstGeom prst="ellipse">
                <a:avLst/>
              </a:prstGeom>
              <a:solidFill>
                <a:schemeClr val="accent1"/>
              </a:solidFill>
              <a:ln>
                <a:noFill/>
              </a:ln>
            </p:spPr>
          </p:sp>
          <p:sp>
            <p:nvSpPr>
              <p:cNvPr id="69" name="TextBox 69"/>
              <p:cNvSpPr txBox="1"/>
              <p:nvPr/>
            </p:nvSpPr>
            <p:spPr>
              <a:xfrm>
                <a:off x="7631754" y="3670525"/>
                <a:ext cx="677056" cy="264033"/>
              </a:xfrm>
              <a:prstGeom prst="rect">
                <a:avLst/>
              </a:prstGeom>
              <a:noFill/>
              <a:ln>
                <a:noFill/>
              </a:ln>
            </p:spPr>
            <p:txBody>
              <a:bodyPr wrap="none" lIns="0" tIns="0" rIns="0" bIns="0" anchor="t" anchorCtr="0">
                <a:spAutoFit/>
              </a:bodyPr>
              <a:lstStyle/>
              <a:p>
                <a:pPr algn="l"/>
                <a:r>
                  <a:rPr lang="zh-CN" sz="1350" dirty="0">
                    <a:solidFill>
                      <a:schemeClr val="accent1"/>
                    </a:solidFill>
                    <a:latin typeface="+mn-lt"/>
                    <a:ea typeface="+mn-ea"/>
                    <a:cs typeface="+mn-cs"/>
                  </a:rPr>
                  <a:t>周期10s</a:t>
                </a:r>
              </a:p>
            </p:txBody>
          </p:sp>
          <p:sp>
            <p:nvSpPr>
              <p:cNvPr id="70" name="Ellipse 70"/>
              <p:cNvSpPr/>
              <p:nvPr/>
            </p:nvSpPr>
            <p:spPr>
              <a:xfrm>
                <a:off x="7070065" y="3256302"/>
                <a:ext cx="114300" cy="114300"/>
              </a:xfrm>
              <a:prstGeom prst="ellipse">
                <a:avLst/>
              </a:prstGeom>
              <a:solidFill>
                <a:schemeClr val="accent3"/>
              </a:solidFill>
              <a:ln>
                <a:noFill/>
              </a:ln>
            </p:spPr>
          </p:sp>
          <p:sp>
            <p:nvSpPr>
              <p:cNvPr id="71" name="TextBox 71"/>
              <p:cNvSpPr txBox="1"/>
              <p:nvPr/>
            </p:nvSpPr>
            <p:spPr>
              <a:xfrm>
                <a:off x="7234657" y="3034370"/>
                <a:ext cx="677056" cy="264033"/>
              </a:xfrm>
              <a:prstGeom prst="rect">
                <a:avLst/>
              </a:prstGeom>
              <a:noFill/>
              <a:ln>
                <a:noFill/>
              </a:ln>
            </p:spPr>
            <p:txBody>
              <a:bodyPr wrap="none" lIns="0" tIns="0" rIns="0" bIns="0" anchor="t" anchorCtr="0">
                <a:spAutoFit/>
              </a:bodyPr>
              <a:lstStyle/>
              <a:p>
                <a:pPr algn="l"/>
                <a:r>
                  <a:rPr lang="zh-CN" sz="1350" dirty="0">
                    <a:solidFill>
                      <a:schemeClr val="accent3"/>
                    </a:solidFill>
                    <a:latin typeface="+mn-lt"/>
                    <a:ea typeface="+mn-ea"/>
                    <a:cs typeface="+mn-cs"/>
                  </a:rPr>
                  <a:t>周期30s</a:t>
                </a:r>
              </a:p>
            </p:txBody>
          </p:sp>
          <p:sp>
            <p:nvSpPr>
              <p:cNvPr id="72" name="Ellipse 72"/>
              <p:cNvSpPr/>
              <p:nvPr/>
            </p:nvSpPr>
            <p:spPr>
              <a:xfrm>
                <a:off x="10478929" y="4529014"/>
                <a:ext cx="114300" cy="114300"/>
              </a:xfrm>
              <a:prstGeom prst="ellipse">
                <a:avLst/>
              </a:prstGeom>
              <a:solidFill>
                <a:schemeClr val="accent2"/>
              </a:solidFill>
              <a:ln>
                <a:noFill/>
              </a:ln>
            </p:spPr>
          </p:sp>
          <p:sp>
            <p:nvSpPr>
              <p:cNvPr id="73" name="TextBox 73"/>
              <p:cNvSpPr txBox="1"/>
              <p:nvPr/>
            </p:nvSpPr>
            <p:spPr>
              <a:xfrm>
                <a:off x="9529096" y="4307081"/>
                <a:ext cx="740664" cy="264033"/>
              </a:xfrm>
              <a:prstGeom prst="rect">
                <a:avLst/>
              </a:prstGeom>
              <a:noFill/>
              <a:ln>
                <a:noFill/>
              </a:ln>
            </p:spPr>
            <p:txBody>
              <a:bodyPr wrap="none" lIns="0" tIns="0" rIns="0" bIns="0" anchor="t" anchorCtr="0">
                <a:spAutoFit/>
              </a:bodyPr>
              <a:lstStyle/>
              <a:p>
                <a:pPr algn="l"/>
                <a:r>
                  <a:rPr lang="zh-CN" sz="1350" dirty="0">
                    <a:solidFill>
                      <a:schemeClr val="accent2"/>
                    </a:solidFill>
                    <a:latin typeface="+mn-lt"/>
                    <a:ea typeface="+mn-ea"/>
                    <a:cs typeface="+mn-cs"/>
                  </a:rPr>
                  <a:t>原始事件</a:t>
                </a:r>
              </a:p>
            </p:txBody>
          </p:sp>
          <p:sp>
            <p:nvSpPr>
              <p:cNvPr id="74" name="Ellipse 74"/>
              <p:cNvSpPr/>
              <p:nvPr/>
            </p:nvSpPr>
            <p:spPr>
              <a:xfrm>
                <a:off x="7065969" y="3782349"/>
                <a:ext cx="114300" cy="114300"/>
              </a:xfrm>
              <a:prstGeom prst="ellipse">
                <a:avLst/>
              </a:prstGeom>
              <a:solidFill>
                <a:srgbClr val="83639B"/>
              </a:solidFill>
              <a:ln>
                <a:noFill/>
              </a:ln>
            </p:spPr>
          </p:sp>
          <p:sp>
            <p:nvSpPr>
              <p:cNvPr id="75" name="TextBox 75"/>
              <p:cNvSpPr txBox="1"/>
              <p:nvPr/>
            </p:nvSpPr>
            <p:spPr>
              <a:xfrm>
                <a:off x="7230561" y="4103341"/>
                <a:ext cx="1104138" cy="264033"/>
              </a:xfrm>
              <a:prstGeom prst="rect">
                <a:avLst/>
              </a:prstGeom>
              <a:noFill/>
              <a:ln>
                <a:noFill/>
              </a:ln>
            </p:spPr>
            <p:txBody>
              <a:bodyPr wrap="none" lIns="0" tIns="0" rIns="0" bIns="0" anchor="t" anchorCtr="0">
                <a:spAutoFit/>
              </a:bodyPr>
              <a:lstStyle/>
              <a:p>
                <a:pPr algn="l"/>
                <a:r>
                  <a:rPr lang="zh-CN" sz="1350" dirty="0">
                    <a:solidFill>
                      <a:srgbClr val="83639B"/>
                    </a:solidFill>
                    <a:latin typeface="+mn-lt"/>
                    <a:ea typeface="+mn-ea"/>
                    <a:cs typeface="+mn-cs"/>
                  </a:rPr>
                  <a:t>滤波限频事件</a:t>
                </a:r>
              </a:p>
            </p:txBody>
          </p:sp>
        </p:grpSp>
      </p:grpSp>
      <p:grpSp>
        <p:nvGrpSpPr>
          <p:cNvPr id="80" name="communication-implication"/>
          <p:cNvGrpSpPr/>
          <p:nvPr/>
        </p:nvGrpSpPr>
        <p:grpSpPr>
          <a:xfrm>
            <a:off x="448056" y="5539740"/>
            <a:ext cx="8921801" cy="598361"/>
            <a:chOff x="448056" y="5539740"/>
            <a:chExt cx="8921801" cy="598361"/>
          </a:xfrm>
        </p:grpSpPr>
        <p:sp>
          <p:nvSpPr>
            <p:cNvPr id="78" name="TextBox 78"/>
            <p:cNvSpPr txBox="1"/>
            <p:nvPr/>
          </p:nvSpPr>
          <p:spPr>
            <a:xfrm>
              <a:off x="448056" y="5539740"/>
              <a:ext cx="8921801"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横轴：上行＋ACK帧（含清队列）。少发帧可能增加信息误差；慢周期也有竞争力。</a:t>
              </a:r>
            </a:p>
          </p:txBody>
        </p:sp>
        <p:sp>
          <p:nvSpPr>
            <p:cNvPr id="79" name="TextBox 79"/>
            <p:cNvSpPr txBox="1"/>
            <p:nvPr/>
          </p:nvSpPr>
          <p:spPr>
            <a:xfrm>
              <a:off x="450342" y="5874068"/>
              <a:ext cx="6548018"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MAE相对本地模拟滤波量，首次接收前另报覆盖；不是实际压力精度或整机节电。</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627632"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新增合成挑战｜非实测</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5544693" cy="616077"/>
            <a:chOff x="441198" y="812483"/>
            <a:chExt cx="5544693" cy="616077"/>
          </a:xfrm>
        </p:grpSpPr>
        <p:sp>
          <p:nvSpPr>
            <p:cNvPr id="7" name="TextBox 7"/>
            <p:cNvSpPr txBox="1"/>
            <p:nvPr/>
          </p:nvSpPr>
          <p:spPr>
            <a:xfrm>
              <a:off x="441198" y="812483"/>
              <a:ext cx="5544693"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增加测点仍不能消除所有混淆</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829349"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来源：diagnosis_results/summary.json，6场景×4噪声×20种子；合成重复不是实物识别率。</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08 / 15</a:t>
            </a:r>
          </a:p>
        </p:txBody>
      </p:sp>
      <p:grpSp>
        <p:nvGrpSpPr>
          <p:cNvPr id="23" name="failure-boundaries"/>
          <p:cNvGrpSpPr/>
          <p:nvPr/>
        </p:nvGrpSpPr>
        <p:grpSpPr>
          <a:xfrm>
            <a:off x="438150" y="1990725"/>
            <a:ext cx="11296650" cy="4117848"/>
            <a:chOff x="438150" y="1990725"/>
            <a:chExt cx="11296650" cy="4117848"/>
          </a:xfrm>
        </p:grpSpPr>
        <p:sp>
          <p:nvSpPr>
            <p:cNvPr id="12" name="TextBox 12"/>
            <p:cNvSpPr txBox="1"/>
            <p:nvPr/>
          </p:nvSpPr>
          <p:spPr>
            <a:xfrm>
              <a:off x="438150" y="1990725"/>
              <a:ext cx="2168966" cy="876300"/>
            </a:xfrm>
            <a:prstGeom prst="rect">
              <a:avLst/>
            </a:prstGeom>
            <a:noFill/>
            <a:ln>
              <a:noFill/>
            </a:ln>
          </p:spPr>
          <p:txBody>
            <a:bodyPr wrap="none" lIns="0" tIns="0" rIns="0" bIns="0" anchor="t" anchorCtr="0">
              <a:spAutoFit/>
            </a:bodyPr>
            <a:lstStyle/>
            <a:p>
              <a:pPr algn="l"/>
              <a:r>
                <a:rPr lang="zh-CN" sz="4500" b="1" dirty="0">
                  <a:solidFill>
                    <a:schemeClr val="accent2"/>
                  </a:solidFill>
                  <a:latin typeface="+mn-lt"/>
                  <a:ea typeface="+mn-ea"/>
                  <a:cs typeface="+mn-cs"/>
                </a:rPr>
                <a:t>12 / 20</a:t>
              </a:r>
            </a:p>
          </p:txBody>
        </p:sp>
        <p:sp>
          <p:nvSpPr>
            <p:cNvPr id="13" name="TextBox 13"/>
            <p:cNvSpPr txBox="1"/>
            <p:nvPr/>
          </p:nvSpPr>
          <p:spPr>
            <a:xfrm>
              <a:off x="3636645" y="2138362"/>
              <a:ext cx="3657600" cy="440055"/>
            </a:xfrm>
            <a:prstGeom prst="rect">
              <a:avLst/>
            </a:prstGeom>
            <a:noFill/>
            <a:ln>
              <a:noFill/>
            </a:ln>
          </p:spPr>
          <p:txBody>
            <a:bodyPr wrap="none" lIns="0" tIns="0" rIns="0" bIns="0" anchor="t" anchorCtr="0">
              <a:spAutoFit/>
            </a:bodyPr>
            <a:lstStyle/>
            <a:p>
              <a:pPr algn="l"/>
              <a:r>
                <a:rPr lang="zh-CN" sz="2250" dirty="0">
                  <a:solidFill>
                    <a:schemeClr val="accent1"/>
                  </a:solidFill>
                  <a:latin typeface="+mn-lt"/>
                  <a:ea typeface="+mn-ea"/>
                  <a:cs typeface="+mn-cs"/>
                </a:rPr>
                <a:t>大噪声下正确提前发现试次</a:t>
              </a:r>
            </a:p>
          </p:txBody>
        </p:sp>
        <p:sp>
          <p:nvSpPr>
            <p:cNvPr id="14" name="TextBox 14"/>
            <p:cNvSpPr txBox="1"/>
            <p:nvPr/>
          </p:nvSpPr>
          <p:spPr>
            <a:xfrm>
              <a:off x="3638931" y="2663190"/>
              <a:ext cx="494861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两类均如此；压力噪声σ10kPa，非实物性能。</a:t>
              </a:r>
            </a:p>
          </p:txBody>
        </p:sp>
        <p:sp>
          <p:nvSpPr>
            <p:cNvPr id="15" name="Line 15"/>
            <p:cNvSpPr/>
            <p:nvPr/>
          </p:nvSpPr>
          <p:spPr>
            <a:xfrm>
              <a:off x="457200" y="32004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6" name="TextBox 16"/>
            <p:cNvSpPr txBox="1"/>
            <p:nvPr/>
          </p:nvSpPr>
          <p:spPr>
            <a:xfrm>
              <a:off x="446532" y="3526155"/>
              <a:ext cx="1152144" cy="410718"/>
            </a:xfrm>
            <a:prstGeom prst="rect">
              <a:avLst/>
            </a:prstGeom>
            <a:noFill/>
            <a:ln>
              <a:noFill/>
            </a:ln>
          </p:spPr>
          <p:txBody>
            <a:bodyPr wrap="none" lIns="0" tIns="0" rIns="0" bIns="0" anchor="t" anchorCtr="0">
              <a:spAutoFit/>
            </a:bodyPr>
            <a:lstStyle/>
            <a:p>
              <a:pPr algn="l"/>
              <a:r>
                <a:rPr lang="zh-CN" sz="2100" dirty="0">
                  <a:solidFill>
                    <a:schemeClr val="accent2"/>
                  </a:solidFill>
                  <a:latin typeface="+mn-lt"/>
                  <a:ea typeface="+mn-ea"/>
                  <a:cs typeface="+mn-cs"/>
                </a:rPr>
                <a:t>测量漂移</a:t>
              </a:r>
            </a:p>
          </p:txBody>
        </p:sp>
        <p:sp>
          <p:nvSpPr>
            <p:cNvPr id="17" name="TextBox 17"/>
            <p:cNvSpPr txBox="1"/>
            <p:nvPr/>
          </p:nvSpPr>
          <p:spPr>
            <a:xfrm>
              <a:off x="2676906" y="3558540"/>
              <a:ext cx="365302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入口压力漂移可被误判为局部受限</a:t>
              </a:r>
            </a:p>
          </p:txBody>
        </p:sp>
        <p:sp>
          <p:nvSpPr>
            <p:cNvPr id="18" name="TextBox 18"/>
            <p:cNvSpPr txBox="1"/>
            <p:nvPr/>
          </p:nvSpPr>
          <p:spPr>
            <a:xfrm>
              <a:off x="446532" y="4145280"/>
              <a:ext cx="1152144" cy="410718"/>
            </a:xfrm>
            <a:prstGeom prst="rect">
              <a:avLst/>
            </a:prstGeom>
            <a:noFill/>
            <a:ln>
              <a:noFill/>
            </a:ln>
          </p:spPr>
          <p:txBody>
            <a:bodyPr wrap="none" lIns="0" tIns="0" rIns="0" bIns="0" anchor="t" anchorCtr="0">
              <a:spAutoFit/>
            </a:bodyPr>
            <a:lstStyle/>
            <a:p>
              <a:pPr algn="l"/>
              <a:r>
                <a:rPr lang="zh-CN" sz="2100" dirty="0">
                  <a:solidFill>
                    <a:schemeClr val="accent2"/>
                  </a:solidFill>
                  <a:latin typeface="+mn-lt"/>
                  <a:ea typeface="+mn-ea"/>
                  <a:cs typeface="+mn-cs"/>
                </a:rPr>
                <a:t>状态未知</a:t>
              </a:r>
            </a:p>
          </p:txBody>
        </p:sp>
        <p:sp>
          <p:nvSpPr>
            <p:cNvPr id="19" name="TextBox 19"/>
            <p:cNvSpPr txBox="1"/>
            <p:nvPr/>
          </p:nvSpPr>
          <p:spPr>
            <a:xfrm>
              <a:off x="2676906" y="4177665"/>
              <a:ext cx="341071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正常负载增大可与等效泄漏同形</a:t>
              </a:r>
            </a:p>
          </p:txBody>
        </p:sp>
        <p:sp>
          <p:nvSpPr>
            <p:cNvPr id="20" name="TextBox 20"/>
            <p:cNvSpPr txBox="1"/>
            <p:nvPr/>
          </p:nvSpPr>
          <p:spPr>
            <a:xfrm>
              <a:off x="446532" y="4764405"/>
              <a:ext cx="1152144" cy="410718"/>
            </a:xfrm>
            <a:prstGeom prst="rect">
              <a:avLst/>
            </a:prstGeom>
            <a:noFill/>
            <a:ln>
              <a:noFill/>
            </a:ln>
          </p:spPr>
          <p:txBody>
            <a:bodyPr wrap="none" lIns="0" tIns="0" rIns="0" bIns="0" anchor="t" anchorCtr="0">
              <a:spAutoFit/>
            </a:bodyPr>
            <a:lstStyle/>
            <a:p>
              <a:pPr algn="l"/>
              <a:r>
                <a:rPr lang="zh-CN" sz="2100" dirty="0">
                  <a:solidFill>
                    <a:schemeClr val="accent2"/>
                  </a:solidFill>
                  <a:latin typeface="+mn-lt"/>
                  <a:ea typeface="+mn-ea"/>
                  <a:cs typeface="+mn-cs"/>
                </a:rPr>
                <a:t>理想假设</a:t>
              </a:r>
            </a:p>
          </p:txBody>
        </p:sp>
        <p:sp>
          <p:nvSpPr>
            <p:cNvPr id="21" name="TextBox 21"/>
            <p:cNvSpPr txBox="1"/>
            <p:nvPr/>
          </p:nvSpPr>
          <p:spPr>
            <a:xfrm>
              <a:off x="2676906" y="4796790"/>
              <a:ext cx="631850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单故障、同步测量、平方律；不能据此证明田间早期准确率</a:t>
              </a:r>
            </a:p>
          </p:txBody>
        </p:sp>
        <p:sp>
          <p:nvSpPr>
            <p:cNvPr id="22" name="TextBox 22"/>
            <p:cNvSpPr txBox="1"/>
            <p:nvPr/>
          </p:nvSpPr>
          <p:spPr>
            <a:xfrm>
              <a:off x="446532" y="5697855"/>
              <a:ext cx="6523482"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保留失败案例与强基线，按实际证据确定研究增量。</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627632"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拟实现系统｜演示网页</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5120640" cy="616077"/>
            <a:chOff x="441198" y="812483"/>
            <a:chExt cx="5120640" cy="616077"/>
          </a:xfrm>
        </p:grpSpPr>
        <p:sp>
          <p:nvSpPr>
            <p:cNvPr id="7" name="TextBox 7"/>
            <p:cNvSpPr txBox="1"/>
            <p:nvPr/>
          </p:nvSpPr>
          <p:spPr>
            <a:xfrm>
              <a:off x="441198" y="812483"/>
              <a:ext cx="5120640"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系统把故障证据交给管理者</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研究计划：实物、真实无线和田间证据尚未完成；所有指标及扩展按正式任务书冻结。</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09 / 15</a:t>
            </a:r>
          </a:p>
        </p:txBody>
      </p:sp>
      <p:grpSp>
        <p:nvGrpSpPr>
          <p:cNvPr id="30" name="system-chain"/>
          <p:cNvGrpSpPr/>
          <p:nvPr/>
        </p:nvGrpSpPr>
        <p:grpSpPr>
          <a:xfrm>
            <a:off x="446532" y="2276475"/>
            <a:ext cx="11288268" cy="3546348"/>
            <a:chOff x="446532" y="2276475"/>
            <a:chExt cx="11288268" cy="3546348"/>
          </a:xfrm>
        </p:grpSpPr>
        <p:sp>
          <p:nvSpPr>
            <p:cNvPr id="12" name="Rectangle 12"/>
            <p:cNvSpPr/>
            <p:nvPr/>
          </p:nvSpPr>
          <p:spPr>
            <a:xfrm>
              <a:off x="457200" y="2276475"/>
              <a:ext cx="2505075" cy="1400175"/>
            </a:xfrm>
            <a:prstGeom prst="rect">
              <a:avLst/>
            </a:prstGeom>
            <a:solidFill>
              <a:schemeClr val="lt2"/>
            </a:solidFill>
            <a:ln>
              <a:noFill/>
            </a:ln>
          </p:spPr>
        </p:sp>
        <p:sp>
          <p:nvSpPr>
            <p:cNvPr id="13" name="TextBox 13"/>
            <p:cNvSpPr txBox="1"/>
            <p:nvPr/>
          </p:nvSpPr>
          <p:spPr>
            <a:xfrm>
              <a:off x="637032" y="2526030"/>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原始采集</a:t>
              </a:r>
            </a:p>
          </p:txBody>
        </p:sp>
        <p:sp>
          <p:nvSpPr>
            <p:cNvPr id="14" name="TextBox 14"/>
            <p:cNvSpPr txBox="1"/>
            <p:nvPr/>
          </p:nvSpPr>
          <p:spPr>
            <a:xfrm>
              <a:off x="638556" y="3034665"/>
              <a:ext cx="1362456" cy="352044"/>
            </a:xfrm>
            <a:prstGeom prst="rect">
              <a:avLst/>
            </a:prstGeom>
            <a:noFill/>
            <a:ln>
              <a:noFill/>
            </a:ln>
          </p:spPr>
          <p:txBody>
            <a:bodyPr wrap="none" lIns="0" tIns="0" rIns="0" bIns="0" anchor="t" anchorCtr="0">
              <a:spAutoFit/>
            </a:bodyPr>
            <a:lstStyle/>
            <a:p>
              <a:pPr algn="l"/>
              <a:r>
                <a:rPr lang="en-US" sz="1800" dirty="0">
                  <a:solidFill>
                    <a:schemeClr val="dk1"/>
                  </a:solidFill>
                  <a:latin typeface="+mn-lt"/>
                  <a:ea typeface="+mn-ea"/>
                  <a:cs typeface="+mn-cs"/>
                </a:rPr>
                <a:t>P0 / P1 / Q</a:t>
              </a:r>
            </a:p>
          </p:txBody>
        </p:sp>
        <p:sp>
          <p:nvSpPr>
            <p:cNvPr id="15" name="Line 15"/>
            <p:cNvSpPr/>
            <p:nvPr/>
          </p:nvSpPr>
          <p:spPr>
            <a:xfrm>
              <a:off x="2962275" y="2971800"/>
              <a:ext cx="400050" cy="9525"/>
            </a:xfrm>
            <a:custGeom>
              <a:avLst/>
              <a:gdLst/>
              <a:ahLst/>
              <a:cxnLst/>
              <a:rect l="l" t="t" r="r" b="b"/>
              <a:pathLst>
                <a:path w="400050" h="9525">
                  <a:moveTo>
                    <a:pt x="0" y="0"/>
                  </a:moveTo>
                  <a:lnTo>
                    <a:pt x="400050" y="0"/>
                  </a:lnTo>
                </a:path>
              </a:pathLst>
            </a:custGeom>
            <a:noFill/>
            <a:ln w="28575">
              <a:solidFill>
                <a:schemeClr val="accent1"/>
              </a:solidFill>
            </a:ln>
          </p:spPr>
        </p:sp>
        <p:sp>
          <p:nvSpPr>
            <p:cNvPr id="16" name="Rectangle 16"/>
            <p:cNvSpPr/>
            <p:nvPr/>
          </p:nvSpPr>
          <p:spPr>
            <a:xfrm>
              <a:off x="3381375" y="2276475"/>
              <a:ext cx="2505075" cy="1400175"/>
            </a:xfrm>
            <a:prstGeom prst="rect">
              <a:avLst/>
            </a:prstGeom>
            <a:solidFill>
              <a:schemeClr val="lt2"/>
            </a:solidFill>
            <a:ln>
              <a:noFill/>
            </a:ln>
          </p:spPr>
        </p:sp>
        <p:sp>
          <p:nvSpPr>
            <p:cNvPr id="17" name="TextBox 17"/>
            <p:cNvSpPr txBox="1"/>
            <p:nvPr/>
          </p:nvSpPr>
          <p:spPr>
            <a:xfrm>
              <a:off x="3561207" y="2526030"/>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本地节点</a:t>
              </a:r>
            </a:p>
          </p:txBody>
        </p:sp>
        <p:sp>
          <p:nvSpPr>
            <p:cNvPr id="18" name="TextBox 18"/>
            <p:cNvSpPr txBox="1"/>
            <p:nvPr/>
          </p:nvSpPr>
          <p:spPr>
            <a:xfrm>
              <a:off x="3562731" y="3034665"/>
              <a:ext cx="1750847"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有限诊断 + 缓存</a:t>
              </a:r>
            </a:p>
          </p:txBody>
        </p:sp>
        <p:sp>
          <p:nvSpPr>
            <p:cNvPr id="19" name="Line 19"/>
            <p:cNvSpPr/>
            <p:nvPr/>
          </p:nvSpPr>
          <p:spPr>
            <a:xfrm>
              <a:off x="5886450" y="2971800"/>
              <a:ext cx="400050" cy="9525"/>
            </a:xfrm>
            <a:custGeom>
              <a:avLst/>
              <a:gdLst/>
              <a:ahLst/>
              <a:cxnLst/>
              <a:rect l="l" t="t" r="r" b="b"/>
              <a:pathLst>
                <a:path w="400050" h="9525">
                  <a:moveTo>
                    <a:pt x="0" y="0"/>
                  </a:moveTo>
                  <a:lnTo>
                    <a:pt x="400050" y="0"/>
                  </a:lnTo>
                </a:path>
              </a:pathLst>
            </a:custGeom>
            <a:noFill/>
            <a:ln w="28575">
              <a:solidFill>
                <a:schemeClr val="accent1"/>
              </a:solidFill>
            </a:ln>
          </p:spPr>
        </p:sp>
        <p:sp>
          <p:nvSpPr>
            <p:cNvPr id="20" name="Rectangle 20"/>
            <p:cNvSpPr/>
            <p:nvPr/>
          </p:nvSpPr>
          <p:spPr>
            <a:xfrm>
              <a:off x="6305550" y="2276475"/>
              <a:ext cx="2505075" cy="1400175"/>
            </a:xfrm>
            <a:prstGeom prst="rect">
              <a:avLst/>
            </a:prstGeom>
            <a:solidFill>
              <a:schemeClr val="lt2"/>
            </a:solidFill>
            <a:ln>
              <a:noFill/>
            </a:ln>
          </p:spPr>
        </p:sp>
        <p:sp>
          <p:nvSpPr>
            <p:cNvPr id="21" name="TextBox 21"/>
            <p:cNvSpPr txBox="1"/>
            <p:nvPr/>
          </p:nvSpPr>
          <p:spPr>
            <a:xfrm>
              <a:off x="6485382" y="2526030"/>
              <a:ext cx="125826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LoRa链路</a:t>
              </a:r>
            </a:p>
          </p:txBody>
        </p:sp>
        <p:sp>
          <p:nvSpPr>
            <p:cNvPr id="22" name="TextBox 22"/>
            <p:cNvSpPr txBox="1"/>
            <p:nvPr/>
          </p:nvSpPr>
          <p:spPr>
            <a:xfrm>
              <a:off x="6486906" y="3034665"/>
              <a:ext cx="121981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发送 + ACK</a:t>
              </a:r>
            </a:p>
          </p:txBody>
        </p:sp>
        <p:sp>
          <p:nvSpPr>
            <p:cNvPr id="23" name="Line 23"/>
            <p:cNvSpPr/>
            <p:nvPr/>
          </p:nvSpPr>
          <p:spPr>
            <a:xfrm>
              <a:off x="8810625" y="2971800"/>
              <a:ext cx="400050" cy="9525"/>
            </a:xfrm>
            <a:custGeom>
              <a:avLst/>
              <a:gdLst/>
              <a:ahLst/>
              <a:cxnLst/>
              <a:rect l="l" t="t" r="r" b="b"/>
              <a:pathLst>
                <a:path w="400050" h="9525">
                  <a:moveTo>
                    <a:pt x="0" y="0"/>
                  </a:moveTo>
                  <a:lnTo>
                    <a:pt x="400050" y="0"/>
                  </a:lnTo>
                </a:path>
              </a:pathLst>
            </a:custGeom>
            <a:noFill/>
            <a:ln w="28575">
              <a:solidFill>
                <a:schemeClr val="accent1"/>
              </a:solidFill>
            </a:ln>
          </p:spPr>
        </p:sp>
        <p:sp>
          <p:nvSpPr>
            <p:cNvPr id="24" name="Rectangle 24"/>
            <p:cNvSpPr/>
            <p:nvPr/>
          </p:nvSpPr>
          <p:spPr>
            <a:xfrm>
              <a:off x="9229725" y="2276475"/>
              <a:ext cx="2505075" cy="1400175"/>
            </a:xfrm>
            <a:prstGeom prst="rect">
              <a:avLst/>
            </a:prstGeom>
            <a:solidFill>
              <a:schemeClr val="lt2"/>
            </a:solidFill>
            <a:ln>
              <a:noFill/>
            </a:ln>
          </p:spPr>
        </p:sp>
        <p:sp>
          <p:nvSpPr>
            <p:cNvPr id="25" name="TextBox 25"/>
            <p:cNvSpPr txBox="1"/>
            <p:nvPr/>
          </p:nvSpPr>
          <p:spPr>
            <a:xfrm>
              <a:off x="9409557" y="2526030"/>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管理软件</a:t>
              </a:r>
            </a:p>
          </p:txBody>
        </p:sp>
        <p:sp>
          <p:nvSpPr>
            <p:cNvPr id="26" name="TextBox 26"/>
            <p:cNvSpPr txBox="1"/>
            <p:nvPr/>
          </p:nvSpPr>
          <p:spPr>
            <a:xfrm>
              <a:off x="9411081" y="3034665"/>
              <a:ext cx="1266215"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证据 + 确认</a:t>
              </a:r>
            </a:p>
          </p:txBody>
        </p:sp>
        <p:sp>
          <p:nvSpPr>
            <p:cNvPr id="27" name="TextBox 27"/>
            <p:cNvSpPr txBox="1"/>
            <p:nvPr/>
          </p:nvSpPr>
          <p:spPr>
            <a:xfrm>
              <a:off x="448056" y="4196715"/>
              <a:ext cx="704545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管理功能：设备档案、支管示意、趋势、事件确认、回放、导出。</a:t>
              </a:r>
            </a:p>
          </p:txBody>
        </p:sp>
        <p:sp>
          <p:nvSpPr>
            <p:cNvPr id="28" name="TextBox 28"/>
            <p:cNvSpPr txBox="1"/>
            <p:nvPr/>
          </p:nvSpPr>
          <p:spPr>
            <a:xfrm>
              <a:off x="448056" y="4739640"/>
              <a:ext cx="594291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分别显示：故障模式 / 待检查 / 数据无效 / 节点离线。</a:t>
              </a:r>
            </a:p>
          </p:txBody>
        </p:sp>
        <p:sp>
          <p:nvSpPr>
            <p:cNvPr id="29" name="TextBox 29"/>
            <p:cNvSpPr txBox="1"/>
            <p:nvPr/>
          </p:nvSpPr>
          <p:spPr>
            <a:xfrm>
              <a:off x="446532" y="5412105"/>
              <a:ext cx="7654290"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当前网站：设计及合成回放；接收日志与状态持久化拟实现。</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95072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实验计划｜数量待导师审核</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实施</a:t>
            </a:r>
          </a:p>
        </p:txBody>
      </p:sp>
      <p:grpSp>
        <p:nvGrpSpPr>
          <p:cNvPr id="8" name="page-title"/>
          <p:cNvGrpSpPr/>
          <p:nvPr/>
        </p:nvGrpSpPr>
        <p:grpSpPr>
          <a:xfrm>
            <a:off x="441198" y="812483"/>
            <a:ext cx="5544693" cy="616077"/>
            <a:chOff x="441198" y="812483"/>
            <a:chExt cx="5544693" cy="616077"/>
          </a:xfrm>
        </p:grpSpPr>
        <p:sp>
          <p:nvSpPr>
            <p:cNvPr id="7" name="TextBox 7"/>
            <p:cNvSpPr txBox="1"/>
            <p:nvPr/>
          </p:nvSpPr>
          <p:spPr>
            <a:xfrm>
              <a:off x="441198" y="812483"/>
              <a:ext cx="5544693"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目标有程度，实验有独立重复</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研究计划：实物、真实无线和田间证据尚未完成；所有指标及扩展按正式任务书冻结。</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10 / 15</a:t>
            </a:r>
          </a:p>
        </p:txBody>
      </p:sp>
      <p:grpSp>
        <p:nvGrpSpPr>
          <p:cNvPr id="29" name="validation-stages"/>
          <p:cNvGrpSpPr/>
          <p:nvPr/>
        </p:nvGrpSpPr>
        <p:grpSpPr>
          <a:xfrm>
            <a:off x="448056" y="1819275"/>
            <a:ext cx="11286744" cy="4299776"/>
            <a:chOff x="448056" y="1819275"/>
            <a:chExt cx="11286744" cy="4299776"/>
          </a:xfrm>
        </p:grpSpPr>
        <p:sp>
          <p:nvSpPr>
            <p:cNvPr id="12" name="Ellipse 12"/>
            <p:cNvSpPr/>
            <p:nvPr/>
          </p:nvSpPr>
          <p:spPr>
            <a:xfrm>
              <a:off x="476250" y="1819275"/>
              <a:ext cx="514350" cy="514350"/>
            </a:xfrm>
            <a:prstGeom prst="ellipse">
              <a:avLst/>
            </a:prstGeom>
            <a:solidFill>
              <a:schemeClr val="accent1"/>
            </a:solidFill>
            <a:ln>
              <a:noFill/>
            </a:ln>
          </p:spPr>
        </p:sp>
        <p:sp>
          <p:nvSpPr>
            <p:cNvPr id="13" name="TextBox 13"/>
            <p:cNvSpPr txBox="1"/>
            <p:nvPr/>
          </p:nvSpPr>
          <p:spPr>
            <a:xfrm>
              <a:off x="591007" y="1958340"/>
              <a:ext cx="284836" cy="352044"/>
            </a:xfrm>
            <a:prstGeom prst="rect">
              <a:avLst/>
            </a:prstGeom>
            <a:noFill/>
            <a:ln>
              <a:noFill/>
            </a:ln>
          </p:spPr>
          <p:txBody>
            <a:bodyPr wrap="none" lIns="0" tIns="0" rIns="0" bIns="0" anchor="t" anchorCtr="0">
              <a:spAutoFit/>
            </a:bodyPr>
            <a:lstStyle/>
            <a:p>
              <a:pPr algn="ctr"/>
              <a:r>
                <a:rPr lang="zh-CN" sz="1800" dirty="0">
                  <a:solidFill>
                    <a:srgbClr val="FFFFFF"/>
                  </a:solidFill>
                  <a:latin typeface="+mn-lt"/>
                  <a:ea typeface="+mn-ea"/>
                  <a:cs typeface="+mn-cs"/>
                </a:rPr>
                <a:t>01</a:t>
              </a:r>
            </a:p>
          </p:txBody>
        </p:sp>
        <p:sp>
          <p:nvSpPr>
            <p:cNvPr id="14" name="TextBox 14"/>
            <p:cNvSpPr txBox="1"/>
            <p:nvPr/>
          </p:nvSpPr>
          <p:spPr>
            <a:xfrm>
              <a:off x="1237107" y="1916430"/>
              <a:ext cx="1434846"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标定与台架</a:t>
              </a:r>
            </a:p>
          </p:txBody>
        </p:sp>
        <p:sp>
          <p:nvSpPr>
            <p:cNvPr id="15" name="TextBox 15"/>
            <p:cNvSpPr txBox="1"/>
            <p:nvPr/>
          </p:nvSpPr>
          <p:spPr>
            <a:xfrm>
              <a:off x="4400931" y="1948815"/>
              <a:ext cx="316839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五类工况、参考量与独立标签</a:t>
              </a:r>
            </a:p>
          </p:txBody>
        </p:sp>
        <p:sp>
          <p:nvSpPr>
            <p:cNvPr id="16" name="Line 16"/>
            <p:cNvSpPr/>
            <p:nvPr/>
          </p:nvSpPr>
          <p:spPr>
            <a:xfrm>
              <a:off x="733425" y="2343150"/>
              <a:ext cx="9525" cy="266700"/>
            </a:xfrm>
            <a:custGeom>
              <a:avLst/>
              <a:gdLst/>
              <a:ahLst/>
              <a:cxnLst/>
              <a:rect l="l" t="t" r="r" b="b"/>
              <a:pathLst>
                <a:path w="9525" h="266700">
                  <a:moveTo>
                    <a:pt x="0" y="0"/>
                  </a:moveTo>
                  <a:lnTo>
                    <a:pt x="0" y="266700"/>
                  </a:lnTo>
                </a:path>
              </a:pathLst>
            </a:custGeom>
            <a:noFill/>
            <a:ln w="19050">
              <a:solidFill>
                <a:schemeClr val="accent6"/>
              </a:solidFill>
            </a:ln>
          </p:spPr>
        </p:sp>
        <p:sp>
          <p:nvSpPr>
            <p:cNvPr id="17" name="Ellipse 17"/>
            <p:cNvSpPr/>
            <p:nvPr/>
          </p:nvSpPr>
          <p:spPr>
            <a:xfrm>
              <a:off x="476250" y="2905125"/>
              <a:ext cx="514350" cy="514350"/>
            </a:xfrm>
            <a:prstGeom prst="ellipse">
              <a:avLst/>
            </a:prstGeom>
            <a:solidFill>
              <a:schemeClr val="accent1"/>
            </a:solidFill>
            <a:ln>
              <a:noFill/>
            </a:ln>
          </p:spPr>
        </p:sp>
        <p:sp>
          <p:nvSpPr>
            <p:cNvPr id="18" name="TextBox 18"/>
            <p:cNvSpPr txBox="1"/>
            <p:nvPr/>
          </p:nvSpPr>
          <p:spPr>
            <a:xfrm>
              <a:off x="591007" y="3044190"/>
              <a:ext cx="284836" cy="352044"/>
            </a:xfrm>
            <a:prstGeom prst="rect">
              <a:avLst/>
            </a:prstGeom>
            <a:noFill/>
            <a:ln>
              <a:noFill/>
            </a:ln>
          </p:spPr>
          <p:txBody>
            <a:bodyPr wrap="none" lIns="0" tIns="0" rIns="0" bIns="0" anchor="t" anchorCtr="0">
              <a:spAutoFit/>
            </a:bodyPr>
            <a:lstStyle/>
            <a:p>
              <a:pPr algn="ctr"/>
              <a:r>
                <a:rPr lang="zh-CN" sz="1800" dirty="0">
                  <a:solidFill>
                    <a:srgbClr val="FFFFFF"/>
                  </a:solidFill>
                  <a:latin typeface="+mn-lt"/>
                  <a:ea typeface="+mn-ea"/>
                  <a:cs typeface="+mn-cs"/>
                </a:rPr>
                <a:t>02</a:t>
              </a:r>
            </a:p>
          </p:txBody>
        </p:sp>
        <p:sp>
          <p:nvSpPr>
            <p:cNvPr id="19" name="TextBox 19"/>
            <p:cNvSpPr txBox="1"/>
            <p:nvPr/>
          </p:nvSpPr>
          <p:spPr>
            <a:xfrm>
              <a:off x="1237107" y="3002280"/>
              <a:ext cx="1152144"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方法验证</a:t>
              </a:r>
            </a:p>
          </p:txBody>
        </p:sp>
        <p:sp>
          <p:nvSpPr>
            <p:cNvPr id="20" name="TextBox 20"/>
            <p:cNvSpPr txBox="1"/>
            <p:nvPr/>
          </p:nvSpPr>
          <p:spPr>
            <a:xfrm>
              <a:off x="4400931" y="3034665"/>
              <a:ext cx="292608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按批次留出、强基线、消融</a:t>
              </a:r>
            </a:p>
          </p:txBody>
        </p:sp>
        <p:sp>
          <p:nvSpPr>
            <p:cNvPr id="21" name="Line 21"/>
            <p:cNvSpPr/>
            <p:nvPr/>
          </p:nvSpPr>
          <p:spPr>
            <a:xfrm>
              <a:off x="733425" y="3429000"/>
              <a:ext cx="9525" cy="266700"/>
            </a:xfrm>
            <a:custGeom>
              <a:avLst/>
              <a:gdLst/>
              <a:ahLst/>
              <a:cxnLst/>
              <a:rect l="l" t="t" r="r" b="b"/>
              <a:pathLst>
                <a:path w="9525" h="266700">
                  <a:moveTo>
                    <a:pt x="0" y="0"/>
                  </a:moveTo>
                  <a:lnTo>
                    <a:pt x="0" y="266700"/>
                  </a:lnTo>
                </a:path>
              </a:pathLst>
            </a:custGeom>
            <a:noFill/>
            <a:ln w="19050">
              <a:solidFill>
                <a:schemeClr val="accent6"/>
              </a:solidFill>
            </a:ln>
          </p:spPr>
        </p:sp>
        <p:sp>
          <p:nvSpPr>
            <p:cNvPr id="22" name="Ellipse 22"/>
            <p:cNvSpPr/>
            <p:nvPr/>
          </p:nvSpPr>
          <p:spPr>
            <a:xfrm>
              <a:off x="476250" y="3990975"/>
              <a:ext cx="514350" cy="514350"/>
            </a:xfrm>
            <a:prstGeom prst="ellipse">
              <a:avLst/>
            </a:prstGeom>
            <a:solidFill>
              <a:schemeClr val="accent1"/>
            </a:solidFill>
            <a:ln>
              <a:noFill/>
            </a:ln>
          </p:spPr>
        </p:sp>
        <p:sp>
          <p:nvSpPr>
            <p:cNvPr id="23" name="TextBox 23"/>
            <p:cNvSpPr txBox="1"/>
            <p:nvPr/>
          </p:nvSpPr>
          <p:spPr>
            <a:xfrm>
              <a:off x="591007" y="4130040"/>
              <a:ext cx="284836" cy="352044"/>
            </a:xfrm>
            <a:prstGeom prst="rect">
              <a:avLst/>
            </a:prstGeom>
            <a:noFill/>
            <a:ln>
              <a:noFill/>
            </a:ln>
          </p:spPr>
          <p:txBody>
            <a:bodyPr wrap="none" lIns="0" tIns="0" rIns="0" bIns="0" anchor="t" anchorCtr="0">
              <a:spAutoFit/>
            </a:bodyPr>
            <a:lstStyle/>
            <a:p>
              <a:pPr algn="ctr"/>
              <a:r>
                <a:rPr lang="zh-CN" sz="1800" dirty="0">
                  <a:solidFill>
                    <a:srgbClr val="FFFFFF"/>
                  </a:solidFill>
                  <a:latin typeface="+mn-lt"/>
                  <a:ea typeface="+mn-ea"/>
                  <a:cs typeface="+mn-cs"/>
                </a:rPr>
                <a:t>03</a:t>
              </a:r>
            </a:p>
          </p:txBody>
        </p:sp>
        <p:sp>
          <p:nvSpPr>
            <p:cNvPr id="24" name="TextBox 24"/>
            <p:cNvSpPr txBox="1"/>
            <p:nvPr/>
          </p:nvSpPr>
          <p:spPr>
            <a:xfrm>
              <a:off x="1237107" y="4088130"/>
              <a:ext cx="1434846" cy="410718"/>
            </a:xfrm>
            <a:prstGeom prst="rect">
              <a:avLst/>
            </a:prstGeom>
            <a:noFill/>
            <a:ln>
              <a:noFill/>
            </a:ln>
          </p:spPr>
          <p:txBody>
            <a:bodyPr wrap="none" lIns="0" tIns="0" rIns="0" bIns="0" anchor="t" anchorCtr="0">
              <a:spAutoFit/>
            </a:bodyPr>
            <a:lstStyle/>
            <a:p>
              <a:pPr algn="l"/>
              <a:r>
                <a:rPr lang="zh-CN" sz="2100" b="1" dirty="0">
                  <a:solidFill>
                    <a:schemeClr val="accent1"/>
                  </a:solidFill>
                  <a:latin typeface="+mn-lt"/>
                  <a:ea typeface="+mn-ea"/>
                  <a:cs typeface="+mn-cs"/>
                </a:rPr>
                <a:t>无线与整机</a:t>
              </a:r>
            </a:p>
          </p:txBody>
        </p:sp>
        <p:sp>
          <p:nvSpPr>
            <p:cNvPr id="25" name="TextBox 25"/>
            <p:cNvSpPr txBox="1"/>
            <p:nvPr/>
          </p:nvSpPr>
          <p:spPr>
            <a:xfrm>
              <a:off x="4400931" y="4120515"/>
              <a:ext cx="281703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帧/字节、两段延迟、能量</a:t>
              </a:r>
            </a:p>
          </p:txBody>
        </p:sp>
        <p:sp>
          <p:nvSpPr>
            <p:cNvPr id="26" name="Line 26"/>
            <p:cNvSpPr/>
            <p:nvPr/>
          </p:nvSpPr>
          <p:spPr>
            <a:xfrm>
              <a:off x="457200" y="5133975"/>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27" name="TextBox 27"/>
            <p:cNvSpPr txBox="1"/>
            <p:nvPr/>
          </p:nvSpPr>
          <p:spPr>
            <a:xfrm>
              <a:off x="448056" y="5406390"/>
              <a:ext cx="6633515" cy="352044"/>
            </a:xfrm>
            <a:prstGeom prst="rect">
              <a:avLst/>
            </a:prstGeom>
            <a:noFill/>
            <a:ln>
              <a:noFill/>
            </a:ln>
          </p:spPr>
          <p:txBody>
            <a:bodyPr wrap="none" lIns="0" tIns="0" rIns="0" bIns="0" anchor="t" anchorCtr="0">
              <a:spAutoFit/>
            </a:bodyPr>
            <a:lstStyle/>
            <a:p>
              <a:pPr algn="l"/>
              <a:r>
                <a:rPr lang="zh-CN" sz="1800" dirty="0">
                  <a:solidFill>
                    <a:schemeClr val="accent1"/>
                  </a:solidFill>
                  <a:latin typeface="+mn-lt"/>
                  <a:ea typeface="+mn-ea"/>
                  <a:cs typeface="+mn-cs"/>
                </a:rPr>
                <a:t>两类型×三供压×三程度×三次操作：拟54次；正常/切换另做。</a:t>
              </a:r>
            </a:p>
          </p:txBody>
        </p:sp>
        <p:sp>
          <p:nvSpPr>
            <p:cNvPr id="28" name="TextBox 28"/>
            <p:cNvSpPr txBox="1"/>
            <p:nvPr/>
          </p:nvSpPr>
          <p:spPr>
            <a:xfrm>
              <a:off x="450342" y="5855018"/>
              <a:ext cx="6029211" cy="264033"/>
            </a:xfrm>
            <a:prstGeom prst="rect">
              <a:avLst/>
            </a:prstGeom>
            <a:noFill/>
            <a:ln>
              <a:noFill/>
            </a:ln>
          </p:spPr>
          <p:txBody>
            <a:bodyPr wrap="none" lIns="0" tIns="0" rIns="0" bIns="0" anchor="t" anchorCtr="0">
              <a:spAutoFit/>
            </a:bodyPr>
            <a:lstStyle/>
            <a:p>
              <a:pPr algn="l"/>
              <a:r>
                <a:rPr lang="zh-CN" sz="1350" dirty="0">
                  <a:solidFill>
                    <a:schemeClr val="accent5"/>
                  </a:solidFill>
                  <a:latin typeface="+mn-lt"/>
                  <a:ea typeface="+mn-ea"/>
                  <a:cs typeface="+mn-cs"/>
                </a:rPr>
                <a:t>拟8h连续台架及恢复检查；现场无故障标签只验适应性；提交前核对资源。</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14300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拟定进度和预算</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实施</a:t>
            </a:r>
          </a:p>
        </p:txBody>
      </p:sp>
      <p:grpSp>
        <p:nvGrpSpPr>
          <p:cNvPr id="8" name="page-title"/>
          <p:cNvGrpSpPr/>
          <p:nvPr/>
        </p:nvGrpSpPr>
        <p:grpSpPr>
          <a:xfrm>
            <a:off x="441198" y="812483"/>
            <a:ext cx="5205451" cy="616077"/>
            <a:chOff x="441198" y="812483"/>
            <a:chExt cx="5205451" cy="616077"/>
          </a:xfrm>
        </p:grpSpPr>
        <p:sp>
          <p:nvSpPr>
            <p:cNvPr id="7" name="TextBox 7"/>
            <p:cNvSpPr txBox="1"/>
            <p:nvPr/>
          </p:nvSpPr>
          <p:spPr>
            <a:xfrm>
              <a:off x="441198" y="812483"/>
              <a:ext cx="5205451"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一年有门槛，2000元先启动</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额度估算，非报价；已有电脑且借参考仪器为前提，任务及数值须提交前由导师核对。</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11 / 15</a:t>
            </a:r>
          </a:p>
        </p:txBody>
      </p:sp>
      <p:grpSp>
        <p:nvGrpSpPr>
          <p:cNvPr id="24" name="project-schedule"/>
          <p:cNvGrpSpPr/>
          <p:nvPr/>
        </p:nvGrpSpPr>
        <p:grpSpPr>
          <a:xfrm>
            <a:off x="448056" y="1805940"/>
            <a:ext cx="7162419" cy="2708910"/>
            <a:chOff x="448056" y="1805940"/>
            <a:chExt cx="7162419" cy="2708910"/>
          </a:xfrm>
        </p:grpSpPr>
        <p:sp>
          <p:nvSpPr>
            <p:cNvPr id="12" name="TextBox 12"/>
            <p:cNvSpPr txBox="1"/>
            <p:nvPr/>
          </p:nvSpPr>
          <p:spPr>
            <a:xfrm>
              <a:off x="448056" y="1805940"/>
              <a:ext cx="141766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2027.03—04</a:t>
              </a:r>
            </a:p>
          </p:txBody>
        </p:sp>
        <p:sp>
          <p:nvSpPr>
            <p:cNvPr id="13" name="TextBox 13"/>
            <p:cNvSpPr txBox="1"/>
            <p:nvPr/>
          </p:nvSpPr>
          <p:spPr>
            <a:xfrm>
              <a:off x="3248406" y="1805940"/>
              <a:ext cx="2998775"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标定 / 有线采集 / 可观测性</a:t>
              </a:r>
            </a:p>
          </p:txBody>
        </p:sp>
        <p:sp>
          <p:nvSpPr>
            <p:cNvPr id="14" name="Line 14"/>
            <p:cNvSpPr/>
            <p:nvPr/>
          </p:nvSpPr>
          <p:spPr>
            <a:xfrm>
              <a:off x="457200" y="2219325"/>
              <a:ext cx="7153275" cy="9525"/>
            </a:xfrm>
            <a:custGeom>
              <a:avLst/>
              <a:gdLst/>
              <a:ahLst/>
              <a:cxnLst/>
              <a:rect l="l" t="t" r="r" b="b"/>
              <a:pathLst>
                <a:path w="7153275" h="9525">
                  <a:moveTo>
                    <a:pt x="0" y="0"/>
                  </a:moveTo>
                  <a:lnTo>
                    <a:pt x="7153275" y="0"/>
                  </a:lnTo>
                </a:path>
              </a:pathLst>
            </a:custGeom>
            <a:noFill/>
            <a:ln w="9525">
              <a:solidFill>
                <a:schemeClr val="accent6"/>
              </a:solidFill>
            </a:ln>
          </p:spPr>
        </p:sp>
        <p:sp>
          <p:nvSpPr>
            <p:cNvPr id="15" name="TextBox 15"/>
            <p:cNvSpPr txBox="1"/>
            <p:nvPr/>
          </p:nvSpPr>
          <p:spPr>
            <a:xfrm>
              <a:off x="448056" y="2567940"/>
              <a:ext cx="141766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2027.05—08</a:t>
              </a:r>
            </a:p>
          </p:txBody>
        </p:sp>
        <p:sp>
          <p:nvSpPr>
            <p:cNvPr id="16" name="TextBox 16"/>
            <p:cNvSpPr txBox="1"/>
            <p:nvPr/>
          </p:nvSpPr>
          <p:spPr>
            <a:xfrm>
              <a:off x="3248406" y="2567940"/>
              <a:ext cx="355484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独立台架 / 可靠LoRa / 整机测量</a:t>
              </a:r>
            </a:p>
          </p:txBody>
        </p:sp>
        <p:sp>
          <p:nvSpPr>
            <p:cNvPr id="17" name="Line 17"/>
            <p:cNvSpPr/>
            <p:nvPr/>
          </p:nvSpPr>
          <p:spPr>
            <a:xfrm>
              <a:off x="457200" y="2981325"/>
              <a:ext cx="7153275" cy="9525"/>
            </a:xfrm>
            <a:custGeom>
              <a:avLst/>
              <a:gdLst/>
              <a:ahLst/>
              <a:cxnLst/>
              <a:rect l="l" t="t" r="r" b="b"/>
              <a:pathLst>
                <a:path w="7153275" h="9525">
                  <a:moveTo>
                    <a:pt x="0" y="0"/>
                  </a:moveTo>
                  <a:lnTo>
                    <a:pt x="7153275" y="0"/>
                  </a:lnTo>
                </a:path>
              </a:pathLst>
            </a:custGeom>
            <a:noFill/>
            <a:ln w="9525">
              <a:solidFill>
                <a:schemeClr val="accent6"/>
              </a:solidFill>
            </a:ln>
          </p:spPr>
        </p:sp>
        <p:sp>
          <p:nvSpPr>
            <p:cNvPr id="18" name="TextBox 18"/>
            <p:cNvSpPr txBox="1"/>
            <p:nvPr/>
          </p:nvSpPr>
          <p:spPr>
            <a:xfrm>
              <a:off x="448056" y="3329940"/>
              <a:ext cx="141766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2027.09—10</a:t>
              </a:r>
            </a:p>
          </p:txBody>
        </p:sp>
        <p:sp>
          <p:nvSpPr>
            <p:cNvPr id="19" name="TextBox 19"/>
            <p:cNvSpPr txBox="1"/>
            <p:nvPr/>
          </p:nvSpPr>
          <p:spPr>
            <a:xfrm>
              <a:off x="3248406" y="3329940"/>
              <a:ext cx="3483407"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跨条件 / 消融 / 论文成稿与投稿</a:t>
              </a:r>
            </a:p>
          </p:txBody>
        </p:sp>
        <p:sp>
          <p:nvSpPr>
            <p:cNvPr id="20" name="Line 20"/>
            <p:cNvSpPr/>
            <p:nvPr/>
          </p:nvSpPr>
          <p:spPr>
            <a:xfrm>
              <a:off x="457200" y="3743325"/>
              <a:ext cx="7153275" cy="9525"/>
            </a:xfrm>
            <a:custGeom>
              <a:avLst/>
              <a:gdLst/>
              <a:ahLst/>
              <a:cxnLst/>
              <a:rect l="l" t="t" r="r" b="b"/>
              <a:pathLst>
                <a:path w="7153275" h="9525">
                  <a:moveTo>
                    <a:pt x="0" y="0"/>
                  </a:moveTo>
                  <a:lnTo>
                    <a:pt x="7153275" y="0"/>
                  </a:lnTo>
                </a:path>
              </a:pathLst>
            </a:custGeom>
            <a:noFill/>
            <a:ln w="9525">
              <a:solidFill>
                <a:schemeClr val="accent6"/>
              </a:solidFill>
            </a:ln>
          </p:spPr>
        </p:sp>
        <p:sp>
          <p:nvSpPr>
            <p:cNvPr id="21" name="TextBox 21"/>
            <p:cNvSpPr txBox="1"/>
            <p:nvPr/>
          </p:nvSpPr>
          <p:spPr>
            <a:xfrm>
              <a:off x="448056" y="4091940"/>
              <a:ext cx="211735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mn-lt"/>
                  <a:ea typeface="+mn-ea"/>
                  <a:cs typeface="+mn-cs"/>
                </a:rPr>
                <a:t>2027.11—2028.02</a:t>
              </a:r>
            </a:p>
          </p:txBody>
        </p:sp>
        <p:sp>
          <p:nvSpPr>
            <p:cNvPr id="22" name="TextBox 22"/>
            <p:cNvSpPr txBox="1"/>
            <p:nvPr/>
          </p:nvSpPr>
          <p:spPr>
            <a:xfrm>
              <a:off x="3248406" y="4091940"/>
              <a:ext cx="2998775"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补实验 / 原型与报告 / 结项</a:t>
              </a:r>
            </a:p>
          </p:txBody>
        </p:sp>
        <p:sp>
          <p:nvSpPr>
            <p:cNvPr id="23" name="Line 23"/>
            <p:cNvSpPr/>
            <p:nvPr/>
          </p:nvSpPr>
          <p:spPr>
            <a:xfrm>
              <a:off x="457200" y="4505325"/>
              <a:ext cx="7153275" cy="9525"/>
            </a:xfrm>
            <a:custGeom>
              <a:avLst/>
              <a:gdLst/>
              <a:ahLst/>
              <a:cxnLst/>
              <a:rect l="l" t="t" r="r" b="b"/>
              <a:pathLst>
                <a:path w="7153275" h="9525">
                  <a:moveTo>
                    <a:pt x="0" y="0"/>
                  </a:moveTo>
                  <a:lnTo>
                    <a:pt x="7153275" y="0"/>
                  </a:lnTo>
                </a:path>
              </a:pathLst>
            </a:custGeom>
            <a:noFill/>
            <a:ln w="9525">
              <a:solidFill>
                <a:schemeClr val="accent6"/>
              </a:solidFill>
            </a:ln>
          </p:spPr>
        </p:sp>
      </p:grpSp>
      <p:grpSp>
        <p:nvGrpSpPr>
          <p:cNvPr id="30" name="startup-budget"/>
          <p:cNvGrpSpPr/>
          <p:nvPr/>
        </p:nvGrpSpPr>
        <p:grpSpPr>
          <a:xfrm>
            <a:off x="7943850" y="1666875"/>
            <a:ext cx="3790950" cy="4362450"/>
            <a:chOff x="7943850" y="1666875"/>
            <a:chExt cx="3790950" cy="4362450"/>
          </a:xfrm>
        </p:grpSpPr>
        <p:sp>
          <p:nvSpPr>
            <p:cNvPr id="25" name="Rectangle 25"/>
            <p:cNvSpPr/>
            <p:nvPr/>
          </p:nvSpPr>
          <p:spPr>
            <a:xfrm>
              <a:off x="7943850" y="1666875"/>
              <a:ext cx="3790950" cy="4362450"/>
            </a:xfrm>
            <a:prstGeom prst="rect">
              <a:avLst/>
            </a:prstGeom>
            <a:solidFill>
              <a:schemeClr val="lt2"/>
            </a:solidFill>
            <a:ln>
              <a:noFill/>
            </a:ln>
          </p:spPr>
        </p:sp>
        <p:sp>
          <p:nvSpPr>
            <p:cNvPr id="26" name="TextBox 26"/>
            <p:cNvSpPr txBox="1"/>
            <p:nvPr/>
          </p:nvSpPr>
          <p:spPr>
            <a:xfrm>
              <a:off x="8190357" y="2021205"/>
              <a:ext cx="1717548"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启动额度估算</a:t>
              </a:r>
            </a:p>
          </p:txBody>
        </p:sp>
        <p:sp>
          <p:nvSpPr>
            <p:cNvPr id="27" name="TextBox 27"/>
            <p:cNvSpPr txBox="1"/>
            <p:nvPr/>
          </p:nvSpPr>
          <p:spPr>
            <a:xfrm>
              <a:off x="8181975" y="2581275"/>
              <a:ext cx="1787319" cy="876300"/>
            </a:xfrm>
            <a:prstGeom prst="rect">
              <a:avLst/>
            </a:prstGeom>
            <a:noFill/>
            <a:ln>
              <a:noFill/>
            </a:ln>
          </p:spPr>
          <p:txBody>
            <a:bodyPr wrap="none" lIns="0" tIns="0" rIns="0" bIns="0" anchor="t" anchorCtr="0">
              <a:spAutoFit/>
            </a:bodyPr>
            <a:lstStyle/>
            <a:p>
              <a:pPr algn="l"/>
              <a:r>
                <a:rPr lang="zh-CN" sz="4500" b="1" dirty="0">
                  <a:solidFill>
                    <a:schemeClr val="accent1"/>
                  </a:solidFill>
                  <a:latin typeface="+mn-lt"/>
                  <a:ea typeface="+mn-ea"/>
                  <a:cs typeface="+mn-cs"/>
                </a:rPr>
                <a:t>¥2000</a:t>
              </a:r>
            </a:p>
          </p:txBody>
        </p:sp>
        <p:sp>
          <p:nvSpPr>
            <p:cNvPr id="28" name="TextBox 28"/>
            <p:cNvSpPr txBox="1"/>
            <p:nvPr/>
          </p:nvSpPr>
          <p:spPr>
            <a:xfrm>
              <a:off x="8191881" y="3434715"/>
              <a:ext cx="2372868" cy="1056894"/>
            </a:xfrm>
            <a:prstGeom prst="rect">
              <a:avLst/>
            </a:prstGeom>
            <a:noFill/>
            <a:ln>
              <a:noFill/>
            </a:ln>
          </p:spPr>
          <p:txBody>
            <a:bodyPr wrap="none" lIns="0" tIns="0" rIns="0" bIns="0" anchor="t" anchorCtr="0">
              <a:spAutoFit/>
            </a:bodyPr>
            <a:lstStyle/>
            <a:p>
              <a:pPr algn="l">
                <a:lnSpc>
                  <a:spcPts val="2775"/>
                </a:lnSpc>
              </a:pPr>
              <a:r>
                <a:rPr lang="zh-CN" sz="1800" dirty="0">
                  <a:solidFill>
                    <a:schemeClr val="dk1"/>
                  </a:solidFill>
                  <a:latin typeface="+mn-lt"/>
                  <a:ea typeface="+mn-ea"/>
                  <a:cs typeface="+mn-cs"/>
                </a:rPr>
                <a:t>电子无线260；传感500</a:t>
              </a:r>
              <a:br/>
              <a:r>
                <a:rPr lang="zh-CN" sz="1800" dirty="0">
                  <a:solidFill>
                    <a:schemeClr val="dk1"/>
                  </a:solidFill>
                  <a:latin typeface="+mn-lt"/>
                  <a:ea typeface="+mn-ea"/>
                  <a:cs typeface="+mn-cs"/>
                </a:rPr>
                <a:t>水路500；供电外壳250</a:t>
              </a:r>
              <a:br/>
              <a:r>
                <a:rPr lang="zh-CN" sz="1800" dirty="0">
                  <a:solidFill>
                    <a:schemeClr val="dk1"/>
                  </a:solidFill>
                  <a:latin typeface="+mn-lt"/>
                  <a:ea typeface="+mn-ea"/>
                  <a:cs typeface="+mn-cs"/>
                </a:rPr>
                <a:t>记录耗材130；返工360</a:t>
              </a:r>
            </a:p>
          </p:txBody>
        </p:sp>
        <p:sp>
          <p:nvSpPr>
            <p:cNvPr id="29" name="TextBox 29"/>
            <p:cNvSpPr txBox="1"/>
            <p:nvPr/>
          </p:nvSpPr>
          <p:spPr>
            <a:xfrm>
              <a:off x="8194167" y="5178742"/>
              <a:ext cx="2928366" cy="530733"/>
            </a:xfrm>
            <a:prstGeom prst="rect">
              <a:avLst/>
            </a:prstGeom>
            <a:noFill/>
            <a:ln>
              <a:noFill/>
            </a:ln>
          </p:spPr>
          <p:txBody>
            <a:bodyPr wrap="none" lIns="0" tIns="0" rIns="0" bIns="0" anchor="t" anchorCtr="0">
              <a:spAutoFit/>
            </a:bodyPr>
            <a:lstStyle/>
            <a:p>
              <a:pPr algn="l">
                <a:lnSpc>
                  <a:spcPts val="2100"/>
                </a:lnSpc>
              </a:pPr>
              <a:r>
                <a:rPr lang="zh-CN" sz="1350" dirty="0">
                  <a:solidFill>
                    <a:schemeClr val="accent5"/>
                  </a:solidFill>
                  <a:latin typeface="+mn-lt"/>
                  <a:ea typeface="+mn-ea"/>
                  <a:cs typeface="+mn-cs"/>
                </a:rPr>
                <a:t>需借参考仪器；资助后优先扩展实验，</a:t>
              </a:r>
              <a:br/>
              <a:r>
                <a:rPr lang="zh-CN" sz="1350" dirty="0">
                  <a:solidFill>
                    <a:schemeClr val="accent5"/>
                  </a:solidFill>
                  <a:latin typeface="+mn-lt"/>
                  <a:ea typeface="+mn-ea"/>
                  <a:cs typeface="+mn-cs"/>
                </a:rPr>
                <a:t>论文费用另核查。</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658368"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预期成果</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实施</a:t>
            </a:r>
          </a:p>
        </p:txBody>
      </p:sp>
      <p:grpSp>
        <p:nvGrpSpPr>
          <p:cNvPr id="8" name="page-title"/>
          <p:cNvGrpSpPr/>
          <p:nvPr/>
        </p:nvGrpSpPr>
        <p:grpSpPr>
          <a:xfrm>
            <a:off x="441198" y="812483"/>
            <a:ext cx="5544693" cy="616077"/>
            <a:chOff x="441198" y="812483"/>
            <a:chExt cx="5544693" cy="616077"/>
          </a:xfrm>
        </p:grpSpPr>
        <p:sp>
          <p:nvSpPr>
            <p:cNvPr id="7" name="TextBox 7"/>
            <p:cNvSpPr txBox="1"/>
            <p:nvPr/>
          </p:nvSpPr>
          <p:spPr>
            <a:xfrm>
              <a:off x="441198" y="812483"/>
              <a:ext cx="5544693"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系统交付与研究证据一起验收</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研究计划：实物、真实无线和田间证据尚未完成；所有指标及扩展按正式任务书冻结。</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12 / 15</a:t>
            </a:r>
          </a:p>
        </p:txBody>
      </p:sp>
      <p:grpSp>
        <p:nvGrpSpPr>
          <p:cNvPr id="19" name="project-deliverables"/>
          <p:cNvGrpSpPr/>
          <p:nvPr/>
        </p:nvGrpSpPr>
        <p:grpSpPr>
          <a:xfrm>
            <a:off x="445770" y="1966912"/>
            <a:ext cx="11289030" cy="3986213"/>
            <a:chOff x="445770" y="1966912"/>
            <a:chExt cx="11289030" cy="3986213"/>
          </a:xfrm>
        </p:grpSpPr>
        <p:sp>
          <p:nvSpPr>
            <p:cNvPr id="12" name="TextBox 12"/>
            <p:cNvSpPr txBox="1"/>
            <p:nvPr/>
          </p:nvSpPr>
          <p:spPr>
            <a:xfrm>
              <a:off x="445770" y="1966912"/>
              <a:ext cx="123444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系统交付</a:t>
              </a:r>
            </a:p>
          </p:txBody>
        </p:sp>
        <p:sp>
          <p:nvSpPr>
            <p:cNvPr id="13" name="TextBox 13"/>
            <p:cNvSpPr txBox="1"/>
            <p:nvPr/>
          </p:nvSpPr>
          <p:spPr>
            <a:xfrm>
              <a:off x="446532" y="2497455"/>
              <a:ext cx="5519890" cy="410718"/>
            </a:xfrm>
            <a:prstGeom prst="rect">
              <a:avLst/>
            </a:prstGeom>
            <a:noFill/>
            <a:ln>
              <a:noFill/>
            </a:ln>
          </p:spPr>
          <p:txBody>
            <a:bodyPr wrap="none" lIns="0" tIns="0" rIns="0" bIns="0" anchor="t" anchorCtr="0">
              <a:spAutoFit/>
            </a:bodyPr>
            <a:lstStyle/>
            <a:p>
              <a:pPr algn="l"/>
              <a:r>
                <a:rPr lang="zh-CN" sz="2100" dirty="0">
                  <a:solidFill>
                    <a:schemeClr val="dk1"/>
                  </a:solidFill>
                  <a:latin typeface="+mn-lt"/>
                  <a:ea typeface="+mn-ea"/>
                  <a:cs typeface="+mn-cs"/>
                </a:rPr>
                <a:t>双压力流量节点 + 接收端 + 台架 + 管理软件</a:t>
              </a:r>
            </a:p>
          </p:txBody>
        </p:sp>
        <p:sp>
          <p:nvSpPr>
            <p:cNvPr id="14" name="TextBox 14"/>
            <p:cNvSpPr txBox="1"/>
            <p:nvPr/>
          </p:nvSpPr>
          <p:spPr>
            <a:xfrm>
              <a:off x="445770" y="3281362"/>
              <a:ext cx="123444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研究证据</a:t>
              </a:r>
            </a:p>
          </p:txBody>
        </p:sp>
        <p:sp>
          <p:nvSpPr>
            <p:cNvPr id="15" name="TextBox 15"/>
            <p:cNvSpPr txBox="1"/>
            <p:nvPr/>
          </p:nvSpPr>
          <p:spPr>
            <a:xfrm>
              <a:off x="446532" y="3802380"/>
              <a:ext cx="7555344" cy="410718"/>
            </a:xfrm>
            <a:prstGeom prst="rect">
              <a:avLst/>
            </a:prstGeom>
            <a:noFill/>
            <a:ln>
              <a:noFill/>
            </a:ln>
          </p:spPr>
          <p:txBody>
            <a:bodyPr wrap="none" lIns="0" tIns="0" rIns="0" bIns="0" anchor="t" anchorCtr="0">
              <a:spAutoFit/>
            </a:bodyPr>
            <a:lstStyle/>
            <a:p>
              <a:pPr algn="l"/>
              <a:r>
                <a:rPr lang="zh-CN" sz="2100" dirty="0">
                  <a:solidFill>
                    <a:schemeClr val="dk1"/>
                  </a:solidFill>
                  <a:latin typeface="+mn-lt"/>
                  <a:ea typeface="+mn-ea"/>
                  <a:cs typeface="+mn-cs"/>
                </a:rPr>
                <a:t>标定/标签、强基线/消融、提前量/失败案例、报告与论文稿</a:t>
              </a:r>
            </a:p>
          </p:txBody>
        </p:sp>
        <p:sp>
          <p:nvSpPr>
            <p:cNvPr id="16" name="Rectangle 16"/>
            <p:cNvSpPr/>
            <p:nvPr/>
          </p:nvSpPr>
          <p:spPr>
            <a:xfrm>
              <a:off x="457200" y="4981575"/>
              <a:ext cx="11277600" cy="971550"/>
            </a:xfrm>
            <a:prstGeom prst="rect">
              <a:avLst/>
            </a:prstGeom>
            <a:solidFill>
              <a:schemeClr val="accent1"/>
            </a:solidFill>
            <a:ln>
              <a:noFill/>
            </a:ln>
          </p:spPr>
        </p:sp>
        <p:sp>
          <p:nvSpPr>
            <p:cNvPr id="17" name="TextBox 17"/>
            <p:cNvSpPr txBox="1"/>
            <p:nvPr/>
          </p:nvSpPr>
          <p:spPr>
            <a:xfrm>
              <a:off x="703707" y="5173980"/>
              <a:ext cx="6523482" cy="410718"/>
            </a:xfrm>
            <a:prstGeom prst="rect">
              <a:avLst/>
            </a:prstGeom>
            <a:noFill/>
            <a:ln>
              <a:noFill/>
            </a:ln>
          </p:spPr>
          <p:txBody>
            <a:bodyPr wrap="none" lIns="0" tIns="0" rIns="0" bIns="0" anchor="t" anchorCtr="0">
              <a:spAutoFit/>
            </a:bodyPr>
            <a:lstStyle/>
            <a:p>
              <a:pPr algn="l"/>
              <a:r>
                <a:rPr lang="zh-CN" sz="2100" dirty="0">
                  <a:solidFill>
                    <a:srgbClr val="FFFFFF"/>
                  </a:solidFill>
                  <a:latin typeface="+mn-lt"/>
                  <a:ea typeface="+mn-ea"/>
                  <a:cs typeface="+mn-cs"/>
                </a:rPr>
                <a:t>争取国家级：以问题、增量、证据与真实条件支撑。</a:t>
              </a:r>
            </a:p>
          </p:txBody>
        </p:sp>
        <p:sp>
          <p:nvSpPr>
            <p:cNvPr id="18" name="TextBox 18"/>
            <p:cNvSpPr txBox="1"/>
            <p:nvPr/>
          </p:nvSpPr>
          <p:spPr>
            <a:xfrm>
              <a:off x="705231" y="5558790"/>
              <a:ext cx="4622292" cy="352044"/>
            </a:xfrm>
            <a:prstGeom prst="rect">
              <a:avLst/>
            </a:prstGeom>
            <a:noFill/>
            <a:ln>
              <a:noFill/>
            </a:ln>
          </p:spPr>
          <p:txBody>
            <a:bodyPr wrap="none" lIns="0" tIns="0" rIns="0" bIns="0" anchor="t" anchorCtr="0">
              <a:spAutoFit/>
            </a:bodyPr>
            <a:lstStyle/>
            <a:p>
              <a:pPr algn="l"/>
              <a:r>
                <a:rPr lang="zh-CN" sz="1800" dirty="0">
                  <a:solidFill>
                    <a:srgbClr val="FFFFFF"/>
                  </a:solidFill>
                  <a:latin typeface="+mn-lt"/>
                  <a:ea typeface="+mn-ea"/>
                  <a:cs typeface="+mn-cs"/>
                </a:rPr>
                <a:t>已有成果据实陈述；研究目标以实验兑现。</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14300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测量与辨因边界</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6392799" cy="616077"/>
            <a:chOff x="441198" y="812483"/>
            <a:chExt cx="6392799" cy="616077"/>
          </a:xfrm>
        </p:grpSpPr>
        <p:sp>
          <p:nvSpPr>
            <p:cNvPr id="7" name="TextBox 7"/>
            <p:cNvSpPr txBox="1"/>
            <p:nvPr/>
          </p:nvSpPr>
          <p:spPr>
            <a:xfrm>
              <a:off x="441198" y="812483"/>
              <a:ext cx="6392799"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备用｜诊断只在可辨识条件下成立</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来源：旧单点结构反例及新增双点模型；辨因依赖布点、操作信息、负载与测量质量。</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13 / 15</a:t>
            </a:r>
          </a:p>
        </p:txBody>
      </p:sp>
      <p:grpSp>
        <p:nvGrpSpPr>
          <p:cNvPr id="17" name="observability-boundary"/>
          <p:cNvGrpSpPr/>
          <p:nvPr/>
        </p:nvGrpSpPr>
        <p:grpSpPr>
          <a:xfrm>
            <a:off x="441198" y="2088832"/>
            <a:ext cx="6574688" cy="3829241"/>
            <a:chOff x="441198" y="2088832"/>
            <a:chExt cx="6574688" cy="3829241"/>
          </a:xfrm>
        </p:grpSpPr>
        <p:sp>
          <p:nvSpPr>
            <p:cNvPr id="12" name="TextBox 12"/>
            <p:cNvSpPr txBox="1"/>
            <p:nvPr/>
          </p:nvSpPr>
          <p:spPr>
            <a:xfrm>
              <a:off x="441198" y="2088832"/>
              <a:ext cx="6095962" cy="616077"/>
            </a:xfrm>
            <a:prstGeom prst="rect">
              <a:avLst/>
            </a:prstGeom>
            <a:noFill/>
            <a:ln>
              <a:noFill/>
            </a:ln>
          </p:spPr>
          <p:txBody>
            <a:bodyPr wrap="none" lIns="0" tIns="0" rIns="0" bIns="0" anchor="t" anchorCtr="0">
              <a:spAutoFit/>
            </a:bodyPr>
            <a:lstStyle/>
            <a:p>
              <a:pPr algn="l"/>
              <a:r>
                <a:rPr lang="zh-CN" sz="3150" dirty="0">
                  <a:solidFill>
                    <a:schemeClr val="accent2"/>
                  </a:solidFill>
                  <a:latin typeface="+mj-lt"/>
                  <a:ea typeface="+mj-ea"/>
                  <a:cs typeface="+mj-cs"/>
                </a:rPr>
                <a:t>相同压力 / 流量 ≠ 相同故障原因</a:t>
              </a:r>
            </a:p>
          </p:txBody>
        </p:sp>
        <p:sp>
          <p:nvSpPr>
            <p:cNvPr id="13" name="TextBox 13"/>
            <p:cNvSpPr txBox="1"/>
            <p:nvPr/>
          </p:nvSpPr>
          <p:spPr>
            <a:xfrm>
              <a:off x="446532" y="2964180"/>
              <a:ext cx="5675376" cy="410718"/>
            </a:xfrm>
            <a:prstGeom prst="rect">
              <a:avLst/>
            </a:prstGeom>
            <a:noFill/>
            <a:ln>
              <a:noFill/>
            </a:ln>
          </p:spPr>
          <p:txBody>
            <a:bodyPr wrap="none" lIns="0" tIns="0" rIns="0" bIns="0" anchor="t" anchorCtr="0">
              <a:spAutoFit/>
            </a:bodyPr>
            <a:lstStyle/>
            <a:p>
              <a:pPr algn="l"/>
              <a:r>
                <a:rPr lang="zh-CN" sz="2100" dirty="0">
                  <a:solidFill>
                    <a:schemeClr val="dk1"/>
                  </a:solidFill>
                  <a:latin typeface="+mn-lt"/>
                  <a:ea typeface="+mn-ea"/>
                  <a:cs typeface="+mn-cs"/>
                </a:rPr>
                <a:t>上游节流与供压下降可映射到相同测点观测。</a:t>
              </a:r>
            </a:p>
          </p:txBody>
        </p:sp>
        <p:sp>
          <p:nvSpPr>
            <p:cNvPr id="14" name="TextBox 14"/>
            <p:cNvSpPr txBox="1"/>
            <p:nvPr/>
          </p:nvSpPr>
          <p:spPr>
            <a:xfrm>
              <a:off x="446532" y="3754755"/>
              <a:ext cx="6569354"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新增P0可有条件改善；未知正常负载仍与泄漏同形。</a:t>
              </a:r>
            </a:p>
          </p:txBody>
        </p:sp>
        <p:sp>
          <p:nvSpPr>
            <p:cNvPr id="15" name="TextBox 15"/>
            <p:cNvSpPr txBox="1"/>
            <p:nvPr/>
          </p:nvSpPr>
          <p:spPr>
            <a:xfrm>
              <a:off x="448056" y="4606290"/>
              <a:ext cx="607618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位置只到监测支管区段；输出模式、待检查或数据无效。</a:t>
              </a:r>
            </a:p>
          </p:txBody>
        </p:sp>
        <p:sp>
          <p:nvSpPr>
            <p:cNvPr id="16" name="TextBox 16"/>
            <p:cNvSpPr txBox="1"/>
            <p:nvPr/>
          </p:nvSpPr>
          <p:spPr>
            <a:xfrm>
              <a:off x="446532" y="5507355"/>
              <a:ext cx="6523482" cy="410718"/>
            </a:xfrm>
            <a:prstGeom prst="rect">
              <a:avLst/>
            </a:prstGeom>
            <a:noFill/>
            <a:ln>
              <a:noFill/>
            </a:ln>
          </p:spPr>
          <p:txBody>
            <a:bodyPr wrap="none" lIns="0" tIns="0" rIns="0" bIns="0" anchor="t" anchorCtr="0">
              <a:spAutoFit/>
            </a:bodyPr>
            <a:lstStyle/>
            <a:p>
              <a:pPr algn="l"/>
              <a:r>
                <a:rPr lang="zh-CN" sz="2100" dirty="0">
                  <a:solidFill>
                    <a:schemeClr val="accent1"/>
                  </a:solidFill>
                  <a:latin typeface="+mn-lt"/>
                  <a:ea typeface="+mn-ea"/>
                  <a:cs typeface="+mn-cs"/>
                </a:rPr>
                <a:t>成立条件：信号可观测、参考可标定、操作可重复。</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1143000"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三阶段执行标准</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实施</a:t>
            </a:r>
          </a:p>
        </p:txBody>
      </p:sp>
      <p:grpSp>
        <p:nvGrpSpPr>
          <p:cNvPr id="8" name="page-title"/>
          <p:cNvGrpSpPr/>
          <p:nvPr/>
        </p:nvGrpSpPr>
        <p:grpSpPr>
          <a:xfrm>
            <a:off x="441198" y="812483"/>
            <a:ext cx="6392799" cy="616077"/>
            <a:chOff x="441198" y="812483"/>
            <a:chExt cx="6392799" cy="616077"/>
          </a:xfrm>
        </p:grpSpPr>
        <p:sp>
          <p:nvSpPr>
            <p:cNvPr id="7" name="TextBox 7"/>
            <p:cNvSpPr txBox="1"/>
            <p:nvPr/>
          </p:nvSpPr>
          <p:spPr>
            <a:xfrm>
              <a:off x="441198" y="812483"/>
              <a:ext cx="6392799"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备用｜申报、结项和论文各有标准</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6150864"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研究计划：实物、真实无线和田间证据尚未完成；所有指标及扩展按正式任务书冻结。</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14 / 15</a:t>
            </a:r>
          </a:p>
        </p:txBody>
      </p:sp>
      <p:grpSp>
        <p:nvGrpSpPr>
          <p:cNvPr id="22" name="three-phase-contract"/>
          <p:cNvGrpSpPr/>
          <p:nvPr/>
        </p:nvGrpSpPr>
        <p:grpSpPr>
          <a:xfrm>
            <a:off x="445770" y="1985962"/>
            <a:ext cx="11289030" cy="4020122"/>
            <a:chOff x="445770" y="1985962"/>
            <a:chExt cx="11289030" cy="4020122"/>
          </a:xfrm>
        </p:grpSpPr>
        <p:sp>
          <p:nvSpPr>
            <p:cNvPr id="12" name="TextBox 12"/>
            <p:cNvSpPr txBox="1"/>
            <p:nvPr/>
          </p:nvSpPr>
          <p:spPr>
            <a:xfrm>
              <a:off x="445770" y="1985962"/>
              <a:ext cx="62865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申报</a:t>
              </a:r>
            </a:p>
          </p:txBody>
        </p:sp>
        <p:sp>
          <p:nvSpPr>
            <p:cNvPr id="13" name="TextBox 13"/>
            <p:cNvSpPr txBox="1"/>
            <p:nvPr/>
          </p:nvSpPr>
          <p:spPr>
            <a:xfrm>
              <a:off x="2286381" y="2034540"/>
              <a:ext cx="48646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九节模板 + 四工作包 + 证据 + 实验/资源计划</a:t>
              </a:r>
            </a:p>
          </p:txBody>
        </p:sp>
        <p:sp>
          <p:nvSpPr>
            <p:cNvPr id="14" name="Line 14"/>
            <p:cNvSpPr/>
            <p:nvPr/>
          </p:nvSpPr>
          <p:spPr>
            <a:xfrm>
              <a:off x="2295525" y="2552700"/>
              <a:ext cx="9439275" cy="9525"/>
            </a:xfrm>
            <a:custGeom>
              <a:avLst/>
              <a:gdLst/>
              <a:ahLst/>
              <a:cxnLst/>
              <a:rect l="l" t="t" r="r" b="b"/>
              <a:pathLst>
                <a:path w="9439275" h="9525">
                  <a:moveTo>
                    <a:pt x="0" y="0"/>
                  </a:moveTo>
                  <a:lnTo>
                    <a:pt x="9439275" y="0"/>
                  </a:lnTo>
                </a:path>
              </a:pathLst>
            </a:custGeom>
            <a:noFill/>
            <a:ln w="9525">
              <a:solidFill>
                <a:schemeClr val="accent6"/>
              </a:solidFill>
            </a:ln>
          </p:spPr>
        </p:sp>
        <p:sp>
          <p:nvSpPr>
            <p:cNvPr id="15" name="TextBox 15"/>
            <p:cNvSpPr txBox="1"/>
            <p:nvPr/>
          </p:nvSpPr>
          <p:spPr>
            <a:xfrm>
              <a:off x="445770" y="3100388"/>
              <a:ext cx="62865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结项</a:t>
              </a:r>
            </a:p>
          </p:txBody>
        </p:sp>
        <p:sp>
          <p:nvSpPr>
            <p:cNvPr id="16" name="TextBox 16"/>
            <p:cNvSpPr txBox="1"/>
            <p:nvPr/>
          </p:nvSpPr>
          <p:spPr>
            <a:xfrm>
              <a:off x="2286381" y="3148965"/>
              <a:ext cx="437997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系统 + 独立实测 + 方法对照 + 报告/过程</a:t>
              </a:r>
            </a:p>
          </p:txBody>
        </p:sp>
        <p:sp>
          <p:nvSpPr>
            <p:cNvPr id="17" name="Line 17"/>
            <p:cNvSpPr/>
            <p:nvPr/>
          </p:nvSpPr>
          <p:spPr>
            <a:xfrm>
              <a:off x="2295525" y="3667125"/>
              <a:ext cx="9439275" cy="9525"/>
            </a:xfrm>
            <a:custGeom>
              <a:avLst/>
              <a:gdLst/>
              <a:ahLst/>
              <a:cxnLst/>
              <a:rect l="l" t="t" r="r" b="b"/>
              <a:pathLst>
                <a:path w="9439275" h="9525">
                  <a:moveTo>
                    <a:pt x="0" y="0"/>
                  </a:moveTo>
                  <a:lnTo>
                    <a:pt x="9439275" y="0"/>
                  </a:lnTo>
                </a:path>
              </a:pathLst>
            </a:custGeom>
            <a:noFill/>
            <a:ln w="9525">
              <a:solidFill>
                <a:schemeClr val="accent6"/>
              </a:solidFill>
            </a:ln>
          </p:spPr>
        </p:sp>
        <p:sp>
          <p:nvSpPr>
            <p:cNvPr id="18" name="TextBox 18"/>
            <p:cNvSpPr txBox="1"/>
            <p:nvPr/>
          </p:nvSpPr>
          <p:spPr>
            <a:xfrm>
              <a:off x="445770" y="4214812"/>
              <a:ext cx="628650"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mn-lt"/>
                  <a:ea typeface="+mn-ea"/>
                  <a:cs typeface="+mn-cs"/>
                </a:rPr>
                <a:t>论文</a:t>
              </a:r>
            </a:p>
          </p:txBody>
        </p:sp>
        <p:sp>
          <p:nvSpPr>
            <p:cNvPr id="19" name="TextBox 19"/>
            <p:cNvSpPr txBox="1"/>
            <p:nvPr/>
          </p:nvSpPr>
          <p:spPr>
            <a:xfrm>
              <a:off x="2286381" y="4263390"/>
              <a:ext cx="497365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一个主问题 + 真实数据 + 强基线 + 可复现贡献</a:t>
              </a:r>
            </a:p>
          </p:txBody>
        </p:sp>
        <p:sp>
          <p:nvSpPr>
            <p:cNvPr id="20" name="Line 20"/>
            <p:cNvSpPr/>
            <p:nvPr/>
          </p:nvSpPr>
          <p:spPr>
            <a:xfrm>
              <a:off x="2295525" y="4781550"/>
              <a:ext cx="9439275" cy="9525"/>
            </a:xfrm>
            <a:custGeom>
              <a:avLst/>
              <a:gdLst/>
              <a:ahLst/>
              <a:cxnLst/>
              <a:rect l="l" t="t" r="r" b="b"/>
              <a:pathLst>
                <a:path w="9439275" h="9525">
                  <a:moveTo>
                    <a:pt x="0" y="0"/>
                  </a:moveTo>
                  <a:lnTo>
                    <a:pt x="9439275" y="0"/>
                  </a:lnTo>
                </a:path>
              </a:pathLst>
            </a:custGeom>
            <a:noFill/>
            <a:ln w="9525">
              <a:solidFill>
                <a:schemeClr val="accent6"/>
              </a:solidFill>
            </a:ln>
          </p:spPr>
        </p:sp>
        <p:sp>
          <p:nvSpPr>
            <p:cNvPr id="21" name="TextBox 21"/>
            <p:cNvSpPr txBox="1"/>
            <p:nvPr/>
          </p:nvSpPr>
          <p:spPr>
            <a:xfrm>
              <a:off x="448056" y="5654040"/>
              <a:ext cx="7287768" cy="352044"/>
            </a:xfrm>
            <a:prstGeom prst="rect">
              <a:avLst/>
            </a:prstGeom>
            <a:noFill/>
            <a:ln>
              <a:noFill/>
            </a:ln>
          </p:spPr>
          <p:txBody>
            <a:bodyPr wrap="none" lIns="0" tIns="0" rIns="0" bIns="0" anchor="t" anchorCtr="0">
              <a:spAutoFit/>
            </a:bodyPr>
            <a:lstStyle/>
            <a:p>
              <a:pPr algn="l"/>
              <a:r>
                <a:rPr lang="zh-CN" sz="1800" dirty="0">
                  <a:solidFill>
                    <a:schemeClr val="accent2"/>
                  </a:solidFill>
                  <a:latin typeface="+mn-lt"/>
                  <a:ea typeface="+mn-ea"/>
                  <a:cs typeface="+mn-cs"/>
                </a:rPr>
                <a:t>论文优先：渐进故障辨识边界；可靠通信为另一候选，不保证发表。</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page-kicker"/>
          <p:cNvSpPr txBox="1"/>
          <p:nvPr/>
        </p:nvSpPr>
        <p:spPr>
          <a:xfrm>
            <a:off x="451104" y="289560"/>
            <a:ext cx="819912" cy="234696"/>
          </a:xfrm>
          <a:prstGeom prst="rect">
            <a:avLst/>
          </a:prstGeom>
          <a:noFill/>
          <a:ln>
            <a:noFill/>
          </a:ln>
        </p:spPr>
        <p:txBody>
          <a:bodyPr wrap="none" lIns="0" tIns="0" rIns="0" bIns="0" anchor="t" anchorCtr="0">
            <a:spAutoFit/>
          </a:bodyPr>
          <a:lstStyle/>
          <a:p>
            <a:pPr algn="l"/>
            <a:r>
              <a:rPr lang="zh-CN" sz="1200" dirty="0">
                <a:solidFill>
                  <a:schemeClr val="accent1"/>
                </a:solidFill>
                <a:latin typeface="+mn-lt"/>
                <a:ea typeface="+mn-ea"/>
                <a:cs typeface="+mn-cs"/>
              </a:rPr>
              <a:t>来源与证据</a:t>
            </a:r>
          </a:p>
        </p:txBody>
      </p:sp>
      <p:sp>
        <p:nvSpPr>
          <p:cNvPr id="3" name="page-route-0"/>
          <p:cNvSpPr txBox="1"/>
          <p:nvPr/>
        </p:nvSpPr>
        <p:spPr>
          <a:xfrm>
            <a:off x="7518654"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场景</a:t>
            </a:r>
          </a:p>
        </p:txBody>
      </p:sp>
      <p:sp>
        <p:nvSpPr>
          <p:cNvPr id="4" name="page-route-1"/>
          <p:cNvSpPr txBox="1"/>
          <p:nvPr/>
        </p:nvSpPr>
        <p:spPr>
          <a:xfrm>
            <a:off x="840447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系统</a:t>
            </a:r>
          </a:p>
        </p:txBody>
      </p:sp>
      <p:sp>
        <p:nvSpPr>
          <p:cNvPr id="5" name="page-route-2"/>
          <p:cNvSpPr txBox="1"/>
          <p:nvPr/>
        </p:nvSpPr>
        <p:spPr>
          <a:xfrm>
            <a:off x="9290304" y="289560"/>
            <a:ext cx="335280"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mn-lt"/>
                <a:ea typeface="+mn-ea"/>
                <a:cs typeface="+mn-cs"/>
              </a:rPr>
              <a:t>证据</a:t>
            </a:r>
          </a:p>
        </p:txBody>
      </p:sp>
      <p:sp>
        <p:nvSpPr>
          <p:cNvPr id="6" name="page-route-3"/>
          <p:cNvSpPr txBox="1"/>
          <p:nvPr/>
        </p:nvSpPr>
        <p:spPr>
          <a:xfrm>
            <a:off x="10176129" y="289560"/>
            <a:ext cx="33528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实施</a:t>
            </a:r>
          </a:p>
        </p:txBody>
      </p:sp>
      <p:grpSp>
        <p:nvGrpSpPr>
          <p:cNvPr id="8" name="page-title"/>
          <p:cNvGrpSpPr/>
          <p:nvPr/>
        </p:nvGrpSpPr>
        <p:grpSpPr>
          <a:xfrm>
            <a:off x="441198" y="812483"/>
            <a:ext cx="4272534" cy="616077"/>
            <a:chOff x="441198" y="812483"/>
            <a:chExt cx="4272534" cy="616077"/>
          </a:xfrm>
        </p:grpSpPr>
        <p:sp>
          <p:nvSpPr>
            <p:cNvPr id="7" name="TextBox 7"/>
            <p:cNvSpPr txBox="1"/>
            <p:nvPr/>
          </p:nvSpPr>
          <p:spPr>
            <a:xfrm>
              <a:off x="441198" y="812483"/>
              <a:ext cx="4272534" cy="616077"/>
            </a:xfrm>
            <a:prstGeom prst="rect">
              <a:avLst/>
            </a:prstGeom>
            <a:noFill/>
            <a:ln>
              <a:noFill/>
            </a:ln>
          </p:spPr>
          <p:txBody>
            <a:bodyPr wrap="none" lIns="0" tIns="0" rIns="0" bIns="0" anchor="t" anchorCtr="0">
              <a:spAutoFit/>
            </a:bodyPr>
            <a:lstStyle/>
            <a:p>
              <a:pPr algn="l"/>
              <a:r>
                <a:rPr lang="zh-CN" sz="3150" dirty="0">
                  <a:solidFill>
                    <a:schemeClr val="accent1"/>
                  </a:solidFill>
                  <a:latin typeface="+mj-lt"/>
                  <a:ea typeface="+mj-ea"/>
                  <a:cs typeface="+mj-cs"/>
                </a:rPr>
                <a:t>备用｜来源与证据索引</a:t>
              </a:r>
            </a:p>
          </p:txBody>
        </p:sp>
      </p:grpSp>
      <p:sp>
        <p:nvSpPr>
          <p:cNvPr id="9" name="Line 9"/>
          <p:cNvSpPr/>
          <p:nvPr/>
        </p:nvSpPr>
        <p:spPr>
          <a:xfrm>
            <a:off x="457200" y="1409700"/>
            <a:ext cx="11277600" cy="9525"/>
          </a:xfrm>
          <a:custGeom>
            <a:avLst/>
            <a:gdLst/>
            <a:ahLst/>
            <a:cxnLst/>
            <a:rect l="l" t="t" r="r" b="b"/>
            <a:pathLst>
              <a:path w="11277600" h="9525">
                <a:moveTo>
                  <a:pt x="0" y="0"/>
                </a:moveTo>
                <a:lnTo>
                  <a:pt x="11277600" y="0"/>
                </a:lnTo>
              </a:path>
            </a:pathLst>
          </a:custGeom>
          <a:noFill/>
          <a:ln w="9525">
            <a:solidFill>
              <a:schemeClr val="accent6"/>
            </a:solidFill>
          </a:ln>
        </p:spPr>
      </p:sp>
      <p:sp>
        <p:nvSpPr>
          <p:cNvPr id="10" name="source-footer"/>
          <p:cNvSpPr txBox="1"/>
          <p:nvPr/>
        </p:nvSpPr>
        <p:spPr>
          <a:xfrm>
            <a:off x="451104" y="6376035"/>
            <a:ext cx="598932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mn-lt"/>
                <a:ea typeface="+mn-ea"/>
                <a:cs typeface="+mn-cs"/>
              </a:rPr>
              <a:t>制度按本批核对；已有成果限文献、模型和程序；案例内容不作为本项目性能证明。</a:t>
            </a:r>
          </a:p>
        </p:txBody>
      </p:sp>
      <p:sp>
        <p:nvSpPr>
          <p:cNvPr id="11" name="page-number"/>
          <p:cNvSpPr txBox="1"/>
          <p:nvPr/>
        </p:nvSpPr>
        <p:spPr>
          <a:xfrm>
            <a:off x="11187532" y="289560"/>
            <a:ext cx="553364" cy="234696"/>
          </a:xfrm>
          <a:prstGeom prst="rect">
            <a:avLst/>
          </a:prstGeom>
          <a:noFill/>
          <a:ln>
            <a:noFill/>
          </a:ln>
        </p:spPr>
        <p:txBody>
          <a:bodyPr wrap="none" lIns="0" tIns="0" rIns="0" bIns="0" anchor="t" anchorCtr="0">
            <a:spAutoFit/>
          </a:bodyPr>
          <a:lstStyle/>
          <a:p>
            <a:pPr algn="r"/>
            <a:r>
              <a:rPr lang="zh-CN" sz="1200" dirty="0">
                <a:solidFill>
                  <a:schemeClr val="accent5"/>
                </a:solidFill>
                <a:latin typeface="+mn-lt"/>
                <a:ea typeface="+mn-ea"/>
                <a:cs typeface="+mn-cs"/>
              </a:rPr>
              <a:t>15 / 15</a:t>
            </a:r>
          </a:p>
        </p:txBody>
      </p:sp>
      <p:grpSp>
        <p:nvGrpSpPr>
          <p:cNvPr id="19" name="reference-register"/>
          <p:cNvGrpSpPr/>
          <p:nvPr/>
        </p:nvGrpSpPr>
        <p:grpSpPr>
          <a:xfrm>
            <a:off x="448056" y="1805940"/>
            <a:ext cx="6221578" cy="3723894"/>
            <a:chOff x="448056" y="1805940"/>
            <a:chExt cx="6221578" cy="3723894"/>
          </a:xfrm>
        </p:grpSpPr>
        <p:sp>
          <p:nvSpPr>
            <p:cNvPr id="12" name="TextBox 12"/>
            <p:cNvSpPr txBox="1"/>
            <p:nvPr/>
          </p:nvSpPr>
          <p:spPr>
            <a:xfrm>
              <a:off x="448056" y="1805940"/>
              <a:ext cx="622157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塔大实施细则：jwc.taru.edu.cn/info/1035/3872.htm</a:t>
              </a:r>
            </a:p>
          </p:txBody>
        </p:sp>
        <p:sp>
          <p:nvSpPr>
            <p:cNvPr id="13" name="TextBox 13"/>
            <p:cNvSpPr txBox="1"/>
            <p:nvPr/>
          </p:nvSpPr>
          <p:spPr>
            <a:xfrm>
              <a:off x="448056" y="2367915"/>
              <a:ext cx="4816145"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堵塞综述：10.1016/j.agwat.2022.107873</a:t>
              </a:r>
            </a:p>
          </p:txBody>
        </p:sp>
        <p:sp>
          <p:nvSpPr>
            <p:cNvPr id="14" name="TextBox 14"/>
            <p:cNvSpPr txBox="1"/>
            <p:nvPr/>
          </p:nvSpPr>
          <p:spPr>
            <a:xfrm>
              <a:off x="448056" y="2929890"/>
              <a:ext cx="387408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HydroNeuro：10.3390/s26103010</a:t>
              </a:r>
            </a:p>
          </p:txBody>
        </p:sp>
        <p:sp>
          <p:nvSpPr>
            <p:cNvPr id="15" name="TextBox 15"/>
            <p:cNvSpPr txBox="1"/>
            <p:nvPr/>
          </p:nvSpPr>
          <p:spPr>
            <a:xfrm>
              <a:off x="448056" y="3491865"/>
              <a:ext cx="3834765"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灌溉平台：10.3390/land15030464</a:t>
              </a:r>
            </a:p>
          </p:txBody>
        </p:sp>
        <p:sp>
          <p:nvSpPr>
            <p:cNvPr id="16" name="TextBox 16"/>
            <p:cNvSpPr txBox="1"/>
            <p:nvPr/>
          </p:nvSpPr>
          <p:spPr>
            <a:xfrm>
              <a:off x="448056" y="4053840"/>
              <a:ext cx="4877181"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事件通信：10.3390/s21165541；IFAC 2025</a:t>
              </a:r>
            </a:p>
          </p:txBody>
        </p:sp>
        <p:sp>
          <p:nvSpPr>
            <p:cNvPr id="17" name="TextBox 17"/>
            <p:cNvSpPr txBox="1"/>
            <p:nvPr/>
          </p:nvSpPr>
          <p:spPr>
            <a:xfrm>
              <a:off x="448056" y="4615815"/>
              <a:ext cx="550643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新增：diagnosis_feasibility.py / DIAGNOSIS.md</a:t>
              </a:r>
            </a:p>
          </p:txBody>
        </p:sp>
        <p:sp>
          <p:nvSpPr>
            <p:cNvPr id="18" name="TextBox 18"/>
            <p:cNvSpPr txBox="1"/>
            <p:nvPr/>
          </p:nvSpPr>
          <p:spPr>
            <a:xfrm>
              <a:off x="448056" y="5177790"/>
              <a:ext cx="510692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mn-lt"/>
                  <a:ea typeface="+mn-ea"/>
                  <a:cs typeface="+mn-cs"/>
                </a:rPr>
                <a:t>案例级别由用户提供；性能声明未全部独立核实</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rip-research">
  <a:themeElements>
    <a:clrScheme name="drip-research">
      <a:dk1>
        <a:srgbClr val="20332F"/>
      </a:dk1>
      <a:lt1>
        <a:srgbClr val="FAF9F5"/>
      </a:lt1>
      <a:dk2>
        <a:srgbClr val="20332F"/>
      </a:dk2>
      <a:lt2>
        <a:srgbClr val="EEF3EF"/>
      </a:lt2>
      <a:accent1>
        <a:srgbClr val="164C45"/>
      </a:accent1>
      <a:accent2>
        <a:srgbClr val="B4512B"/>
      </a:accent2>
      <a:accent3>
        <a:srgbClr val="426B91"/>
      </a:accent3>
      <a:accent4>
        <a:srgbClr val="164C45"/>
      </a:accent4>
      <a:accent5>
        <a:srgbClr val="556762"/>
      </a:accent5>
      <a:accent6>
        <a:srgbClr val="C7D2CB"/>
      </a:accent6>
      <a:hlink>
        <a:srgbClr val="B4512B"/>
      </a:hlink>
      <a:folHlink>
        <a:srgbClr val="426B91"/>
      </a:folHlink>
    </a:clrScheme>
    <a:fontScheme name="drip-research">
      <a:majorFont>
        <a:latin typeface="Arial"/>
        <a:ea typeface="SimHei"/>
        <a:cs typeface="Arial"/>
        <a:font script="Jpan" typeface="SimHei"/>
        <a:font script="Hang" typeface="SimHei"/>
        <a:font script="Hans" typeface="SimHei"/>
        <a:font script="Hant" typeface="Sim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ip-research">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rip-research">
  <a:themeElements>
    <a:clrScheme name="drip-research">
      <a:dk1>
        <a:srgbClr val="20332F"/>
      </a:dk1>
      <a:lt1>
        <a:srgbClr val="FAF9F5"/>
      </a:lt1>
      <a:dk2>
        <a:srgbClr val="20332F"/>
      </a:dk2>
      <a:lt2>
        <a:srgbClr val="EEF3EF"/>
      </a:lt2>
      <a:accent1>
        <a:srgbClr val="164C45"/>
      </a:accent1>
      <a:accent2>
        <a:srgbClr val="B4512B"/>
      </a:accent2>
      <a:accent3>
        <a:srgbClr val="426B91"/>
      </a:accent3>
      <a:accent4>
        <a:srgbClr val="164C45"/>
      </a:accent4>
      <a:accent5>
        <a:srgbClr val="556762"/>
      </a:accent5>
      <a:accent6>
        <a:srgbClr val="C7D2CB"/>
      </a:accent6>
      <a:hlink>
        <a:srgbClr val="B4512B"/>
      </a:hlink>
      <a:folHlink>
        <a:srgbClr val="426B91"/>
      </a:folHlink>
    </a:clrScheme>
    <a:fontScheme name="drip-research">
      <a:majorFont>
        <a:latin typeface="Arial"/>
        <a:ea typeface="SimHei"/>
        <a:cs typeface="Arial"/>
        <a:font script="Jpan" typeface="SimHei"/>
        <a:font script="Hang" typeface="SimHei"/>
        <a:font script="Hans" typeface="SimHei"/>
        <a:font script="Hant" typeface="Sim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ip-research">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2026-10-02T17:21:17Z</dcterms:created>
  <dcterms:modified xsi:type="dcterms:W3CDTF">2026-10-02T17:21:17Z</dcterms:modified>
  <cp:category/>
  <cp:contentStatus/>
</cp:coreProperties>
</file>